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16"/>
  </p:handoutMasterIdLst>
  <p:sldIdLst>
    <p:sldId id="461" r:id="rId3"/>
    <p:sldId id="462" r:id="rId4"/>
    <p:sldId id="829" r:id="rId5"/>
    <p:sldId id="830" r:id="rId7"/>
    <p:sldId id="1239" r:id="rId8"/>
    <p:sldId id="1269" r:id="rId9"/>
    <p:sldId id="1270" r:id="rId10"/>
    <p:sldId id="1271" r:id="rId11"/>
    <p:sldId id="1272" r:id="rId12"/>
    <p:sldId id="1273" r:id="rId13"/>
    <p:sldId id="257" r:id="rId14"/>
    <p:sldId id="258" r:id="rId15"/>
  </p:sldIdLst>
  <p:sldSz cx="12192000" cy="6858000"/>
  <p:notesSz cx="6858000" cy="9144000"/>
  <p:embeddedFontLst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宋 雪贤" initials="宋" lastIdx="0" clrIdx="0"/>
  <p:cmAuthor id="2" name="zhuxiangdong" initials="z" lastIdx="0" clrIdx="1"/>
  <p:cmAuthor id="3" name="佩轩 糜" initials="佩糜" lastIdx="0" clrIdx="2"/>
  <p:cmAuthor id="4" name="admin" initials="" lastIdx="0" clrIdx="3"/>
  <p:cmAuthor id="5" name="作者" initials="A" lastIdx="0" clrIdx="4"/>
  <p:cmAuthor id="6" name="王靖文" initials="王" lastIdx="0" clrIdx="5"/>
  <p:cmAuthor id="7" name="Sarah Carson (Murdoch Services)" initials="SC(S" lastIdx="0" clrIdx="6"/>
  <p:cmAuthor id="8" name="Mark Estberg" initials="ME" lastIdx="0" clrIdx="7"/>
  <p:cmAuthor id="9" name="Ken" initials="K" lastIdx="0" clrIdx="8"/>
  <p:cmAuthor id="10" name="Kelly Wagman" initials="KW" lastIdx="0" clrIdx="9"/>
  <p:cmAuthor id="11" name="Dallas Drotz" initials="DD" lastIdx="0" clrIdx="10"/>
  <p:cmAuthor id="12" name="harc2017" initials="h" lastIdx="0" clrIdx="11"/>
  <p:cmAuthor id="13" name="Sanjay Manchanda" initials="SM" lastIdx="0" clrIdx="12"/>
  <p:cmAuthor id="14" name="Lc K" initials="L" lastIdx="0" clrIdx="13"/>
  <p:cmAuthor id="15" name="User" initials="U" lastIdx="0" clrIdx="14"/>
  <p:cmAuthor id="16" name="徐巍" initials="徐" lastIdx="0" clrIdx="15"/>
  <p:cmAuthor id="17" name="Author" initials="A" lastIdx="0" clrIdx="16"/>
  <p:cmAuthor id="18" name="Windows User" initials="W" lastIdx="0" clrIdx="17"/>
  <p:cmAuthor id="19" name="未知用户2" initials="未" lastIdx="0" clrIdx="18"/>
  <p:cmAuthor id="20" name="未知用户3" initials="未" lastIdx="0" clrIdx="19"/>
  <p:cmAuthor id="21" name="未知用户4" initials="未" lastIdx="0" clrIdx="20"/>
  <p:cmAuthor id="22" name="未知用户5" initials="未" lastIdx="0" clrIdx="21"/>
  <p:cmAuthor id="23" name="未知用户6" initials="未" lastIdx="0" clrIdx="22"/>
  <p:cmAuthor id="24" name="未知用户7" initials="未" lastIdx="0" clrIdx="23"/>
  <p:cmAuthor id="25" name="未知用户8" initials="未" lastIdx="0" clrIdx="24"/>
  <p:cmAuthor id="26" name="Jeff.Zhou" initials="J" lastIdx="0" clrIdx="25"/>
  <p:cmAuthor id="27" name="leon.li" initials="l" lastIdx="0" clrIdx="26"/>
  <p:cmAuthor id="28" name="szw" initials="s" lastIdx="0" clrIdx="27"/>
  <p:cmAuthor id="29" name="apple" initials="a" lastIdx="0" clrIdx="28"/>
  <p:cmAuthor id="30" name="user" initials="u" lastIdx="0" clrIdx="29"/>
  <p:cmAuthor id="31" name="郑钦" initials="郑" lastIdx="0" clrIdx="30"/>
  <p:cmAuthor id="32" name="戚银丽" initials="戚" lastIdx="0" clrIdx="31"/>
  <p:cmAuthor id="33" name="Microsoft Office User" initials="MOU" lastIdx="0" clrIdx="32"/>
  <p:cmAuthor id="34" name="WPS_1739233988" initials="authorId_1678896472" lastIdx="0" clrIdx="3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1F5"/>
    <a:srgbClr val="3075FF"/>
    <a:srgbClr val="005AEA"/>
    <a:srgbClr val="03AD6F"/>
    <a:srgbClr val="4192FF"/>
    <a:srgbClr val="055CF9"/>
    <a:srgbClr val="C22F2F"/>
    <a:srgbClr val="FFFFFF"/>
    <a:srgbClr val="10A072"/>
    <a:srgbClr val="F3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4" autoAdjust="0"/>
    <p:restoredTop sz="92476" autoAdjust="0"/>
  </p:normalViewPr>
  <p:slideViewPr>
    <p:cSldViewPr snapToGrid="0">
      <p:cViewPr varScale="1">
        <p:scale>
          <a:sx n="94" d="100"/>
          <a:sy n="94" d="100"/>
        </p:scale>
        <p:origin x="1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20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60BD1E-3C02-43FC-95FF-8C0AEB00C36E}" type="datetimeFigureOut">
              <a:rPr lang="zh-CN" altLang="en-US" smtClean="0"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</a:fld>
            <a:endParaRPr lang="zh-CN" altLang="en-US"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4783D-1F64-4382-857B-4EEBD3D6BD45}" type="slidenum">
              <a:rPr lang="zh-CN" altLang="en-US" smtClean="0"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</a:fld>
            <a:endParaRPr lang="zh-CN" altLang="en-US"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Regular" panose="020B0500000000000000" charset="-122"/>
        <a:ea typeface="思源黑体 Regular" panose="020B0500000000000000" charset="-122"/>
        <a:cs typeface="思源黑体 Regular" panose="020B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Regular" panose="020B0500000000000000" charset="-122"/>
        <a:ea typeface="思源黑体 Regular" panose="020B0500000000000000" charset="-122"/>
        <a:cs typeface="思源黑体 Regular" panose="020B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Regular" panose="020B0500000000000000" charset="-122"/>
        <a:ea typeface="思源黑体 Regular" panose="020B0500000000000000" charset="-122"/>
        <a:cs typeface="思源黑体 Regular" panose="020B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Regular" panose="020B0500000000000000" charset="-122"/>
        <a:ea typeface="思源黑体 Regular" panose="020B0500000000000000" charset="-122"/>
        <a:cs typeface="思源黑体 Regular" panose="020B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Regular" panose="020B0500000000000000" charset="-122"/>
        <a:ea typeface="思源黑体 Regular" panose="020B0500000000000000" charset="-122"/>
        <a:cs typeface="思源黑体 Regular" panose="020B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solidFill>
                  <a:schemeClr val="tx1"/>
                </a:solidFill>
                <a:effectLst/>
              </a:rPr>
              <a:t>AgentCreator是翰林科技自主研发的企业级智能体开发平台，是支撑AI</a:t>
            </a:r>
            <a:r>
              <a:rPr lang="en-US" altLang="zh-CN" sz="1200" kern="1200" dirty="0">
                <a:solidFill>
                  <a:schemeClr val="tx1"/>
                </a:solidFill>
                <a:effectLst/>
              </a:rPr>
              <a:t> Agent全生命周期管理的技术底座。它采用新一代Agent技术架构和自主研发的Multi-Agent架构，通过标准化通信协议支持多智能体协同。平台兼容主流大模型，支持多模态感知和RAG知识增强，提供低代码可视化开发工具，能深度适配电力能源行业的垂直场景，覆盖Agent开发、部署、监控、迭代的全周期，助力企业构建知识驱动的自动化工作流水线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</a:rPr>
              <a:t>那么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</a:rPr>
              <a:t>EnergyClaw</a:t>
            </a:r>
            <a:r>
              <a:rPr lang="zh-CN" altLang="zh-CN" sz="1200" kern="1200" dirty="0">
                <a:solidFill>
                  <a:schemeClr val="tx1"/>
                </a:solidFill>
                <a:effectLst/>
              </a:rPr>
              <a:t>具体能做什么呢？主要有三大能力。第一是跨系统数据融合，自动抓取电网多系统的数据，完成收集、清洗、汇总、推送全流程，替代人工跨系统整理的低效操作，不替代原有业务系统，仅做数据整合与流转；第二是智能辅助决策，在海量告警和复杂故障时，结合安规库、案例和拓扑关系快速定位故障，整合知识库与历史案例输出结构化建议；第三是自动化任务执行，支持定时任务和多渠道推送，可完成日报生成、缺陷催办等工作，化身</a:t>
            </a:r>
            <a:r>
              <a:rPr lang="en-US" altLang="zh-CN" sz="1200" kern="1200" dirty="0">
                <a:solidFill>
                  <a:schemeClr val="tx1"/>
                </a:solidFill>
                <a:effectLst/>
              </a:rPr>
              <a:t>7×24</a:t>
            </a:r>
            <a:r>
              <a:rPr lang="zh-CN" altLang="zh-CN" sz="1200" kern="1200" dirty="0">
                <a:solidFill>
                  <a:schemeClr val="tx1"/>
                </a:solidFill>
                <a:effectLst/>
              </a:rPr>
              <a:t>小时数字联络员，自动巡检、秒级推送关键结果，打破信息孤岛，实现业务流程自动化与高效闭环。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bg1"/>
              </a:gs>
              <a:gs pos="85000">
                <a:srgbClr val="D7E7FE">
                  <a:alpha val="53000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Bold" panose="020B08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pic>
        <p:nvPicPr>
          <p:cNvPr id="27" name="图片 26" descr="翰林logo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363200" y="249555"/>
            <a:ext cx="1579880" cy="26987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6" Type="http://schemas.openxmlformats.org/officeDocument/2006/relationships/slideLayout" Target="../slideLayouts/slideLayout1.xml"/><Relationship Id="rId65" Type="http://schemas.openxmlformats.org/officeDocument/2006/relationships/tags" Target="../tags/tag74.xml"/><Relationship Id="rId64" Type="http://schemas.openxmlformats.org/officeDocument/2006/relationships/tags" Target="../tags/tag73.xml"/><Relationship Id="rId63" Type="http://schemas.openxmlformats.org/officeDocument/2006/relationships/tags" Target="../tags/tag72.xml"/><Relationship Id="rId62" Type="http://schemas.openxmlformats.org/officeDocument/2006/relationships/tags" Target="../tags/tag71.xml"/><Relationship Id="rId61" Type="http://schemas.openxmlformats.org/officeDocument/2006/relationships/tags" Target="../tags/tag70.xml"/><Relationship Id="rId60" Type="http://schemas.openxmlformats.org/officeDocument/2006/relationships/tags" Target="../tags/tag69.xml"/><Relationship Id="rId6" Type="http://schemas.openxmlformats.org/officeDocument/2006/relationships/tags" Target="../tags/tag15.xml"/><Relationship Id="rId59" Type="http://schemas.openxmlformats.org/officeDocument/2006/relationships/tags" Target="../tags/tag68.xml"/><Relationship Id="rId58" Type="http://schemas.openxmlformats.org/officeDocument/2006/relationships/tags" Target="../tags/tag67.xml"/><Relationship Id="rId57" Type="http://schemas.openxmlformats.org/officeDocument/2006/relationships/tags" Target="../tags/tag66.xml"/><Relationship Id="rId56" Type="http://schemas.openxmlformats.org/officeDocument/2006/relationships/tags" Target="../tags/tag65.xml"/><Relationship Id="rId55" Type="http://schemas.openxmlformats.org/officeDocument/2006/relationships/tags" Target="../tags/tag64.xml"/><Relationship Id="rId54" Type="http://schemas.openxmlformats.org/officeDocument/2006/relationships/tags" Target="../tags/tag63.xml"/><Relationship Id="rId53" Type="http://schemas.openxmlformats.org/officeDocument/2006/relationships/tags" Target="../tags/tag62.xml"/><Relationship Id="rId52" Type="http://schemas.openxmlformats.org/officeDocument/2006/relationships/tags" Target="../tags/tag61.xml"/><Relationship Id="rId51" Type="http://schemas.openxmlformats.org/officeDocument/2006/relationships/tags" Target="../tags/tag60.xml"/><Relationship Id="rId50" Type="http://schemas.openxmlformats.org/officeDocument/2006/relationships/tags" Target="../tags/tag59.xml"/><Relationship Id="rId5" Type="http://schemas.openxmlformats.org/officeDocument/2006/relationships/tags" Target="../tags/tag14.xml"/><Relationship Id="rId49" Type="http://schemas.openxmlformats.org/officeDocument/2006/relationships/tags" Target="../tags/tag58.xml"/><Relationship Id="rId48" Type="http://schemas.openxmlformats.org/officeDocument/2006/relationships/tags" Target="../tags/tag57.xml"/><Relationship Id="rId47" Type="http://schemas.openxmlformats.org/officeDocument/2006/relationships/tags" Target="../tags/tag56.xml"/><Relationship Id="rId46" Type="http://schemas.openxmlformats.org/officeDocument/2006/relationships/tags" Target="../tags/tag55.xml"/><Relationship Id="rId45" Type="http://schemas.openxmlformats.org/officeDocument/2006/relationships/tags" Target="../tags/tag54.xml"/><Relationship Id="rId44" Type="http://schemas.openxmlformats.org/officeDocument/2006/relationships/tags" Target="../tags/tag53.xml"/><Relationship Id="rId43" Type="http://schemas.openxmlformats.org/officeDocument/2006/relationships/tags" Target="../tags/tag52.xml"/><Relationship Id="rId42" Type="http://schemas.openxmlformats.org/officeDocument/2006/relationships/tags" Target="../tags/tag51.xml"/><Relationship Id="rId41" Type="http://schemas.openxmlformats.org/officeDocument/2006/relationships/tags" Target="../tags/tag50.xml"/><Relationship Id="rId40" Type="http://schemas.openxmlformats.org/officeDocument/2006/relationships/tags" Target="../tags/tag49.xml"/><Relationship Id="rId4" Type="http://schemas.openxmlformats.org/officeDocument/2006/relationships/tags" Target="../tags/tag13.xml"/><Relationship Id="rId39" Type="http://schemas.openxmlformats.org/officeDocument/2006/relationships/tags" Target="../tags/tag48.xml"/><Relationship Id="rId38" Type="http://schemas.openxmlformats.org/officeDocument/2006/relationships/tags" Target="../tags/tag47.xml"/><Relationship Id="rId37" Type="http://schemas.openxmlformats.org/officeDocument/2006/relationships/tags" Target="../tags/tag46.xml"/><Relationship Id="rId36" Type="http://schemas.openxmlformats.org/officeDocument/2006/relationships/tags" Target="../tags/tag45.xml"/><Relationship Id="rId35" Type="http://schemas.openxmlformats.org/officeDocument/2006/relationships/tags" Target="../tags/tag44.xml"/><Relationship Id="rId34" Type="http://schemas.openxmlformats.org/officeDocument/2006/relationships/tags" Target="../tags/tag43.xml"/><Relationship Id="rId33" Type="http://schemas.openxmlformats.org/officeDocument/2006/relationships/tags" Target="../tags/tag42.xml"/><Relationship Id="rId32" Type="http://schemas.openxmlformats.org/officeDocument/2006/relationships/tags" Target="../tags/tag41.xml"/><Relationship Id="rId31" Type="http://schemas.openxmlformats.org/officeDocument/2006/relationships/tags" Target="../tags/tag40.xml"/><Relationship Id="rId30" Type="http://schemas.openxmlformats.org/officeDocument/2006/relationships/tags" Target="../tags/tag39.xml"/><Relationship Id="rId3" Type="http://schemas.openxmlformats.org/officeDocument/2006/relationships/tags" Target="../tags/tag12.xml"/><Relationship Id="rId29" Type="http://schemas.openxmlformats.org/officeDocument/2006/relationships/tags" Target="../tags/tag38.xml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0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:/Users/0/Desktop/33.png33"/>
          <p:cNvPicPr/>
          <p:nvPr/>
        </p:nvPicPr>
        <p:blipFill>
          <a:blip r:embed="rId1"/>
          <a:srcRect l="12296" r="1229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圆: 空心 34"/>
          <p:cNvSpPr/>
          <p:nvPr>
            <p:custDataLst>
              <p:tags r:id="rId2"/>
            </p:custDataLst>
          </p:nvPr>
        </p:nvSpPr>
        <p:spPr>
          <a:xfrm>
            <a:off x="10483476" y="5624042"/>
            <a:ext cx="4456860" cy="4456860"/>
          </a:xfrm>
          <a:prstGeom prst="donut">
            <a:avLst>
              <a:gd name="adj" fmla="val 19187"/>
            </a:avLst>
          </a:prstGeom>
          <a:solidFill>
            <a:srgbClr val="ACCCF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 panose="020B0500000000000000" charset="-122"/>
            </a:endParaRPr>
          </a:p>
        </p:txBody>
      </p:sp>
      <p:sp>
        <p:nvSpPr>
          <p:cNvPr id="28" name="矩形: 圆角 23"/>
          <p:cNvSpPr/>
          <p:nvPr>
            <p:custDataLst>
              <p:tags r:id="rId3"/>
            </p:custDataLst>
          </p:nvPr>
        </p:nvSpPr>
        <p:spPr>
          <a:xfrm>
            <a:off x="1250315" y="9742170"/>
            <a:ext cx="5597525" cy="43688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A72F6">
                  <a:alpha val="0"/>
                </a:srgbClr>
              </a:gs>
              <a:gs pos="65000">
                <a:srgbClr val="1A72F6">
                  <a:alpha val="9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思源黑体 Regular" panose="020B05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993140" y="3288665"/>
            <a:ext cx="6036945" cy="0"/>
          </a:xfrm>
          <a:prstGeom prst="line">
            <a:avLst/>
          </a:prstGeom>
          <a:ln>
            <a:gradFill>
              <a:gsLst>
                <a:gs pos="0">
                  <a:srgbClr val="3265F6">
                    <a:alpha val="0"/>
                  </a:srgbClr>
                </a:gs>
                <a:gs pos="100000">
                  <a:srgbClr val="3265F6"/>
                </a:gs>
              </a:gsLst>
              <a:lin ang="108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1362075" y="9796145"/>
            <a:ext cx="5925185" cy="407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6B707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lt"/>
              </a:rPr>
              <a:t>领先的行业信息化与自动化技术、产品和解决方案供应商</a:t>
            </a:r>
            <a:endParaRPr lang="zh-CN" altLang="en-US" dirty="0">
              <a:solidFill>
                <a:srgbClr val="6B707A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lt"/>
            </a:endParaRPr>
          </a:p>
          <a:p>
            <a:pPr>
              <a:lnSpc>
                <a:spcPct val="90000"/>
              </a:lnSpc>
            </a:pPr>
            <a:endParaRPr lang="zh-CN" altLang="en-US" dirty="0">
              <a:solidFill>
                <a:srgbClr val="6B707A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9766935" y="6253480"/>
            <a:ext cx="2356485" cy="252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solidFill>
                  <a:srgbClr val="6B707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做</a:t>
            </a:r>
            <a:r>
              <a:rPr lang="en-US" altLang="zh-CN" sz="1200" dirty="0">
                <a:solidFill>
                  <a:srgbClr val="6B707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IT</a:t>
            </a:r>
            <a:r>
              <a:rPr lang="zh-CN" altLang="en-US" sz="1200" dirty="0">
                <a:solidFill>
                  <a:srgbClr val="6B707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领域最懂能源业务的服务商</a:t>
            </a:r>
            <a:endParaRPr lang="zh-CN" altLang="en-US" sz="1200" dirty="0">
              <a:solidFill>
                <a:srgbClr val="6B707A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9662795" y="6312535"/>
            <a:ext cx="127635" cy="116205"/>
          </a:xfrm>
          <a:prstGeom prst="roundRect">
            <a:avLst/>
          </a:prstGeom>
          <a:gradFill>
            <a:gsLst>
              <a:gs pos="0">
                <a:srgbClr val="1A72F6">
                  <a:alpha val="0"/>
                </a:srgbClr>
              </a:gs>
              <a:gs pos="65000">
                <a:srgbClr val="1A72F6">
                  <a:alpha val="40000"/>
                </a:srgbClr>
              </a:gs>
            </a:gsLst>
            <a:lin ang="10800000" scaled="0"/>
          </a:gradFill>
          <a:ln w="3810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 panose="020B0500000000000000" charset="-122"/>
            </a:endParaRPr>
          </a:p>
        </p:txBody>
      </p:sp>
      <p:pic>
        <p:nvPicPr>
          <p:cNvPr id="17" name="图片 16" descr="翰林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49555"/>
            <a:ext cx="1804035" cy="30797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876300" y="2099945"/>
            <a:ext cx="8320405" cy="18580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dirty="0">
                <a:gradFill>
                  <a:gsLst>
                    <a:gs pos="0">
                      <a:srgbClr val="4E92F8"/>
                    </a:gs>
                    <a:gs pos="100000">
                      <a:srgbClr val="1A72F6"/>
                    </a:gs>
                  </a:gsLst>
                  <a:lin ang="5400000" scaled="1"/>
                </a:gradFill>
                <a:effectLst>
                  <a:reflection blurRad="6350" stA="16000" endA="300" endPos="20000" dist="12700" dir="5400000" sy="-100000" algn="bl" rotWithShape="0"/>
                </a:effectLst>
                <a:latin typeface="思源黑体 Bold" panose="020B0800000000000000" charset="-122"/>
                <a:ea typeface="思源黑体 Bold" panose="020B0800000000000000" charset="-122"/>
                <a:cs typeface="思源黑体 Regular" panose="020B0500000000000000" charset="-122"/>
                <a:sym typeface="+mn-ea"/>
              </a:rPr>
              <a:t>人工智能（智能体）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effectLst>
                <a:reflection blurRad="6350" stA="16000" endA="300" endPos="20000" dist="12700" dir="5400000" sy="-100000" algn="bl" rotWithShape="0"/>
              </a:effectLst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876300" y="3450590"/>
            <a:ext cx="8320405" cy="934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在电力行业的应用实践</a:t>
            </a:r>
            <a:endParaRPr lang="zh-CN" altLang="en-US" sz="4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123"/>
          <p:cNvSpPr/>
          <p:nvPr userDrawn="1">
            <p:custDataLst>
              <p:tags r:id="rId1"/>
            </p:custDataLst>
          </p:nvPr>
        </p:nvSpPr>
        <p:spPr>
          <a:xfrm flipH="1" flipV="1">
            <a:off x="0" y="0"/>
            <a:ext cx="12192000" cy="7001510"/>
          </a:xfrm>
          <a:prstGeom prst="rect">
            <a:avLst/>
          </a:prstGeom>
          <a:gradFill>
            <a:gsLst>
              <a:gs pos="28000">
                <a:schemeClr val="bg1"/>
              </a:gs>
              <a:gs pos="100000">
                <a:srgbClr val="D7E7FE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2" name="圆: 空心 43"/>
          <p:cNvSpPr/>
          <p:nvPr>
            <p:custDataLst>
              <p:tags r:id="rId2"/>
            </p:custDataLst>
          </p:nvPr>
        </p:nvSpPr>
        <p:spPr>
          <a:xfrm>
            <a:off x="-1072778" y="-435127"/>
            <a:ext cx="7989278" cy="7989278"/>
          </a:xfrm>
          <a:prstGeom prst="donut">
            <a:avLst>
              <a:gd name="adj" fmla="val 28764"/>
            </a:avLst>
          </a:prstGeom>
          <a:gradFill flip="none" rotWithShape="1">
            <a:gsLst>
              <a:gs pos="0">
                <a:srgbClr val="ACCCFC">
                  <a:alpha val="0"/>
                </a:srgbClr>
              </a:gs>
              <a:gs pos="99000">
                <a:srgbClr val="ACCCFC">
                  <a:alpha val="5000"/>
                </a:srgbClr>
              </a:gs>
            </a:gsLst>
            <a:lin ang="0" scaled="1"/>
            <a:tileRect/>
          </a:gradFill>
          <a:ln>
            <a:gradFill flip="none" rotWithShape="1">
              <a:gsLst>
                <a:gs pos="72000">
                  <a:srgbClr val="ACCCFC">
                    <a:alpha val="0"/>
                  </a:srgbClr>
                </a:gs>
                <a:gs pos="89000">
                  <a:srgbClr val="ACCCFC">
                    <a:alpha val="21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 panose="020B0500000000000000" charset="-122"/>
            </a:endParaRPr>
          </a:p>
        </p:txBody>
      </p:sp>
      <p:sp>
        <p:nvSpPr>
          <p:cNvPr id="22" name="圆: 空心 21"/>
          <p:cNvSpPr/>
          <p:nvPr>
            <p:custDataLst>
              <p:tags r:id="rId3"/>
            </p:custDataLst>
          </p:nvPr>
        </p:nvSpPr>
        <p:spPr>
          <a:xfrm>
            <a:off x="-805599" y="290839"/>
            <a:ext cx="6276320" cy="6276320"/>
          </a:xfrm>
          <a:prstGeom prst="donut">
            <a:avLst>
              <a:gd name="adj" fmla="val 28764"/>
            </a:avLst>
          </a:prstGeom>
          <a:gradFill flip="none" rotWithShape="1">
            <a:gsLst>
              <a:gs pos="11000">
                <a:srgbClr val="ACCCFC">
                  <a:alpha val="0"/>
                </a:srgbClr>
              </a:gs>
              <a:gs pos="99000">
                <a:srgbClr val="ACCCFC">
                  <a:alpha val="17000"/>
                </a:srgbClr>
              </a:gs>
            </a:gsLst>
            <a:lin ang="0" scaled="1"/>
            <a:tileRect/>
          </a:gradFill>
          <a:ln>
            <a:gradFill flip="none" rotWithShape="1">
              <a:gsLst>
                <a:gs pos="52000">
                  <a:srgbClr val="ACCCFC">
                    <a:alpha val="0"/>
                  </a:srgbClr>
                </a:gs>
                <a:gs pos="89000">
                  <a:srgbClr val="ACCCFC">
                    <a:alpha val="9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 panose="020B0500000000000000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4"/>
            </p:custDataLst>
          </p:nvPr>
        </p:nvSpPr>
        <p:spPr>
          <a:xfrm>
            <a:off x="0" y="1291103"/>
            <a:ext cx="4533980" cy="4275792"/>
          </a:xfrm>
          <a:custGeom>
            <a:avLst/>
            <a:gdLst>
              <a:gd name="connsiteX0" fmla="*/ 2407891 w 4533980"/>
              <a:gd name="connsiteY0" fmla="*/ 1230485 h 4275792"/>
              <a:gd name="connsiteX1" fmla="*/ 2407891 w 4533980"/>
              <a:gd name="connsiteY1" fmla="*/ 3045307 h 4275792"/>
              <a:gd name="connsiteX2" fmla="*/ 2488923 w 4533980"/>
              <a:gd name="connsiteY2" fmla="*/ 3041215 h 4275792"/>
              <a:gd name="connsiteX3" fmla="*/ 3304091 w 4533980"/>
              <a:gd name="connsiteY3" fmla="*/ 2137896 h 4275792"/>
              <a:gd name="connsiteX4" fmla="*/ 2488923 w 4533980"/>
              <a:gd name="connsiteY4" fmla="*/ 1234577 h 4275792"/>
              <a:gd name="connsiteX5" fmla="*/ 0 w 4533980"/>
              <a:gd name="connsiteY5" fmla="*/ 0 h 4275792"/>
              <a:gd name="connsiteX6" fmla="*/ 2396084 w 4533980"/>
              <a:gd name="connsiteY6" fmla="*/ 0 h 4275792"/>
              <a:gd name="connsiteX7" fmla="*/ 2407891 w 4533980"/>
              <a:gd name="connsiteY7" fmla="*/ 0 h 4275792"/>
              <a:gd name="connsiteX8" fmla="*/ 2407891 w 4533980"/>
              <a:gd name="connsiteY8" fmla="*/ 596 h 4275792"/>
              <a:gd name="connsiteX9" fmla="*/ 2614672 w 4533980"/>
              <a:gd name="connsiteY9" fmla="*/ 11038 h 4275792"/>
              <a:gd name="connsiteX10" fmla="*/ 4533980 w 4533980"/>
              <a:gd name="connsiteY10" fmla="*/ 2137896 h 4275792"/>
              <a:gd name="connsiteX11" fmla="*/ 2614672 w 4533980"/>
              <a:gd name="connsiteY11" fmla="*/ 4264755 h 4275792"/>
              <a:gd name="connsiteX12" fmla="*/ 2407891 w 4533980"/>
              <a:gd name="connsiteY12" fmla="*/ 4275196 h 4275792"/>
              <a:gd name="connsiteX13" fmla="*/ 2407891 w 4533980"/>
              <a:gd name="connsiteY13" fmla="*/ 4275792 h 4275792"/>
              <a:gd name="connsiteX14" fmla="*/ 2396084 w 4533980"/>
              <a:gd name="connsiteY14" fmla="*/ 4275792 h 4275792"/>
              <a:gd name="connsiteX15" fmla="*/ 0 w 4533980"/>
              <a:gd name="connsiteY15" fmla="*/ 4275792 h 427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33980" h="4275792">
                <a:moveTo>
                  <a:pt x="2407891" y="1230485"/>
                </a:moveTo>
                <a:lnTo>
                  <a:pt x="2407891" y="3045307"/>
                </a:lnTo>
                <a:lnTo>
                  <a:pt x="2488923" y="3041215"/>
                </a:lnTo>
                <a:cubicBezTo>
                  <a:pt x="2946790" y="2994716"/>
                  <a:pt x="3304091" y="2608032"/>
                  <a:pt x="3304091" y="2137896"/>
                </a:cubicBezTo>
                <a:cubicBezTo>
                  <a:pt x="3304091" y="1667761"/>
                  <a:pt x="2946790" y="1281076"/>
                  <a:pt x="2488923" y="1234577"/>
                </a:cubicBezTo>
                <a:close/>
                <a:moveTo>
                  <a:pt x="0" y="0"/>
                </a:moveTo>
                <a:lnTo>
                  <a:pt x="2396084" y="0"/>
                </a:lnTo>
                <a:lnTo>
                  <a:pt x="2407891" y="0"/>
                </a:lnTo>
                <a:lnTo>
                  <a:pt x="2407891" y="596"/>
                </a:lnTo>
                <a:lnTo>
                  <a:pt x="2614672" y="11038"/>
                </a:lnTo>
                <a:cubicBezTo>
                  <a:pt x="3692718" y="120520"/>
                  <a:pt x="4533980" y="1030965"/>
                  <a:pt x="4533980" y="2137896"/>
                </a:cubicBezTo>
                <a:cubicBezTo>
                  <a:pt x="4533980" y="3244828"/>
                  <a:pt x="3692718" y="4155273"/>
                  <a:pt x="2614672" y="4264755"/>
                </a:cubicBezTo>
                <a:lnTo>
                  <a:pt x="2407891" y="4275196"/>
                </a:lnTo>
                <a:lnTo>
                  <a:pt x="2407891" y="4275792"/>
                </a:lnTo>
                <a:lnTo>
                  <a:pt x="2396084" y="4275792"/>
                </a:lnTo>
                <a:lnTo>
                  <a:pt x="0" y="4275792"/>
                </a:lnTo>
                <a:close/>
              </a:path>
            </a:pathLst>
          </a:custGeom>
          <a:gradFill>
            <a:gsLst>
              <a:gs pos="0">
                <a:srgbClr val="1A72F6">
                  <a:alpha val="40000"/>
                </a:srgbClr>
              </a:gs>
              <a:gs pos="97000">
                <a:srgbClr val="ACCCFC">
                  <a:alpha val="17000"/>
                </a:srgbClr>
              </a:gs>
              <a:gs pos="35000">
                <a:srgbClr val="5697F9">
                  <a:alpha val="23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 panose="020B0500000000000000" charset="-122"/>
            </a:endParaRPr>
          </a:p>
        </p:txBody>
      </p:sp>
      <p:sp>
        <p:nvSpPr>
          <p:cNvPr id="26" name="矩形: 圆角 25"/>
          <p:cNvSpPr/>
          <p:nvPr>
            <p:custDataLst>
              <p:tags r:id="rId5"/>
            </p:custDataLst>
          </p:nvPr>
        </p:nvSpPr>
        <p:spPr>
          <a:xfrm>
            <a:off x="4927814" y="4323883"/>
            <a:ext cx="6069330" cy="8286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76200" dir="2700000" algn="tl" rotWithShape="0">
              <a:srgbClr val="5697F9">
                <a:alpha val="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Regular" panose="020B0500000000000000" charset="-122"/>
              <a:sym typeface="+mn-ea"/>
            </a:endParaRPr>
          </a:p>
        </p:txBody>
      </p:sp>
      <p:sp>
        <p:nvSpPr>
          <p:cNvPr id="24" name="矩形: 圆角 23"/>
          <p:cNvSpPr/>
          <p:nvPr>
            <p:custDataLst>
              <p:tags r:id="rId6"/>
            </p:custDataLst>
          </p:nvPr>
        </p:nvSpPr>
        <p:spPr>
          <a:xfrm>
            <a:off x="4927814" y="1933223"/>
            <a:ext cx="6069330" cy="8286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76200" dir="2700000" algn="tl" rotWithShape="0">
              <a:srgbClr val="5697F9">
                <a:alpha val="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Regular" panose="020B05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6160349" y="2117373"/>
            <a:ext cx="33388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rgbClr val="182839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智能体开发平台 </a:t>
            </a:r>
            <a:endParaRPr lang="zh-CN" altLang="en-US" sz="2400" dirty="0">
              <a:solidFill>
                <a:srgbClr val="182839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5252299" y="2024981"/>
            <a:ext cx="97917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>
                <a:ln>
                  <a:solidFill>
                    <a:srgbClr val="5697F9">
                      <a:alpha val="70000"/>
                    </a:srgbClr>
                  </a:solidFill>
                </a:ln>
                <a:solidFill>
                  <a:srgbClr val="ACCCFC">
                    <a:alpha val="23000"/>
                  </a:srgbClr>
                </a:solidFill>
                <a:latin typeface="思源黑体 Regular" panose="020B0500000000000000" charset="-122"/>
                <a:ea typeface="+mj-ea"/>
                <a:cs typeface="思源黑体 Regular" panose="020B0500000000000000" charset="-122"/>
              </a:rPr>
              <a:t>01</a:t>
            </a:r>
            <a:endParaRPr lang="en-US" altLang="zh-CN" sz="3600" dirty="0">
              <a:ln>
                <a:solidFill>
                  <a:srgbClr val="5697F9">
                    <a:alpha val="70000"/>
                  </a:srgbClr>
                </a:solidFill>
              </a:ln>
              <a:solidFill>
                <a:srgbClr val="ACCCFC">
                  <a:alpha val="23000"/>
                </a:srgbClr>
              </a:solidFill>
              <a:latin typeface="思源黑体 Regular" panose="020B0500000000000000" charset="-122"/>
              <a:ea typeface="+mj-ea"/>
              <a:cs typeface="思源黑体 Regular" panose="020B05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6149554" y="4508033"/>
            <a:ext cx="266319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rgbClr val="182839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公司介绍</a:t>
            </a:r>
            <a:endParaRPr lang="zh-CN" altLang="en-US" sz="2400" dirty="0">
              <a:solidFill>
                <a:srgbClr val="182839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5235643" y="4415641"/>
            <a:ext cx="97897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>
                <a:ln>
                  <a:solidFill>
                    <a:srgbClr val="5697F9">
                      <a:alpha val="70000"/>
                    </a:srgbClr>
                  </a:solidFill>
                </a:ln>
                <a:solidFill>
                  <a:srgbClr val="ACCCFC">
                    <a:alpha val="23000"/>
                  </a:srgbClr>
                </a:solidFill>
                <a:latin typeface="思源黑体 Regular" panose="020B0500000000000000" charset="-122"/>
                <a:ea typeface="+mj-ea"/>
                <a:cs typeface="思源黑体 Regular" panose="020B0500000000000000" charset="-122"/>
              </a:rPr>
              <a:t>03</a:t>
            </a:r>
            <a:endParaRPr lang="en-US" altLang="zh-CN" sz="3600" dirty="0">
              <a:ln>
                <a:solidFill>
                  <a:srgbClr val="5697F9">
                    <a:alpha val="70000"/>
                  </a:srgbClr>
                </a:solidFill>
              </a:ln>
              <a:solidFill>
                <a:srgbClr val="ACCCFC">
                  <a:alpha val="23000"/>
                </a:srgbClr>
              </a:solidFill>
              <a:latin typeface="思源黑体 Regular" panose="020B0500000000000000" charset="-122"/>
              <a:ea typeface="+mj-ea"/>
              <a:cs typeface="思源黑体 Regular" panose="020B05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94270" y="4744716"/>
            <a:ext cx="1425797" cy="488860"/>
            <a:chOff x="1892300" y="-1206499"/>
            <a:chExt cx="1274193" cy="436880"/>
          </a:xfrm>
          <a:solidFill>
            <a:srgbClr val="F0F5FF"/>
          </a:solidFill>
        </p:grpSpPr>
        <p:grpSp>
          <p:nvGrpSpPr>
            <p:cNvPr id="16" name="组合 15"/>
            <p:cNvGrpSpPr/>
            <p:nvPr/>
          </p:nvGrpSpPr>
          <p:grpSpPr>
            <a:xfrm>
              <a:off x="1892300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85" name="组合 84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1" name="椭圆 110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12" name="椭圆 111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13" name="椭圆 11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14" name="椭圆 11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7" name="椭圆 106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8" name="椭圆 107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9" name="椭圆 108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10" name="椭圆 109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87" name="组合 86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3" name="椭圆 10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4" name="椭圆 103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5" name="椭圆 104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6" name="椭圆 105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9" name="椭圆 98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7" name="椭圆 1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1" name="椭圆 100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2" name="椭圆 101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5" name="椭圆 94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96" name="椭圆 95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97" name="椭圆 96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98" name="椭圆 97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91" name="椭圆 90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8" name="椭圆 17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93" name="椭圆 92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94" name="椭圆 93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2568161" y="-1206499"/>
              <a:ext cx="598332" cy="436880"/>
              <a:chOff x="1892300" y="-1206500"/>
              <a:chExt cx="1320800" cy="964399"/>
            </a:xfrm>
            <a:grpFill/>
          </p:grpSpPr>
          <p:grpSp>
            <p:nvGrpSpPr>
              <p:cNvPr id="21" name="组合 20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81" name="椭圆 80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82" name="椭圆 81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83" name="椭圆 82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84" name="椭圆 83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77" name="椭圆 76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8" name="椭圆 77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9" name="椭圆 78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80" name="椭圆 7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73" name="椭圆 72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4" name="椭圆 7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5" name="椭圆 74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6" name="椭圆 7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30" name="椭圆 29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0" name="椭圆 69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1" name="椭圆 70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72" name="椭圆 71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33" name="椭圆 32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34" name="椭圆 33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67" name="椭圆 66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68" name="椭圆 67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115" name="组合 114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6" name="椭圆 115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17" name="椭圆 116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18" name="椭圆 117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19" name="椭圆 118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Regular" panose="020B0500000000000000" charset="-122"/>
                  </a:endParaRPr>
                </a:p>
              </p:txBody>
            </p:sp>
          </p:grpSp>
        </p:grpSp>
      </p:grpSp>
      <p:sp>
        <p:nvSpPr>
          <p:cNvPr id="120" name="椭圆 119"/>
          <p:cNvSpPr/>
          <p:nvPr>
            <p:custDataLst>
              <p:tags r:id="rId59"/>
            </p:custDataLst>
          </p:nvPr>
        </p:nvSpPr>
        <p:spPr>
          <a:xfrm>
            <a:off x="740868" y="1773783"/>
            <a:ext cx="3310432" cy="331043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52400" dist="152400" dir="2700000" algn="tl" rotWithShape="0">
              <a:srgbClr val="ACCCFC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 panose="020B0500000000000000" charset="-122"/>
            </a:endParaRPr>
          </a:p>
        </p:txBody>
      </p:sp>
      <p:sp>
        <p:nvSpPr>
          <p:cNvPr id="121" name="文本框 120"/>
          <p:cNvSpPr txBox="1"/>
          <p:nvPr>
            <p:custDataLst>
              <p:tags r:id="rId60"/>
            </p:custDataLst>
          </p:nvPr>
        </p:nvSpPr>
        <p:spPr>
          <a:xfrm>
            <a:off x="1490868" y="2944300"/>
            <a:ext cx="181043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182839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目录</a:t>
            </a:r>
            <a:endParaRPr lang="zh-CN" altLang="en-US" sz="3600" dirty="0">
              <a:solidFill>
                <a:srgbClr val="182839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61"/>
            </p:custDataLst>
          </p:nvPr>
        </p:nvSpPr>
        <p:spPr>
          <a:xfrm>
            <a:off x="1404214" y="3681730"/>
            <a:ext cx="19837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kern="100" cap="all" dirty="0">
                <a:solidFill>
                  <a:srgbClr val="182839"/>
                </a:solidFill>
                <a:effectLst/>
                <a:latin typeface="思源黑体 Bold" panose="020B0800000000000000" charset="-122"/>
                <a:ea typeface="思源黑体 Bold" panose="020B0800000000000000" charset="-122"/>
                <a:cs typeface="思源黑体 Medium" panose="020B0600000000000000" charset="-122"/>
              </a:rPr>
              <a:t>Contents</a:t>
            </a:r>
            <a:endParaRPr lang="en-US" altLang="zh-CN" sz="1400" kern="100" cap="all" dirty="0">
              <a:solidFill>
                <a:srgbClr val="182839"/>
              </a:solidFill>
              <a:effectLst/>
              <a:latin typeface="思源黑体 Bold" panose="020B0800000000000000" charset="-122"/>
              <a:ea typeface="思源黑体 Bold" panose="020B0800000000000000" charset="-122"/>
              <a:cs typeface="思源黑体 Medium" panose="020B0600000000000000" charset="-122"/>
            </a:endParaRPr>
          </a:p>
        </p:txBody>
      </p:sp>
      <p:sp>
        <p:nvSpPr>
          <p:cNvPr id="5" name="矩形: 圆角 25"/>
          <p:cNvSpPr/>
          <p:nvPr>
            <p:custDataLst>
              <p:tags r:id="rId62"/>
            </p:custDataLst>
          </p:nvPr>
        </p:nvSpPr>
        <p:spPr>
          <a:xfrm>
            <a:off x="4927814" y="3150403"/>
            <a:ext cx="6069330" cy="8286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52400" dist="76200" dir="2700000" algn="tl" rotWithShape="0">
              <a:srgbClr val="5697F9">
                <a:alpha val="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Regular" panose="020B05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63"/>
            </p:custDataLst>
          </p:nvPr>
        </p:nvSpPr>
        <p:spPr>
          <a:xfrm>
            <a:off x="6149554" y="3334553"/>
            <a:ext cx="29781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rgbClr val="182839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应用实践案例</a:t>
            </a:r>
            <a:endParaRPr lang="zh-CN" altLang="en-US" sz="2400" dirty="0">
              <a:solidFill>
                <a:srgbClr val="182839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64"/>
            </p:custDataLst>
          </p:nvPr>
        </p:nvSpPr>
        <p:spPr>
          <a:xfrm>
            <a:off x="5235643" y="3242161"/>
            <a:ext cx="97897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n>
                  <a:solidFill>
                    <a:srgbClr val="5697F9">
                      <a:alpha val="70000"/>
                    </a:srgbClr>
                  </a:solidFill>
                </a:ln>
                <a:solidFill>
                  <a:srgbClr val="ACCCFC">
                    <a:alpha val="23000"/>
                  </a:srgbClr>
                </a:solidFill>
                <a:latin typeface="思源黑体 Regular" panose="020B0500000000000000" charset="-122"/>
                <a:ea typeface="+mj-ea"/>
                <a:cs typeface="思源黑体 Regular" panose="020B0500000000000000" charset="-122"/>
              </a:rPr>
              <a:t>02  </a:t>
            </a:r>
            <a:endParaRPr lang="en-US" altLang="zh-CN" sz="3600" dirty="0">
              <a:ln>
                <a:solidFill>
                  <a:srgbClr val="5697F9">
                    <a:alpha val="70000"/>
                  </a:srgbClr>
                </a:solidFill>
              </a:ln>
              <a:solidFill>
                <a:srgbClr val="ACCCFC">
                  <a:alpha val="23000"/>
                </a:srgbClr>
              </a:solidFill>
              <a:latin typeface="思源黑体 Regular" panose="020B0500000000000000" charset="-122"/>
              <a:ea typeface="+mj-ea"/>
              <a:cs typeface="思源黑体 Regular" panose="020B05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65"/>
            </p:custDataLst>
          </p:nvPr>
        </p:nvSpPr>
        <p:spPr>
          <a:xfrm>
            <a:off x="10560759" y="-1"/>
            <a:ext cx="1807210" cy="6858001"/>
          </a:xfrm>
          <a:prstGeom prst="rect">
            <a:avLst/>
          </a:prstGeom>
          <a:noFill/>
          <a:ln>
            <a:noFill/>
          </a:ln>
        </p:spPr>
        <p:txBody>
          <a:bodyPr vert="eaVert"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9600" b="1" cap="all" dirty="0">
                <a:ln w="12700">
                  <a:solidFill>
                    <a:srgbClr val="1A72F6">
                      <a:alpha val="11000"/>
                    </a:srgbClr>
                  </a:solidFill>
                </a:ln>
                <a:noFill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Contents</a:t>
            </a:r>
            <a:endParaRPr lang="en-US" altLang="zh-CN" sz="9600" b="1" cap="all" dirty="0">
              <a:ln w="12700">
                <a:solidFill>
                  <a:srgbClr val="1A72F6">
                    <a:alpha val="11000"/>
                  </a:srgbClr>
                </a:solidFill>
              </a:ln>
              <a:noFill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09b6548ee08ab69dcb929787d9a7cdf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894945" cy="6857365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2"/>
            </p:custDataLst>
          </p:nvPr>
        </p:nvSpPr>
        <p:spPr>
          <a:xfrm>
            <a:off x="1040130" y="1890395"/>
            <a:ext cx="5056505" cy="141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3600" dirty="0">
                <a:solidFill>
                  <a:srgbClr val="182839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企业级智能体开发平台AgentCreator</a:t>
            </a:r>
            <a:endParaRPr lang="zh-CN" altLang="en-US" sz="3600" dirty="0">
              <a:solidFill>
                <a:srgbClr val="182839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266" name="文本框 265"/>
          <p:cNvSpPr txBox="1"/>
          <p:nvPr>
            <p:custDataLst>
              <p:tags r:id="rId3"/>
            </p:custDataLst>
          </p:nvPr>
        </p:nvSpPr>
        <p:spPr>
          <a:xfrm>
            <a:off x="1393190" y="3647440"/>
            <a:ext cx="2049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Bef>
                <a:spcPts val="0"/>
              </a:spcBef>
              <a:spcAft>
                <a:spcPts val="400"/>
              </a:spcAft>
              <a:buClrTx/>
              <a:buSzTx/>
              <a:buFontTx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rgbClr val="6B707A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产品简介</a:t>
            </a:r>
            <a:endParaRPr lang="zh-CN" altLang="en-US" sz="2000" noProof="0" dirty="0">
              <a:ln>
                <a:noFill/>
              </a:ln>
              <a:solidFill>
                <a:srgbClr val="6B707A"/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4"/>
            </p:custDataLst>
          </p:nvPr>
        </p:nvSpPr>
        <p:spPr>
          <a:xfrm>
            <a:off x="1133475" y="3756660"/>
            <a:ext cx="136800" cy="136800"/>
          </a:xfrm>
          <a:prstGeom prst="ellipse">
            <a:avLst/>
          </a:prstGeom>
          <a:gradFill>
            <a:gsLst>
              <a:gs pos="1000">
                <a:srgbClr val="ACCCFC"/>
              </a:gs>
              <a:gs pos="100000">
                <a:srgbClr val="1A72F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393465" y="4202430"/>
            <a:ext cx="19062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ClrTx/>
              <a:buSzTx/>
              <a:buFontTx/>
              <a:defRPr/>
            </a:pPr>
            <a:r>
              <a:rPr lang="zh-CN" altLang="en-US" sz="2000" noProof="0" dirty="0">
                <a:solidFill>
                  <a:srgbClr val="6B707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价值交付</a:t>
            </a:r>
            <a:endParaRPr lang="zh-CN" altLang="en-US" sz="2000" noProof="0" dirty="0">
              <a:solidFill>
                <a:srgbClr val="6B707A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133475" y="4401820"/>
            <a:ext cx="136800" cy="136800"/>
          </a:xfrm>
          <a:prstGeom prst="ellipse">
            <a:avLst/>
          </a:prstGeom>
          <a:gradFill>
            <a:gsLst>
              <a:gs pos="1000">
                <a:srgbClr val="ACCCFC"/>
              </a:gs>
              <a:gs pos="100000">
                <a:srgbClr val="1A72F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800">
              <a:latin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3162935" y="3737610"/>
            <a:ext cx="136800" cy="136800"/>
          </a:xfrm>
          <a:prstGeom prst="ellipse">
            <a:avLst/>
          </a:prstGeom>
          <a:gradFill>
            <a:gsLst>
              <a:gs pos="1000">
                <a:srgbClr val="ACCCFC"/>
              </a:gs>
              <a:gs pos="100000">
                <a:srgbClr val="1A72F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>
              <a:latin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3442970" y="3637915"/>
            <a:ext cx="19062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ClrTx/>
              <a:buSzTx/>
              <a:buFontTx/>
              <a:defRPr/>
            </a:pPr>
            <a:r>
              <a:rPr lang="zh-CN" altLang="en-US" sz="2000" noProof="0" dirty="0">
                <a:solidFill>
                  <a:srgbClr val="6B707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知识产权</a:t>
            </a:r>
            <a:endParaRPr lang="zh-CN" altLang="en-US" sz="2000" noProof="0" dirty="0">
              <a:solidFill>
                <a:srgbClr val="6B707A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顶角 8"/>
          <p:cNvSpPr/>
          <p:nvPr/>
        </p:nvSpPr>
        <p:spPr>
          <a:xfrm>
            <a:off x="497840" y="1653514"/>
            <a:ext cx="11090275" cy="22148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reflection blurRad="177800" stA="500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Regular" panose="020B0500000000000000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97523" y="1653514"/>
            <a:ext cx="11089640" cy="0"/>
          </a:xfrm>
          <a:prstGeom prst="line">
            <a:avLst/>
          </a:prstGeom>
          <a:ln w="57150">
            <a:gradFill flip="none" rotWithShape="1">
              <a:gsLst>
                <a:gs pos="0">
                  <a:srgbClr val="1D78FA">
                    <a:lumMod val="80000"/>
                    <a:lumOff val="20000"/>
                  </a:srgbClr>
                </a:gs>
                <a:gs pos="100000">
                  <a:srgbClr val="1D78FA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1">
            <a:srgbClr val="1D78FA"/>
          </a:lnRef>
          <a:fillRef idx="0">
            <a:srgbClr val="1D78FA"/>
          </a:fillRef>
          <a:effectRef idx="0">
            <a:srgbClr val="1D78FA"/>
          </a:effectRef>
          <a:fontRef idx="minor">
            <a:sysClr val="windowText" lastClr="000000"/>
          </a:fontRef>
        </p:style>
      </p:cxnSp>
      <p:pic>
        <p:nvPicPr>
          <p:cNvPr id="2" name="图片 1" descr="0b698a3d96524adebc2b9d3ec2c0b063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285" y="1847215"/>
            <a:ext cx="3574415" cy="201104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81330" y="588645"/>
            <a:ext cx="361759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产品简介</a:t>
            </a:r>
            <a:endParaRPr lang="zh-CN" altLang="en-US" sz="2800" dirty="0">
              <a:solidFill>
                <a:srgbClr val="02191F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06730" y="2440305"/>
            <a:ext cx="7668895" cy="1526187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2024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年底，翰林科技自主研发的企业级智能体开发平台 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AgentCreator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 V1.0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，是支撑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AI Agent </a:t>
            </a:r>
            <a:r>
              <a:rPr lang="zh-CN" altLang="en-US" sz="1600" b="1" dirty="0">
                <a:solidFill>
                  <a:srgbClr val="0A67F3"/>
                </a:solidFill>
                <a:latin typeface="+mj-lt"/>
                <a:ea typeface="+mj-lt"/>
                <a:cs typeface="+mj-lt"/>
                <a:sym typeface="+mn-ea"/>
              </a:rPr>
              <a:t>全生命周期管理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的技术底座，采用全新一代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Agent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技术架构与自主研发的 </a:t>
            </a:r>
            <a:r>
              <a:rPr lang="en-US" altLang="zh-CN" sz="1600" b="1" dirty="0">
                <a:solidFill>
                  <a:srgbClr val="0A67F3"/>
                </a:solidFill>
                <a:latin typeface="+mj-lt"/>
                <a:ea typeface="+mj-lt"/>
                <a:cs typeface="+mj-lt"/>
                <a:sym typeface="+mn-ea"/>
              </a:rPr>
              <a:t>Multi-Agent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架构，通过标准化通信协议支持多智能体协同，可满足各类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Agent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  <a:sym typeface="+mn-ea"/>
              </a:rPr>
              <a:t>应用构建需求。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0" y="5151443"/>
            <a:ext cx="12191998" cy="1706557"/>
          </a:xfrm>
          <a:prstGeom prst="rect">
            <a:avLst/>
          </a:prstGeom>
          <a:gradFill>
            <a:gsLst>
              <a:gs pos="0">
                <a:srgbClr val="1D78FA">
                  <a:lumMod val="86000"/>
                  <a:lumOff val="14000"/>
                </a:srgbClr>
              </a:gs>
              <a:gs pos="100000">
                <a:srgbClr val="1D78FA">
                  <a:lumMod val="75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rgbClr val="1D78FA">
              <a:shade val="50000"/>
            </a:srgbClr>
          </a:lnRef>
          <a:fillRef idx="1">
            <a:srgbClr val="1D78FA"/>
          </a:fillRef>
          <a:effectRef idx="0">
            <a:srgbClr val="1D78FA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7F7F7F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506730" y="4047490"/>
            <a:ext cx="3439160" cy="19850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reflection blurRad="177800" stA="500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79705" rIns="179705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思源黑体 Regular" panose="020B0500000000000000" charset="-122"/>
                <a:sym typeface="+mn-ea"/>
              </a:rPr>
              <a:t>兼容主流大模型与多模态感知、RAG 知识增强等特性，提供</a:t>
            </a:r>
            <a:r>
              <a:rPr lang="en-US" altLang="zh-CN" sz="1600" b="1" dirty="0">
                <a:solidFill>
                  <a:srgbClr val="0A67F3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低代码 / 可视化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思源黑体 Regular" panose="020B0500000000000000" charset="-122"/>
                <a:sym typeface="+mn-ea"/>
              </a:rPr>
              <a:t>开发工具降低开发门槛。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cs typeface="思源黑体 Regular" panose="020B0500000000000000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4328160" y="4047490"/>
            <a:ext cx="3439160" cy="19850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reflection blurRad="177800" stA="500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79705" rIns="179705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思源黑体 Regular" panose="020B0500000000000000" charset="-122"/>
                <a:sym typeface="+mn-ea"/>
              </a:rPr>
              <a:t>具备卓越的灵活性与扩展性，能深度适配</a:t>
            </a:r>
            <a:r>
              <a:rPr lang="en-US" altLang="zh-CN" sz="1600" b="1" dirty="0">
                <a:solidFill>
                  <a:srgbClr val="0A67F3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电力、能源行业垂直场景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思源黑体 Regular" panose="020B0500000000000000" charset="-122"/>
                <a:sym typeface="+mn-ea"/>
              </a:rPr>
              <a:t>。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cs typeface="思源黑体 Regular" panose="020B0500000000000000" charset="-122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8149590" y="4047490"/>
            <a:ext cx="3439160" cy="19850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reflection blurRad="177800" stA="500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79705" rIns="179705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衔接企业数据中台与业务系统，覆盖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Agent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开发、部署、监控、迭代全周期，助力企业构建知识驱动的</a:t>
            </a:r>
            <a:r>
              <a:rPr lang="en-US" altLang="zh-CN" sz="1600" b="1" dirty="0">
                <a:solidFill>
                  <a:srgbClr val="0A67F3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自动化工作流水线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思源黑体 Regular" panose="020B0500000000000000" charset="-122"/>
                <a:sym typeface="+mn-ea"/>
              </a:rPr>
              <a:t>。</a:t>
            </a:r>
            <a:endParaRPr lang="zh-CN" altLang="en-US" sz="1600" b="1" dirty="0">
              <a:solidFill>
                <a:srgbClr val="0A67F3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8" name="矩形: 单圆角 63"/>
          <p:cNvSpPr/>
          <p:nvPr>
            <p:custDataLst>
              <p:tags r:id="rId7"/>
            </p:custDataLst>
          </p:nvPr>
        </p:nvSpPr>
        <p:spPr>
          <a:xfrm flipV="1">
            <a:off x="481330" y="1628140"/>
            <a:ext cx="3026410" cy="514985"/>
          </a:xfrm>
          <a:prstGeom prst="round1Rect">
            <a:avLst>
              <a:gd name="adj" fmla="val 47975"/>
            </a:avLst>
          </a:prstGeom>
          <a:gradFill flip="none" rotWithShape="1">
            <a:gsLst>
              <a:gs pos="0">
                <a:srgbClr val="1D78FA">
                  <a:lumMod val="86000"/>
                  <a:lumOff val="14000"/>
                </a:srgbClr>
              </a:gs>
              <a:gs pos="100000">
                <a:srgbClr val="1D78FA">
                  <a:lumMod val="7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rgbClr val="1D78FA">
              <a:shade val="50000"/>
            </a:srgbClr>
          </a:lnRef>
          <a:fillRef idx="1">
            <a:srgbClr val="1D78FA"/>
          </a:fillRef>
          <a:effectRef idx="0">
            <a:srgbClr val="1D78FA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</a:t>
            </a:r>
            <a:endParaRPr lang="zh-CN" altLang="en-US">
              <a:solidFill>
                <a:sysClr val="window" lastClr="FFFFFF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7990" y="1666240"/>
            <a:ext cx="30029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000" b="1" dirty="0" err="1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  AgentCreator</a:t>
            </a:r>
            <a:r>
              <a:rPr lang="en-US" altLang="zh-CN" sz="2000" b="1" dirty="0">
                <a:solidFill>
                  <a:schemeClr val="bg1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V1.0</a:t>
            </a:r>
            <a:endParaRPr lang="en-US" altLang="zh-CN" sz="2000" b="1" dirty="0">
              <a:solidFill>
                <a:schemeClr val="bg1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98475" y="588645"/>
            <a:ext cx="109569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EnergyClaw </a:t>
            </a:r>
            <a:r>
              <a:rPr lang="zh-CN" altLang="en-US" sz="28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能做什么？</a:t>
            </a:r>
            <a:r>
              <a:rPr lang="en-US" altLang="zh-CN" sz="28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    </a:t>
            </a:r>
            <a:endParaRPr lang="en-US" altLang="zh-CN" sz="2800" dirty="0">
              <a:solidFill>
                <a:srgbClr val="02191F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6221095" y="797560"/>
            <a:ext cx="5360670" cy="6236970"/>
            <a:chOff x="9861" y="1256"/>
            <a:chExt cx="8442" cy="9822"/>
          </a:xfrm>
        </p:grpSpPr>
        <p:grpSp>
          <p:nvGrpSpPr>
            <p:cNvPr id="2" name="组合 1"/>
            <p:cNvGrpSpPr/>
            <p:nvPr/>
          </p:nvGrpSpPr>
          <p:grpSpPr>
            <a:xfrm>
              <a:off x="9861" y="1256"/>
              <a:ext cx="8443" cy="9822"/>
              <a:chOff x="9589" y="1005"/>
              <a:chExt cx="8420" cy="9795"/>
            </a:xfrm>
          </p:grpSpPr>
          <p:sp>
            <p:nvSpPr>
              <p:cNvPr id="6" name="任意多边形: 形状 5"/>
              <p:cNvSpPr/>
              <p:nvPr/>
            </p:nvSpPr>
            <p:spPr>
              <a:xfrm>
                <a:off x="10566" y="7612"/>
                <a:ext cx="2281" cy="3188"/>
              </a:xfrm>
              <a:custGeom>
                <a:avLst/>
                <a:gdLst>
                  <a:gd name="connsiteX0" fmla="*/ 0 w 1448625"/>
                  <a:gd name="connsiteY0" fmla="*/ 0 h 2024424"/>
                  <a:gd name="connsiteX1" fmla="*/ 1448626 w 1448625"/>
                  <a:gd name="connsiteY1" fmla="*/ 2024425 h 2024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8625" h="2024424">
                    <a:moveTo>
                      <a:pt x="0" y="0"/>
                    </a:moveTo>
                    <a:cubicBezTo>
                      <a:pt x="0" y="1157669"/>
                      <a:pt x="1448626" y="1181919"/>
                      <a:pt x="1448626" y="2024425"/>
                    </a:cubicBezTo>
                  </a:path>
                </a:pathLst>
              </a:custGeom>
              <a:noFill/>
              <a:ln w="603250" cap="flat">
                <a:gradFill>
                  <a:gsLst>
                    <a:gs pos="0">
                      <a:srgbClr val="DEF1FF"/>
                    </a:gs>
                    <a:gs pos="50000">
                      <a:srgbClr val="DEF1FF">
                        <a:alpha val="49804"/>
                      </a:srgbClr>
                    </a:gs>
                    <a:gs pos="100000">
                      <a:srgbClr val="DEF1FF">
                        <a:alpha val="0"/>
                      </a:srgbClr>
                    </a:gs>
                  </a:gsLst>
                  <a:lin ang="13934072" scaled="1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任意多边形: 形状 6"/>
              <p:cNvSpPr/>
              <p:nvPr/>
            </p:nvSpPr>
            <p:spPr>
              <a:xfrm>
                <a:off x="14723" y="7612"/>
                <a:ext cx="2281" cy="3188"/>
              </a:xfrm>
              <a:custGeom>
                <a:avLst/>
                <a:gdLst>
                  <a:gd name="connsiteX0" fmla="*/ 1448626 w 1448625"/>
                  <a:gd name="connsiteY0" fmla="*/ 0 h 2024424"/>
                  <a:gd name="connsiteX1" fmla="*/ 0 w 1448625"/>
                  <a:gd name="connsiteY1" fmla="*/ 2024425 h 2024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8625" h="2024424">
                    <a:moveTo>
                      <a:pt x="1448626" y="0"/>
                    </a:moveTo>
                    <a:cubicBezTo>
                      <a:pt x="1448626" y="1157669"/>
                      <a:pt x="0" y="1181919"/>
                      <a:pt x="0" y="2024425"/>
                    </a:cubicBezTo>
                  </a:path>
                </a:pathLst>
              </a:custGeom>
              <a:noFill/>
              <a:ln w="603250" cap="flat">
                <a:gradFill>
                  <a:gsLst>
                    <a:gs pos="0">
                      <a:srgbClr val="DEF1FF"/>
                    </a:gs>
                    <a:gs pos="50000">
                      <a:srgbClr val="DEF1FF">
                        <a:alpha val="49804"/>
                      </a:srgbClr>
                    </a:gs>
                    <a:gs pos="100000">
                      <a:srgbClr val="DEF1FF">
                        <a:alpha val="0"/>
                      </a:srgbClr>
                    </a:gs>
                  </a:gsLst>
                  <a:lin ang="18465928" scaled="1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任意多边形: 形状 7"/>
              <p:cNvSpPr/>
              <p:nvPr/>
            </p:nvSpPr>
            <p:spPr>
              <a:xfrm>
                <a:off x="13781" y="8367"/>
                <a:ext cx="10" cy="2432"/>
              </a:xfrm>
              <a:custGeom>
                <a:avLst/>
                <a:gdLst>
                  <a:gd name="connsiteX0" fmla="*/ 0 w 6350"/>
                  <a:gd name="connsiteY0" fmla="*/ 0 h 1544294"/>
                  <a:gd name="connsiteX1" fmla="*/ 0 w 6350"/>
                  <a:gd name="connsiteY1" fmla="*/ 1544295 h 154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544294">
                    <a:moveTo>
                      <a:pt x="0" y="0"/>
                    </a:moveTo>
                    <a:lnTo>
                      <a:pt x="0" y="1544295"/>
                    </a:lnTo>
                  </a:path>
                </a:pathLst>
              </a:custGeom>
              <a:noFill/>
              <a:ln w="603250" cap="flat">
                <a:gradFill>
                  <a:gsLst>
                    <a:gs pos="0">
                      <a:srgbClr val="D2EBFF">
                        <a:alpha val="0"/>
                      </a:srgbClr>
                    </a:gs>
                    <a:gs pos="50000">
                      <a:srgbClr val="D2EBFF">
                        <a:alpha val="49804"/>
                      </a:srgbClr>
                    </a:gs>
                    <a:gs pos="100000">
                      <a:srgbClr val="D2EBFF"/>
                    </a:gs>
                  </a:gsLst>
                  <a:lin ang="5400000" scaled="1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任意多边形: 形状 8"/>
              <p:cNvSpPr/>
              <p:nvPr/>
            </p:nvSpPr>
            <p:spPr>
              <a:xfrm>
                <a:off x="9830" y="1723"/>
                <a:ext cx="7875" cy="7875"/>
              </a:xfrm>
              <a:custGeom>
                <a:avLst/>
                <a:gdLst>
                  <a:gd name="connsiteX0" fmla="*/ 5000346 w 5000345"/>
                  <a:gd name="connsiteY0" fmla="*/ 2500173 h 5000345"/>
                  <a:gd name="connsiteX1" fmla="*/ 2500173 w 5000345"/>
                  <a:gd name="connsiteY1" fmla="*/ 5000346 h 5000345"/>
                  <a:gd name="connsiteX2" fmla="*/ -1 w 5000345"/>
                  <a:gd name="connsiteY2" fmla="*/ 2500173 h 5000345"/>
                  <a:gd name="connsiteX3" fmla="*/ 2500173 w 5000345"/>
                  <a:gd name="connsiteY3" fmla="*/ 0 h 5000345"/>
                  <a:gd name="connsiteX4" fmla="*/ 5000346 w 5000345"/>
                  <a:gd name="connsiteY4" fmla="*/ 2500173 h 500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0345" h="5000345">
                    <a:moveTo>
                      <a:pt x="5000346" y="2500173"/>
                    </a:moveTo>
                    <a:cubicBezTo>
                      <a:pt x="5000346" y="3880980"/>
                      <a:pt x="3880980" y="5000346"/>
                      <a:pt x="2500173" y="5000346"/>
                    </a:cubicBezTo>
                    <a:cubicBezTo>
                      <a:pt x="1119365" y="5000346"/>
                      <a:pt x="-1" y="3880981"/>
                      <a:pt x="-1" y="2500173"/>
                    </a:cubicBezTo>
                    <a:cubicBezTo>
                      <a:pt x="-1" y="1119366"/>
                      <a:pt x="1119365" y="0"/>
                      <a:pt x="2500173" y="0"/>
                    </a:cubicBezTo>
                    <a:cubicBezTo>
                      <a:pt x="3880980" y="0"/>
                      <a:pt x="5000346" y="1119366"/>
                      <a:pt x="5000346" y="2500173"/>
                    </a:cubicBezTo>
                    <a:close/>
                  </a:path>
                </a:pathLst>
              </a:custGeom>
              <a:solidFill>
                <a:srgbClr val="F1F5FE"/>
              </a:solidFill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2" name="图形 2"/>
              <p:cNvGrpSpPr/>
              <p:nvPr/>
            </p:nvGrpSpPr>
            <p:grpSpPr>
              <a:xfrm>
                <a:off x="10732" y="1999"/>
                <a:ext cx="6389" cy="6267"/>
                <a:chOff x="6814756" y="1269517"/>
                <a:chExt cx="4057142" cy="3979551"/>
              </a:xfrm>
            </p:grpSpPr>
            <p:sp>
              <p:nvSpPr>
                <p:cNvPr id="13" name="任意多边形: 形状 10"/>
                <p:cNvSpPr/>
                <p:nvPr/>
              </p:nvSpPr>
              <p:spPr>
                <a:xfrm>
                  <a:off x="7627683" y="2397143"/>
                  <a:ext cx="1148842" cy="1476705"/>
                </a:xfrm>
                <a:custGeom>
                  <a:avLst/>
                  <a:gdLst>
                    <a:gd name="connsiteX0" fmla="*/ 669100 w 1148842"/>
                    <a:gd name="connsiteY0" fmla="*/ 40824 h 1476705"/>
                    <a:gd name="connsiteX1" fmla="*/ 1012508 w 1148842"/>
                    <a:gd name="connsiteY1" fmla="*/ 0 h 1476705"/>
                    <a:gd name="connsiteX2" fmla="*/ 1148842 w 1148842"/>
                    <a:gd name="connsiteY2" fmla="*/ 317824 h 1476705"/>
                    <a:gd name="connsiteX3" fmla="*/ 479806 w 1148842"/>
                    <a:gd name="connsiteY3" fmla="*/ 1476705 h 1476705"/>
                    <a:gd name="connsiteX4" fmla="*/ 0 w 1148842"/>
                    <a:gd name="connsiteY4" fmla="*/ 1199712 h 1476705"/>
                    <a:gd name="connsiteX5" fmla="*/ 669100 w 1148842"/>
                    <a:gd name="connsiteY5" fmla="*/ 40824 h 1476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8842" h="1476705">
                      <a:moveTo>
                        <a:pt x="669100" y="40824"/>
                      </a:moveTo>
                      <a:lnTo>
                        <a:pt x="1012508" y="0"/>
                      </a:lnTo>
                      <a:lnTo>
                        <a:pt x="1148842" y="317824"/>
                      </a:lnTo>
                      <a:lnTo>
                        <a:pt x="479806" y="1476705"/>
                      </a:lnTo>
                      <a:lnTo>
                        <a:pt x="0" y="1199712"/>
                      </a:lnTo>
                      <a:lnTo>
                        <a:pt x="669100" y="40824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0F7FF"/>
                    </a:gs>
                    <a:gs pos="50000">
                      <a:srgbClr val="F0F7FF">
                        <a:alpha val="49804"/>
                      </a:srgbClr>
                    </a:gs>
                    <a:gs pos="100000">
                      <a:srgbClr val="F0F7FF">
                        <a:alpha val="0"/>
                      </a:srgbClr>
                    </a:gs>
                  </a:gsLst>
                  <a:lin ang="7199983" scaled="1"/>
                </a:gra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任意多边形: 形状 11"/>
                <p:cNvSpPr/>
                <p:nvPr/>
              </p:nvSpPr>
              <p:spPr>
                <a:xfrm>
                  <a:off x="7775257" y="4069969"/>
                  <a:ext cx="1545273" cy="553992"/>
                </a:xfrm>
                <a:custGeom>
                  <a:avLst/>
                  <a:gdLst>
                    <a:gd name="connsiteX0" fmla="*/ 207074 w 1545273"/>
                    <a:gd name="connsiteY0" fmla="*/ 553993 h 553992"/>
                    <a:gd name="connsiteX1" fmla="*/ 0 w 1545273"/>
                    <a:gd name="connsiteY1" fmla="*/ 276993 h 553992"/>
                    <a:gd name="connsiteX2" fmla="*/ 207074 w 1545273"/>
                    <a:gd name="connsiteY2" fmla="*/ 0 h 553992"/>
                    <a:gd name="connsiteX3" fmla="*/ 1545273 w 1545273"/>
                    <a:gd name="connsiteY3" fmla="*/ 0 h 553992"/>
                    <a:gd name="connsiteX4" fmla="*/ 1545273 w 1545273"/>
                    <a:gd name="connsiteY4" fmla="*/ 553993 h 553992"/>
                    <a:gd name="connsiteX5" fmla="*/ 207074 w 1545273"/>
                    <a:gd name="connsiteY5" fmla="*/ 553993 h 5539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45273" h="553992">
                      <a:moveTo>
                        <a:pt x="207074" y="553993"/>
                      </a:moveTo>
                      <a:lnTo>
                        <a:pt x="0" y="276993"/>
                      </a:lnTo>
                      <a:lnTo>
                        <a:pt x="207074" y="0"/>
                      </a:lnTo>
                      <a:lnTo>
                        <a:pt x="1545273" y="0"/>
                      </a:lnTo>
                      <a:lnTo>
                        <a:pt x="1545273" y="553993"/>
                      </a:lnTo>
                      <a:lnTo>
                        <a:pt x="207074" y="553993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0F7FF"/>
                    </a:gs>
                    <a:gs pos="50000">
                      <a:srgbClr val="F0F7FF">
                        <a:alpha val="49804"/>
                      </a:srgbClr>
                    </a:gs>
                    <a:gs pos="100000">
                      <a:srgbClr val="F0F7FF">
                        <a:alpha val="0"/>
                      </a:srgbClr>
                    </a:gs>
                  </a:gsLst>
                  <a:lin ang="0" scaled="1"/>
                </a:gra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任意多边形: 形状 12"/>
                <p:cNvSpPr/>
                <p:nvPr/>
              </p:nvSpPr>
              <p:spPr>
                <a:xfrm>
                  <a:off x="8890444" y="2648254"/>
                  <a:ext cx="1148842" cy="1476705"/>
                </a:xfrm>
                <a:custGeom>
                  <a:avLst/>
                  <a:gdLst>
                    <a:gd name="connsiteX0" fmla="*/ 1148842 w 1148842"/>
                    <a:gd name="connsiteY0" fmla="*/ 1158881 h 1476705"/>
                    <a:gd name="connsiteX1" fmla="*/ 1012444 w 1148842"/>
                    <a:gd name="connsiteY1" fmla="*/ 1476705 h 1476705"/>
                    <a:gd name="connsiteX2" fmla="*/ 669037 w 1148842"/>
                    <a:gd name="connsiteY2" fmla="*/ 1435875 h 1476705"/>
                    <a:gd name="connsiteX3" fmla="*/ 0 w 1148842"/>
                    <a:gd name="connsiteY3" fmla="*/ 276993 h 1476705"/>
                    <a:gd name="connsiteX4" fmla="*/ 479743 w 1148842"/>
                    <a:gd name="connsiteY4" fmla="*/ 0 h 1476705"/>
                    <a:gd name="connsiteX5" fmla="*/ 1148842 w 1148842"/>
                    <a:gd name="connsiteY5" fmla="*/ 1158881 h 1476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8842" h="1476705">
                      <a:moveTo>
                        <a:pt x="1148842" y="1158881"/>
                      </a:moveTo>
                      <a:lnTo>
                        <a:pt x="1012444" y="1476705"/>
                      </a:lnTo>
                      <a:lnTo>
                        <a:pt x="669037" y="1435875"/>
                      </a:lnTo>
                      <a:lnTo>
                        <a:pt x="0" y="276993"/>
                      </a:lnTo>
                      <a:lnTo>
                        <a:pt x="479743" y="0"/>
                      </a:lnTo>
                      <a:lnTo>
                        <a:pt x="1148842" y="115888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0F7FF"/>
                    </a:gs>
                    <a:gs pos="50000">
                      <a:srgbClr val="F0F7FF">
                        <a:alpha val="49804"/>
                      </a:srgbClr>
                    </a:gs>
                    <a:gs pos="100000">
                      <a:srgbClr val="F0F7FF">
                        <a:alpha val="0"/>
                      </a:srgbClr>
                    </a:gs>
                  </a:gsLst>
                  <a:lin ang="14400024" scaled="1"/>
                </a:gra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任意多边形: 形状 13"/>
                <p:cNvSpPr/>
                <p:nvPr/>
              </p:nvSpPr>
              <p:spPr>
                <a:xfrm>
                  <a:off x="9326689" y="4070350"/>
                  <a:ext cx="1545208" cy="553986"/>
                </a:xfrm>
                <a:custGeom>
                  <a:avLst/>
                  <a:gdLst>
                    <a:gd name="connsiteX0" fmla="*/ 207010 w 1545208"/>
                    <a:gd name="connsiteY0" fmla="*/ 553987 h 553986"/>
                    <a:gd name="connsiteX1" fmla="*/ 0 w 1545208"/>
                    <a:gd name="connsiteY1" fmla="*/ 276993 h 553986"/>
                    <a:gd name="connsiteX2" fmla="*/ 207010 w 1545208"/>
                    <a:gd name="connsiteY2" fmla="*/ 0 h 553986"/>
                    <a:gd name="connsiteX3" fmla="*/ 1545209 w 1545208"/>
                    <a:gd name="connsiteY3" fmla="*/ 0 h 553986"/>
                    <a:gd name="connsiteX4" fmla="*/ 1545209 w 1545208"/>
                    <a:gd name="connsiteY4" fmla="*/ 553987 h 553986"/>
                    <a:gd name="connsiteX5" fmla="*/ 207010 w 1545208"/>
                    <a:gd name="connsiteY5" fmla="*/ 553987 h 553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45208" h="553986">
                      <a:moveTo>
                        <a:pt x="207010" y="553987"/>
                      </a:moveTo>
                      <a:lnTo>
                        <a:pt x="0" y="276993"/>
                      </a:lnTo>
                      <a:lnTo>
                        <a:pt x="207010" y="0"/>
                      </a:lnTo>
                      <a:lnTo>
                        <a:pt x="1545209" y="0"/>
                      </a:lnTo>
                      <a:lnTo>
                        <a:pt x="1545209" y="553987"/>
                      </a:lnTo>
                      <a:lnTo>
                        <a:pt x="207010" y="553987"/>
                      </a:lnTo>
                      <a:close/>
                    </a:path>
                  </a:pathLst>
                </a:custGeom>
                <a:solidFill>
                  <a:srgbClr val="F9FAFE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任意多边形: 形状 14"/>
                <p:cNvSpPr/>
                <p:nvPr/>
              </p:nvSpPr>
              <p:spPr>
                <a:xfrm>
                  <a:off x="8107489" y="1269517"/>
                  <a:ext cx="1148841" cy="1476705"/>
                </a:xfrm>
                <a:custGeom>
                  <a:avLst/>
                  <a:gdLst>
                    <a:gd name="connsiteX0" fmla="*/ 1148842 w 1148841"/>
                    <a:gd name="connsiteY0" fmla="*/ 1158881 h 1476705"/>
                    <a:gd name="connsiteX1" fmla="*/ 1012507 w 1148841"/>
                    <a:gd name="connsiteY1" fmla="*/ 1476705 h 1476705"/>
                    <a:gd name="connsiteX2" fmla="*/ 669036 w 1148841"/>
                    <a:gd name="connsiteY2" fmla="*/ 1435875 h 1476705"/>
                    <a:gd name="connsiteX3" fmla="*/ 0 w 1148841"/>
                    <a:gd name="connsiteY3" fmla="*/ 276993 h 1476705"/>
                    <a:gd name="connsiteX4" fmla="*/ 479742 w 1148841"/>
                    <a:gd name="connsiteY4" fmla="*/ 0 h 1476705"/>
                    <a:gd name="connsiteX5" fmla="*/ 1148842 w 1148841"/>
                    <a:gd name="connsiteY5" fmla="*/ 1158881 h 1476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8841" h="1476705">
                      <a:moveTo>
                        <a:pt x="1148842" y="1158881"/>
                      </a:moveTo>
                      <a:lnTo>
                        <a:pt x="1012507" y="1476705"/>
                      </a:lnTo>
                      <a:lnTo>
                        <a:pt x="669036" y="1435875"/>
                      </a:lnTo>
                      <a:lnTo>
                        <a:pt x="0" y="276993"/>
                      </a:lnTo>
                      <a:lnTo>
                        <a:pt x="479742" y="0"/>
                      </a:lnTo>
                      <a:lnTo>
                        <a:pt x="1148842" y="1158881"/>
                      </a:lnTo>
                      <a:close/>
                    </a:path>
                  </a:pathLst>
                </a:custGeom>
                <a:solidFill>
                  <a:srgbClr val="F9FAFE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任意多边形: 形状 15"/>
                <p:cNvSpPr/>
                <p:nvPr/>
              </p:nvSpPr>
              <p:spPr>
                <a:xfrm>
                  <a:off x="6814756" y="3772363"/>
                  <a:ext cx="1148842" cy="1476705"/>
                </a:xfrm>
                <a:custGeom>
                  <a:avLst/>
                  <a:gdLst>
                    <a:gd name="connsiteX0" fmla="*/ 669100 w 1148842"/>
                    <a:gd name="connsiteY0" fmla="*/ 40830 h 1476705"/>
                    <a:gd name="connsiteX1" fmla="*/ 1012508 w 1148842"/>
                    <a:gd name="connsiteY1" fmla="*/ 0 h 1476705"/>
                    <a:gd name="connsiteX2" fmla="*/ 1148842 w 1148842"/>
                    <a:gd name="connsiteY2" fmla="*/ 317824 h 1476705"/>
                    <a:gd name="connsiteX3" fmla="*/ 479806 w 1148842"/>
                    <a:gd name="connsiteY3" fmla="*/ 1476705 h 1476705"/>
                    <a:gd name="connsiteX4" fmla="*/ 0 w 1148842"/>
                    <a:gd name="connsiteY4" fmla="*/ 1199712 h 1476705"/>
                    <a:gd name="connsiteX5" fmla="*/ 669100 w 1148842"/>
                    <a:gd name="connsiteY5" fmla="*/ 40830 h 1476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8842" h="1476705">
                      <a:moveTo>
                        <a:pt x="669100" y="40830"/>
                      </a:moveTo>
                      <a:lnTo>
                        <a:pt x="1012508" y="0"/>
                      </a:lnTo>
                      <a:lnTo>
                        <a:pt x="1148842" y="317824"/>
                      </a:lnTo>
                      <a:lnTo>
                        <a:pt x="479806" y="1476705"/>
                      </a:lnTo>
                      <a:lnTo>
                        <a:pt x="0" y="1199712"/>
                      </a:lnTo>
                      <a:lnTo>
                        <a:pt x="669100" y="40830"/>
                      </a:lnTo>
                      <a:close/>
                    </a:path>
                  </a:pathLst>
                </a:custGeom>
                <a:solidFill>
                  <a:srgbClr val="F9FAFE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9" name="任意多边形: 形状 16"/>
              <p:cNvSpPr/>
              <p:nvPr/>
            </p:nvSpPr>
            <p:spPr>
              <a:xfrm>
                <a:off x="11062" y="2470"/>
                <a:ext cx="5525" cy="4830"/>
              </a:xfrm>
              <a:custGeom>
                <a:avLst/>
                <a:gdLst>
                  <a:gd name="connsiteX0" fmla="*/ 1754250 w 3508501"/>
                  <a:gd name="connsiteY0" fmla="*/ 0 h 3067050"/>
                  <a:gd name="connsiteX1" fmla="*/ 3508501 w 3508501"/>
                  <a:gd name="connsiteY1" fmla="*/ 3067050 h 3067050"/>
                  <a:gd name="connsiteX2" fmla="*/ 0 w 3508501"/>
                  <a:gd name="connsiteY2" fmla="*/ 3067050 h 3067050"/>
                  <a:gd name="connsiteX3" fmla="*/ 1754250 w 3508501"/>
                  <a:gd name="connsiteY3" fmla="*/ 0 h 3067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08501" h="3067050">
                    <a:moveTo>
                      <a:pt x="1754250" y="0"/>
                    </a:moveTo>
                    <a:lnTo>
                      <a:pt x="3508501" y="3067050"/>
                    </a:lnTo>
                    <a:lnTo>
                      <a:pt x="0" y="3067050"/>
                    </a:lnTo>
                    <a:lnTo>
                      <a:pt x="1754250" y="0"/>
                    </a:lnTo>
                    <a:close/>
                  </a:path>
                </a:pathLst>
              </a:custGeom>
              <a:noFill/>
              <a:ln w="25400" cap="flat">
                <a:solidFill>
                  <a:srgbClr val="2F7DF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2484" y="4008"/>
                <a:ext cx="2723" cy="2355"/>
              </a:xfrm>
              <a:custGeom>
                <a:avLst/>
                <a:gdLst>
                  <a:gd name="connsiteX0" fmla="*/ 1125792 w 1586357"/>
                  <a:gd name="connsiteY0" fmla="*/ 575183 h 1371600"/>
                  <a:gd name="connsiteX1" fmla="*/ 793179 w 1586357"/>
                  <a:gd name="connsiteY1" fmla="*/ 0 h 1371600"/>
                  <a:gd name="connsiteX2" fmla="*/ 460566 w 1586357"/>
                  <a:gd name="connsiteY2" fmla="*/ 575183 h 1371600"/>
                  <a:gd name="connsiteX3" fmla="*/ 1125792 w 1586357"/>
                  <a:gd name="connsiteY3" fmla="*/ 575183 h 1371600"/>
                  <a:gd name="connsiteX4" fmla="*/ 1139444 w 1586357"/>
                  <a:gd name="connsiteY4" fmla="*/ 598780 h 1371600"/>
                  <a:gd name="connsiteX5" fmla="*/ 446913 w 1586357"/>
                  <a:gd name="connsiteY5" fmla="*/ 598780 h 1371600"/>
                  <a:gd name="connsiteX6" fmla="*/ 228537 w 1586357"/>
                  <a:gd name="connsiteY6" fmla="*/ 976344 h 1371600"/>
                  <a:gd name="connsiteX7" fmla="*/ 1357757 w 1586357"/>
                  <a:gd name="connsiteY7" fmla="*/ 976344 h 1371600"/>
                  <a:gd name="connsiteX8" fmla="*/ 1139444 w 1586357"/>
                  <a:gd name="connsiteY8" fmla="*/ 598780 h 1371600"/>
                  <a:gd name="connsiteX9" fmla="*/ 1371410 w 1586357"/>
                  <a:gd name="connsiteY9" fmla="*/ 999941 h 1371600"/>
                  <a:gd name="connsiteX10" fmla="*/ 214885 w 1586357"/>
                  <a:gd name="connsiteY10" fmla="*/ 999941 h 1371600"/>
                  <a:gd name="connsiteX11" fmla="*/ 0 w 1586357"/>
                  <a:gd name="connsiteY11" fmla="*/ 1371600 h 1371600"/>
                  <a:gd name="connsiteX12" fmla="*/ 1586357 w 1586357"/>
                  <a:gd name="connsiteY12" fmla="*/ 1371600 h 1371600"/>
                  <a:gd name="connsiteX13" fmla="*/ 1371410 w 1586357"/>
                  <a:gd name="connsiteY13" fmla="*/ 999941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86357" h="1371600">
                    <a:moveTo>
                      <a:pt x="1125792" y="575183"/>
                    </a:moveTo>
                    <a:lnTo>
                      <a:pt x="793179" y="0"/>
                    </a:lnTo>
                    <a:lnTo>
                      <a:pt x="460566" y="575183"/>
                    </a:lnTo>
                    <a:lnTo>
                      <a:pt x="1125792" y="575183"/>
                    </a:lnTo>
                    <a:close/>
                    <a:moveTo>
                      <a:pt x="1139444" y="598780"/>
                    </a:moveTo>
                    <a:lnTo>
                      <a:pt x="446913" y="598780"/>
                    </a:lnTo>
                    <a:lnTo>
                      <a:pt x="228537" y="976344"/>
                    </a:lnTo>
                    <a:lnTo>
                      <a:pt x="1357757" y="976344"/>
                    </a:lnTo>
                    <a:lnTo>
                      <a:pt x="1139444" y="598780"/>
                    </a:lnTo>
                    <a:close/>
                    <a:moveTo>
                      <a:pt x="1371410" y="999941"/>
                    </a:moveTo>
                    <a:lnTo>
                      <a:pt x="214885" y="999941"/>
                    </a:lnTo>
                    <a:lnTo>
                      <a:pt x="0" y="1371600"/>
                    </a:lnTo>
                    <a:lnTo>
                      <a:pt x="1586357" y="1371600"/>
                    </a:lnTo>
                    <a:lnTo>
                      <a:pt x="1371410" y="999941"/>
                    </a:lnTo>
                    <a:close/>
                  </a:path>
                </a:pathLst>
              </a:custGeom>
              <a:gradFill>
                <a:gsLst>
                  <a:gs pos="0">
                    <a:srgbClr val="72A3FF"/>
                  </a:gs>
                  <a:gs pos="50000">
                    <a:srgbClr val="4785FF"/>
                  </a:gs>
                  <a:gs pos="100000">
                    <a:srgbClr val="1C67FF"/>
                  </a:gs>
                </a:gsLst>
                <a:lin ang="375239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15909" y="6385"/>
                <a:ext cx="2100" cy="2100"/>
              </a:xfrm>
              <a:custGeom>
                <a:avLst/>
                <a:gdLst>
                  <a:gd name="connsiteX0" fmla="*/ 1333500 w 1333500"/>
                  <a:gd name="connsiteY0" fmla="*/ 666750 h 1333500"/>
                  <a:gd name="connsiteX1" fmla="*/ 666750 w 1333500"/>
                  <a:gd name="connsiteY1" fmla="*/ 1333500 h 1333500"/>
                  <a:gd name="connsiteX2" fmla="*/ 0 w 1333500"/>
                  <a:gd name="connsiteY2" fmla="*/ 666750 h 1333500"/>
                  <a:gd name="connsiteX3" fmla="*/ 666750 w 1333500"/>
                  <a:gd name="connsiteY3" fmla="*/ 0 h 1333500"/>
                  <a:gd name="connsiteX4" fmla="*/ 1333500 w 1333500"/>
                  <a:gd name="connsiteY4" fmla="*/ 666750 h 133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0" h="1333500">
                    <a:moveTo>
                      <a:pt x="1333500" y="666750"/>
                    </a:moveTo>
                    <a:cubicBezTo>
                      <a:pt x="1333500" y="1034986"/>
                      <a:pt x="1034985" y="1333500"/>
                      <a:pt x="666750" y="1333500"/>
                    </a:cubicBezTo>
                    <a:cubicBezTo>
                      <a:pt x="298514" y="1333500"/>
                      <a:pt x="0" y="1034986"/>
                      <a:pt x="0" y="666750"/>
                    </a:cubicBezTo>
                    <a:cubicBezTo>
                      <a:pt x="0" y="298514"/>
                      <a:pt x="298514" y="0"/>
                      <a:pt x="666750" y="0"/>
                    </a:cubicBezTo>
                    <a:cubicBezTo>
                      <a:pt x="1034985" y="0"/>
                      <a:pt x="1333500" y="298514"/>
                      <a:pt x="1333500" y="66675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8F1FF"/>
                  </a:gs>
                  <a:gs pos="50000">
                    <a:srgbClr val="F3F8FF"/>
                  </a:gs>
                  <a:gs pos="100000">
                    <a:srgbClr val="FFFFFF"/>
                  </a:gs>
                </a:gsLst>
                <a:lin ang="5400000" scaled="1"/>
              </a:gradFill>
              <a:ln w="6350" cap="flat">
                <a:solidFill>
                  <a:srgbClr val="2F7DF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任意多边形: 形状 31"/>
              <p:cNvSpPr/>
              <p:nvPr/>
            </p:nvSpPr>
            <p:spPr>
              <a:xfrm>
                <a:off x="9589" y="6385"/>
                <a:ext cx="2100" cy="2100"/>
              </a:xfrm>
              <a:custGeom>
                <a:avLst/>
                <a:gdLst>
                  <a:gd name="connsiteX0" fmla="*/ 1333500 w 1333500"/>
                  <a:gd name="connsiteY0" fmla="*/ 666750 h 1333500"/>
                  <a:gd name="connsiteX1" fmla="*/ 666750 w 1333500"/>
                  <a:gd name="connsiteY1" fmla="*/ 1333500 h 1333500"/>
                  <a:gd name="connsiteX2" fmla="*/ 0 w 1333500"/>
                  <a:gd name="connsiteY2" fmla="*/ 666750 h 1333500"/>
                  <a:gd name="connsiteX3" fmla="*/ 666750 w 1333500"/>
                  <a:gd name="connsiteY3" fmla="*/ 0 h 1333500"/>
                  <a:gd name="connsiteX4" fmla="*/ 1333500 w 1333500"/>
                  <a:gd name="connsiteY4" fmla="*/ 666750 h 133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0" h="1333500">
                    <a:moveTo>
                      <a:pt x="1333500" y="666750"/>
                    </a:moveTo>
                    <a:cubicBezTo>
                      <a:pt x="1333500" y="1034986"/>
                      <a:pt x="1034985" y="1333500"/>
                      <a:pt x="666750" y="1333500"/>
                    </a:cubicBezTo>
                    <a:cubicBezTo>
                      <a:pt x="298514" y="1333500"/>
                      <a:pt x="0" y="1034986"/>
                      <a:pt x="0" y="666750"/>
                    </a:cubicBezTo>
                    <a:cubicBezTo>
                      <a:pt x="0" y="298514"/>
                      <a:pt x="298514" y="0"/>
                      <a:pt x="666750" y="0"/>
                    </a:cubicBezTo>
                    <a:cubicBezTo>
                      <a:pt x="1034985" y="0"/>
                      <a:pt x="1333500" y="298514"/>
                      <a:pt x="1333500" y="66675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8F1FF"/>
                  </a:gs>
                  <a:gs pos="50000">
                    <a:srgbClr val="F3F8FF"/>
                  </a:gs>
                  <a:gs pos="100000">
                    <a:srgbClr val="FFFFFF"/>
                  </a:gs>
                </a:gsLst>
                <a:lin ang="5400000" scaled="1"/>
              </a:gradFill>
              <a:ln w="6350" cap="flat">
                <a:solidFill>
                  <a:srgbClr val="2F7DF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12779" y="1005"/>
                <a:ext cx="2100" cy="2100"/>
              </a:xfrm>
              <a:custGeom>
                <a:avLst/>
                <a:gdLst>
                  <a:gd name="connsiteX0" fmla="*/ 1333500 w 1333500"/>
                  <a:gd name="connsiteY0" fmla="*/ 666750 h 1333500"/>
                  <a:gd name="connsiteX1" fmla="*/ 666750 w 1333500"/>
                  <a:gd name="connsiteY1" fmla="*/ 1333500 h 1333500"/>
                  <a:gd name="connsiteX2" fmla="*/ 0 w 1333500"/>
                  <a:gd name="connsiteY2" fmla="*/ 666750 h 1333500"/>
                  <a:gd name="connsiteX3" fmla="*/ 666750 w 1333500"/>
                  <a:gd name="connsiteY3" fmla="*/ 0 h 1333500"/>
                  <a:gd name="connsiteX4" fmla="*/ 1333500 w 1333500"/>
                  <a:gd name="connsiteY4" fmla="*/ 666750 h 133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0" h="1333500">
                    <a:moveTo>
                      <a:pt x="1333500" y="666750"/>
                    </a:moveTo>
                    <a:cubicBezTo>
                      <a:pt x="1333500" y="1034986"/>
                      <a:pt x="1034985" y="1333500"/>
                      <a:pt x="666750" y="1333500"/>
                    </a:cubicBezTo>
                    <a:cubicBezTo>
                      <a:pt x="298514" y="1333500"/>
                      <a:pt x="0" y="1034986"/>
                      <a:pt x="0" y="666750"/>
                    </a:cubicBezTo>
                    <a:cubicBezTo>
                      <a:pt x="0" y="298514"/>
                      <a:pt x="298514" y="0"/>
                      <a:pt x="666750" y="0"/>
                    </a:cubicBezTo>
                    <a:cubicBezTo>
                      <a:pt x="1034985" y="0"/>
                      <a:pt x="1333500" y="298514"/>
                      <a:pt x="1333500" y="66675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8F1FF"/>
                  </a:gs>
                  <a:gs pos="50000">
                    <a:srgbClr val="F3F8FF"/>
                  </a:gs>
                  <a:gs pos="100000">
                    <a:srgbClr val="FFFFFF"/>
                  </a:gs>
                </a:gsLst>
                <a:lin ang="5400000" scaled="1"/>
              </a:gradFill>
              <a:ln w="6350" cap="flat">
                <a:solidFill>
                  <a:srgbClr val="2F7DF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任意多边形: 形状 39"/>
              <p:cNvSpPr/>
              <p:nvPr/>
            </p:nvSpPr>
            <p:spPr>
              <a:xfrm>
                <a:off x="15111" y="3185"/>
                <a:ext cx="547" cy="1713"/>
              </a:xfrm>
              <a:custGeom>
                <a:avLst/>
                <a:gdLst>
                  <a:gd name="connsiteX0" fmla="*/ 111694 w 347160"/>
                  <a:gd name="connsiteY0" fmla="*/ 0 h 1087818"/>
                  <a:gd name="connsiteX1" fmla="*/ 75118 w 347160"/>
                  <a:gd name="connsiteY1" fmla="*/ 20301 h 1087818"/>
                  <a:gd name="connsiteX2" fmla="*/ 18413 w 347160"/>
                  <a:gd name="connsiteY2" fmla="*/ 218891 h 1087818"/>
                  <a:gd name="connsiteX3" fmla="*/ 329563 w 347160"/>
                  <a:gd name="connsiteY3" fmla="*/ 779151 h 1087818"/>
                  <a:gd name="connsiteX4" fmla="*/ 275270 w 347160"/>
                  <a:gd name="connsiteY4" fmla="*/ 969112 h 1087818"/>
                  <a:gd name="connsiteX5" fmla="*/ 61530 w 347160"/>
                  <a:gd name="connsiteY5" fmla="*/ 1087819 h 108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7160" h="1087818">
                    <a:moveTo>
                      <a:pt x="111694" y="0"/>
                    </a:moveTo>
                    <a:lnTo>
                      <a:pt x="75118" y="20301"/>
                    </a:lnTo>
                    <a:cubicBezTo>
                      <a:pt x="4633" y="59461"/>
                      <a:pt x="-20767" y="148374"/>
                      <a:pt x="18413" y="218891"/>
                    </a:cubicBezTo>
                    <a:lnTo>
                      <a:pt x="329563" y="779151"/>
                    </a:lnTo>
                    <a:cubicBezTo>
                      <a:pt x="367028" y="846601"/>
                      <a:pt x="342707" y="931646"/>
                      <a:pt x="275270" y="969112"/>
                    </a:cubicBezTo>
                    <a:lnTo>
                      <a:pt x="61530" y="1087819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任意多边形: 形状 40"/>
              <p:cNvSpPr/>
              <p:nvPr/>
            </p:nvSpPr>
            <p:spPr>
              <a:xfrm>
                <a:off x="15208" y="4684"/>
                <a:ext cx="1463" cy="1055"/>
              </a:xfrm>
              <a:custGeom>
                <a:avLst/>
                <a:gdLst>
                  <a:gd name="connsiteX0" fmla="*/ 929132 w 929131"/>
                  <a:gd name="connsiteY0" fmla="*/ 630971 h 669683"/>
                  <a:gd name="connsiteX1" fmla="*/ 892556 w 929131"/>
                  <a:gd name="connsiteY1" fmla="*/ 651285 h 669683"/>
                  <a:gd name="connsiteX2" fmla="*/ 693991 w 929131"/>
                  <a:gd name="connsiteY2" fmla="*/ 594522 h 669683"/>
                  <a:gd name="connsiteX3" fmla="*/ 403669 w 929131"/>
                  <a:gd name="connsiteY3" fmla="*/ 71898 h 669683"/>
                  <a:gd name="connsiteX4" fmla="*/ 213740 w 929131"/>
                  <a:gd name="connsiteY4" fmla="*/ 17599 h 669683"/>
                  <a:gd name="connsiteX5" fmla="*/ 0 w 929131"/>
                  <a:gd name="connsiteY5" fmla="*/ 136306 h 669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29131" h="669683">
                    <a:moveTo>
                      <a:pt x="929132" y="630971"/>
                    </a:moveTo>
                    <a:lnTo>
                      <a:pt x="892556" y="651285"/>
                    </a:lnTo>
                    <a:cubicBezTo>
                      <a:pt x="822071" y="690452"/>
                      <a:pt x="733107" y="665033"/>
                      <a:pt x="693991" y="594522"/>
                    </a:cubicBezTo>
                    <a:lnTo>
                      <a:pt x="403669" y="71898"/>
                    </a:lnTo>
                    <a:cubicBezTo>
                      <a:pt x="366204" y="4448"/>
                      <a:pt x="281177" y="-19866"/>
                      <a:pt x="213740" y="17599"/>
                    </a:cubicBezTo>
                    <a:lnTo>
                      <a:pt x="0" y="136306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任意多边形: 形状 41"/>
              <p:cNvSpPr/>
              <p:nvPr/>
            </p:nvSpPr>
            <p:spPr>
              <a:xfrm>
                <a:off x="15208" y="3749"/>
                <a:ext cx="450" cy="1150"/>
              </a:xfrm>
              <a:custGeom>
                <a:avLst/>
                <a:gdLst>
                  <a:gd name="connsiteX0" fmla="*/ 250571 w 285631"/>
                  <a:gd name="connsiteY0" fmla="*/ 0 h 729976"/>
                  <a:gd name="connsiteX1" fmla="*/ 212725 w 285631"/>
                  <a:gd name="connsiteY1" fmla="*/ 20993 h 729976"/>
                  <a:gd name="connsiteX2" fmla="*/ 156019 w 285631"/>
                  <a:gd name="connsiteY2" fmla="*/ 219589 h 729976"/>
                  <a:gd name="connsiteX3" fmla="*/ 268033 w 285631"/>
                  <a:gd name="connsiteY3" fmla="*/ 421316 h 729976"/>
                  <a:gd name="connsiteX4" fmla="*/ 213740 w 285631"/>
                  <a:gd name="connsiteY4" fmla="*/ 611270 h 729976"/>
                  <a:gd name="connsiteX5" fmla="*/ 0 w 285631"/>
                  <a:gd name="connsiteY5" fmla="*/ 729977 h 729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631" h="729976">
                    <a:moveTo>
                      <a:pt x="250571" y="0"/>
                    </a:moveTo>
                    <a:lnTo>
                      <a:pt x="212725" y="20993"/>
                    </a:lnTo>
                    <a:cubicBezTo>
                      <a:pt x="142239" y="60160"/>
                      <a:pt x="116839" y="149073"/>
                      <a:pt x="156019" y="219589"/>
                    </a:cubicBezTo>
                    <a:lnTo>
                      <a:pt x="268033" y="421316"/>
                    </a:lnTo>
                    <a:cubicBezTo>
                      <a:pt x="305498" y="488766"/>
                      <a:pt x="281177" y="573811"/>
                      <a:pt x="213740" y="611270"/>
                    </a:cubicBezTo>
                    <a:lnTo>
                      <a:pt x="0" y="729977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15208" y="4683"/>
                <a:ext cx="1162" cy="512"/>
              </a:xfrm>
              <a:custGeom>
                <a:avLst/>
                <a:gdLst>
                  <a:gd name="connsiteX0" fmla="*/ 737997 w 737996"/>
                  <a:gd name="connsiteY0" fmla="*/ 286360 h 325189"/>
                  <a:gd name="connsiteX1" fmla="*/ 701230 w 737996"/>
                  <a:gd name="connsiteY1" fmla="*/ 306795 h 325189"/>
                  <a:gd name="connsiteX2" fmla="*/ 502665 w 737996"/>
                  <a:gd name="connsiteY2" fmla="*/ 250025 h 325189"/>
                  <a:gd name="connsiteX3" fmla="*/ 403733 w 737996"/>
                  <a:gd name="connsiteY3" fmla="*/ 71895 h 325189"/>
                  <a:gd name="connsiteX4" fmla="*/ 213740 w 737996"/>
                  <a:gd name="connsiteY4" fmla="*/ 17596 h 325189"/>
                  <a:gd name="connsiteX5" fmla="*/ 0 w 737996"/>
                  <a:gd name="connsiteY5" fmla="*/ 136303 h 32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7996" h="325189">
                    <a:moveTo>
                      <a:pt x="737997" y="286360"/>
                    </a:moveTo>
                    <a:lnTo>
                      <a:pt x="701230" y="306795"/>
                    </a:lnTo>
                    <a:cubicBezTo>
                      <a:pt x="630745" y="345955"/>
                      <a:pt x="541782" y="320542"/>
                      <a:pt x="502665" y="250025"/>
                    </a:cubicBezTo>
                    <a:lnTo>
                      <a:pt x="403733" y="71895"/>
                    </a:lnTo>
                    <a:cubicBezTo>
                      <a:pt x="366268" y="4445"/>
                      <a:pt x="281177" y="-19862"/>
                      <a:pt x="213740" y="17596"/>
                    </a:cubicBezTo>
                    <a:lnTo>
                      <a:pt x="0" y="136303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3808" y="7282"/>
                <a:ext cx="1452" cy="925"/>
              </a:xfrm>
              <a:custGeom>
                <a:avLst/>
                <a:gdLst>
                  <a:gd name="connsiteX0" fmla="*/ 921086 w 921805"/>
                  <a:gd name="connsiteY0" fmla="*/ 587343 h 587343"/>
                  <a:gd name="connsiteX1" fmla="*/ 921785 w 921805"/>
                  <a:gd name="connsiteY1" fmla="*/ 545541 h 587343"/>
                  <a:gd name="connsiteX2" fmla="*/ 778211 w 921805"/>
                  <a:gd name="connsiteY2" fmla="*/ 397085 h 587343"/>
                  <a:gd name="connsiteX3" fmla="*/ 137433 w 921805"/>
                  <a:gd name="connsiteY3" fmla="*/ 386442 h 587343"/>
                  <a:gd name="connsiteX4" fmla="*/ 19 w 921805"/>
                  <a:gd name="connsiteY4" fmla="*/ 244443 h 587343"/>
                  <a:gd name="connsiteX5" fmla="*/ 4083 w 921805"/>
                  <a:gd name="connsiteY5" fmla="*/ 0 h 587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21805" h="587343">
                    <a:moveTo>
                      <a:pt x="921086" y="587343"/>
                    </a:moveTo>
                    <a:lnTo>
                      <a:pt x="921785" y="545541"/>
                    </a:lnTo>
                    <a:cubicBezTo>
                      <a:pt x="923119" y="464890"/>
                      <a:pt x="858857" y="398425"/>
                      <a:pt x="778211" y="397085"/>
                    </a:cubicBezTo>
                    <a:lnTo>
                      <a:pt x="137433" y="386442"/>
                    </a:lnTo>
                    <a:cubicBezTo>
                      <a:pt x="60281" y="385159"/>
                      <a:pt x="-1251" y="321583"/>
                      <a:pt x="19" y="244443"/>
                    </a:cubicBezTo>
                    <a:lnTo>
                      <a:pt x="4083" y="0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2408" y="7282"/>
                <a:ext cx="1406" cy="878"/>
              </a:xfrm>
              <a:custGeom>
                <a:avLst/>
                <a:gdLst>
                  <a:gd name="connsiteX0" fmla="*/ 0 w 892936"/>
                  <a:gd name="connsiteY0" fmla="*/ 557308 h 557307"/>
                  <a:gd name="connsiteX1" fmla="*/ 698 w 892936"/>
                  <a:gd name="connsiteY1" fmla="*/ 515474 h 557307"/>
                  <a:gd name="connsiteX2" fmla="*/ 149161 w 892936"/>
                  <a:gd name="connsiteY2" fmla="*/ 371869 h 557307"/>
                  <a:gd name="connsiteX3" fmla="*/ 746887 w 892936"/>
                  <a:gd name="connsiteY3" fmla="*/ 381800 h 557307"/>
                  <a:gd name="connsiteX4" fmla="*/ 888873 w 892936"/>
                  <a:gd name="connsiteY4" fmla="*/ 244437 h 557307"/>
                  <a:gd name="connsiteX5" fmla="*/ 892937 w 892936"/>
                  <a:gd name="connsiteY5" fmla="*/ 0 h 557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2936" h="557307">
                    <a:moveTo>
                      <a:pt x="0" y="557308"/>
                    </a:moveTo>
                    <a:lnTo>
                      <a:pt x="698" y="515474"/>
                    </a:lnTo>
                    <a:cubicBezTo>
                      <a:pt x="2032" y="434823"/>
                      <a:pt x="68516" y="370529"/>
                      <a:pt x="149161" y="371869"/>
                    </a:cubicBezTo>
                    <a:lnTo>
                      <a:pt x="746887" y="381800"/>
                    </a:lnTo>
                    <a:cubicBezTo>
                      <a:pt x="824039" y="383083"/>
                      <a:pt x="887602" y="321583"/>
                      <a:pt x="888873" y="244437"/>
                    </a:cubicBezTo>
                    <a:lnTo>
                      <a:pt x="892937" y="0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任意多边形: 形状 55"/>
              <p:cNvSpPr/>
              <p:nvPr/>
            </p:nvSpPr>
            <p:spPr>
              <a:xfrm>
                <a:off x="13808" y="7282"/>
                <a:ext cx="806" cy="916"/>
              </a:xfrm>
              <a:custGeom>
                <a:avLst/>
                <a:gdLst>
                  <a:gd name="connsiteX0" fmla="*/ 510942 w 511724"/>
                  <a:gd name="connsiteY0" fmla="*/ 581971 h 581971"/>
                  <a:gd name="connsiteX1" fmla="*/ 511704 w 511724"/>
                  <a:gd name="connsiteY1" fmla="*/ 538734 h 581971"/>
                  <a:gd name="connsiteX2" fmla="*/ 368067 w 511724"/>
                  <a:gd name="connsiteY2" fmla="*/ 390277 h 581971"/>
                  <a:gd name="connsiteX3" fmla="*/ 137372 w 511724"/>
                  <a:gd name="connsiteY3" fmla="*/ 386442 h 581971"/>
                  <a:gd name="connsiteX4" fmla="*/ 21 w 511724"/>
                  <a:gd name="connsiteY4" fmla="*/ 244443 h 581971"/>
                  <a:gd name="connsiteX5" fmla="*/ 4022 w 511724"/>
                  <a:gd name="connsiteY5" fmla="*/ 0 h 58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1724" h="581971">
                    <a:moveTo>
                      <a:pt x="510942" y="581971"/>
                    </a:moveTo>
                    <a:lnTo>
                      <a:pt x="511704" y="538734"/>
                    </a:lnTo>
                    <a:cubicBezTo>
                      <a:pt x="513037" y="458083"/>
                      <a:pt x="448712" y="391617"/>
                      <a:pt x="368067" y="390277"/>
                    </a:cubicBezTo>
                    <a:lnTo>
                      <a:pt x="137372" y="386442"/>
                    </a:lnTo>
                    <a:cubicBezTo>
                      <a:pt x="60219" y="385166"/>
                      <a:pt x="-1313" y="321590"/>
                      <a:pt x="21" y="244443"/>
                    </a:cubicBezTo>
                    <a:lnTo>
                      <a:pt x="4022" y="0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任意多边形: 形状 56"/>
              <p:cNvSpPr/>
              <p:nvPr/>
            </p:nvSpPr>
            <p:spPr>
              <a:xfrm>
                <a:off x="13028" y="7282"/>
                <a:ext cx="786" cy="888"/>
              </a:xfrm>
              <a:custGeom>
                <a:avLst/>
                <a:gdLst>
                  <a:gd name="connsiteX0" fmla="*/ 0 w 498919"/>
                  <a:gd name="connsiteY0" fmla="*/ 564096 h 564095"/>
                  <a:gd name="connsiteX1" fmla="*/ 698 w 498919"/>
                  <a:gd name="connsiteY1" fmla="*/ 522021 h 564095"/>
                  <a:gd name="connsiteX2" fmla="*/ 149161 w 498919"/>
                  <a:gd name="connsiteY2" fmla="*/ 378416 h 564095"/>
                  <a:gd name="connsiteX3" fmla="*/ 352870 w 498919"/>
                  <a:gd name="connsiteY3" fmla="*/ 381800 h 564095"/>
                  <a:gd name="connsiteX4" fmla="*/ 494919 w 498919"/>
                  <a:gd name="connsiteY4" fmla="*/ 244443 h 564095"/>
                  <a:gd name="connsiteX5" fmla="*/ 498920 w 498919"/>
                  <a:gd name="connsiteY5" fmla="*/ 0 h 5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8919" h="564095">
                    <a:moveTo>
                      <a:pt x="0" y="564096"/>
                    </a:moveTo>
                    <a:lnTo>
                      <a:pt x="698" y="522021"/>
                    </a:lnTo>
                    <a:cubicBezTo>
                      <a:pt x="2032" y="441370"/>
                      <a:pt x="68517" y="377076"/>
                      <a:pt x="149161" y="378416"/>
                    </a:cubicBezTo>
                    <a:lnTo>
                      <a:pt x="352870" y="381800"/>
                    </a:lnTo>
                    <a:cubicBezTo>
                      <a:pt x="430022" y="383083"/>
                      <a:pt x="493585" y="321583"/>
                      <a:pt x="494919" y="244443"/>
                    </a:cubicBezTo>
                    <a:lnTo>
                      <a:pt x="498920" y="0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11957" y="3185"/>
                <a:ext cx="547" cy="1713"/>
              </a:xfrm>
              <a:custGeom>
                <a:avLst/>
                <a:gdLst>
                  <a:gd name="connsiteX0" fmla="*/ 235467 w 347158"/>
                  <a:gd name="connsiteY0" fmla="*/ 0 h 1087818"/>
                  <a:gd name="connsiteX1" fmla="*/ 271979 w 347158"/>
                  <a:gd name="connsiteY1" fmla="*/ 20301 h 1087818"/>
                  <a:gd name="connsiteX2" fmla="*/ 328748 w 347158"/>
                  <a:gd name="connsiteY2" fmla="*/ 218891 h 1087818"/>
                  <a:gd name="connsiteX3" fmla="*/ 17598 w 347158"/>
                  <a:gd name="connsiteY3" fmla="*/ 779158 h 1087818"/>
                  <a:gd name="connsiteX4" fmla="*/ 71890 w 347158"/>
                  <a:gd name="connsiteY4" fmla="*/ 969112 h 1087818"/>
                  <a:gd name="connsiteX5" fmla="*/ 285632 w 347158"/>
                  <a:gd name="connsiteY5" fmla="*/ 1087819 h 108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7158" h="1087818">
                    <a:moveTo>
                      <a:pt x="235467" y="0"/>
                    </a:moveTo>
                    <a:lnTo>
                      <a:pt x="271979" y="20301"/>
                    </a:lnTo>
                    <a:cubicBezTo>
                      <a:pt x="342527" y="59468"/>
                      <a:pt x="367927" y="148380"/>
                      <a:pt x="328748" y="218891"/>
                    </a:cubicBezTo>
                    <a:lnTo>
                      <a:pt x="17598" y="779158"/>
                    </a:lnTo>
                    <a:cubicBezTo>
                      <a:pt x="-19867" y="846607"/>
                      <a:pt x="4453" y="931653"/>
                      <a:pt x="71890" y="969112"/>
                    </a:cubicBezTo>
                    <a:lnTo>
                      <a:pt x="285632" y="1087819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任意多边形: 形状 68"/>
              <p:cNvSpPr/>
              <p:nvPr/>
            </p:nvSpPr>
            <p:spPr>
              <a:xfrm>
                <a:off x="10943" y="4684"/>
                <a:ext cx="1463" cy="1055"/>
              </a:xfrm>
              <a:custGeom>
                <a:avLst/>
                <a:gdLst>
                  <a:gd name="connsiteX0" fmla="*/ 0 w 929132"/>
                  <a:gd name="connsiteY0" fmla="*/ 630966 h 669679"/>
                  <a:gd name="connsiteX1" fmla="*/ 36576 w 929132"/>
                  <a:gd name="connsiteY1" fmla="*/ 651280 h 669679"/>
                  <a:gd name="connsiteX2" fmla="*/ 235141 w 929132"/>
                  <a:gd name="connsiteY2" fmla="*/ 594517 h 669679"/>
                  <a:gd name="connsiteX3" fmla="*/ 525399 w 929132"/>
                  <a:gd name="connsiteY3" fmla="*/ 71893 h 669679"/>
                  <a:gd name="connsiteX4" fmla="*/ 715391 w 929132"/>
                  <a:gd name="connsiteY4" fmla="*/ 17601 h 669679"/>
                  <a:gd name="connsiteX5" fmla="*/ 929132 w 929132"/>
                  <a:gd name="connsiteY5" fmla="*/ 136301 h 669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29132" h="669679">
                    <a:moveTo>
                      <a:pt x="0" y="630966"/>
                    </a:moveTo>
                    <a:lnTo>
                      <a:pt x="36576" y="651280"/>
                    </a:lnTo>
                    <a:cubicBezTo>
                      <a:pt x="107061" y="690447"/>
                      <a:pt x="195961" y="665034"/>
                      <a:pt x="235141" y="594517"/>
                    </a:cubicBezTo>
                    <a:lnTo>
                      <a:pt x="525399" y="71893"/>
                    </a:lnTo>
                    <a:cubicBezTo>
                      <a:pt x="562864" y="4443"/>
                      <a:pt x="647954" y="-19864"/>
                      <a:pt x="715391" y="17601"/>
                    </a:cubicBezTo>
                    <a:lnTo>
                      <a:pt x="929132" y="136301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任意多边形: 形状 69"/>
              <p:cNvSpPr/>
              <p:nvPr/>
            </p:nvSpPr>
            <p:spPr>
              <a:xfrm>
                <a:off x="11957" y="3749"/>
                <a:ext cx="450" cy="1150"/>
              </a:xfrm>
              <a:custGeom>
                <a:avLst/>
                <a:gdLst>
                  <a:gd name="connsiteX0" fmla="*/ 35060 w 285631"/>
                  <a:gd name="connsiteY0" fmla="*/ 0 h 729976"/>
                  <a:gd name="connsiteX1" fmla="*/ 72843 w 285631"/>
                  <a:gd name="connsiteY1" fmla="*/ 20999 h 729976"/>
                  <a:gd name="connsiteX2" fmla="*/ 129612 w 285631"/>
                  <a:gd name="connsiteY2" fmla="*/ 219589 h 729976"/>
                  <a:gd name="connsiteX3" fmla="*/ 17598 w 285631"/>
                  <a:gd name="connsiteY3" fmla="*/ 421316 h 729976"/>
                  <a:gd name="connsiteX4" fmla="*/ 71890 w 285631"/>
                  <a:gd name="connsiteY4" fmla="*/ 611276 h 729976"/>
                  <a:gd name="connsiteX5" fmla="*/ 285632 w 285631"/>
                  <a:gd name="connsiteY5" fmla="*/ 729977 h 729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631" h="729976">
                    <a:moveTo>
                      <a:pt x="35060" y="0"/>
                    </a:moveTo>
                    <a:lnTo>
                      <a:pt x="72843" y="20999"/>
                    </a:lnTo>
                    <a:cubicBezTo>
                      <a:pt x="143392" y="60166"/>
                      <a:pt x="168792" y="149079"/>
                      <a:pt x="129612" y="219589"/>
                    </a:cubicBezTo>
                    <a:lnTo>
                      <a:pt x="17598" y="421316"/>
                    </a:lnTo>
                    <a:cubicBezTo>
                      <a:pt x="-19867" y="488766"/>
                      <a:pt x="4453" y="573812"/>
                      <a:pt x="71890" y="611276"/>
                    </a:cubicBezTo>
                    <a:lnTo>
                      <a:pt x="285632" y="729977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任意多边形: 形状 70"/>
              <p:cNvSpPr/>
              <p:nvPr/>
            </p:nvSpPr>
            <p:spPr>
              <a:xfrm>
                <a:off x="11244" y="4683"/>
                <a:ext cx="1162" cy="512"/>
              </a:xfrm>
              <a:custGeom>
                <a:avLst/>
                <a:gdLst>
                  <a:gd name="connsiteX0" fmla="*/ 0 w 737996"/>
                  <a:gd name="connsiteY0" fmla="*/ 286364 h 325190"/>
                  <a:gd name="connsiteX1" fmla="*/ 36830 w 737996"/>
                  <a:gd name="connsiteY1" fmla="*/ 306792 h 325190"/>
                  <a:gd name="connsiteX2" fmla="*/ 235394 w 737996"/>
                  <a:gd name="connsiteY2" fmla="*/ 250030 h 325190"/>
                  <a:gd name="connsiteX3" fmla="*/ 334327 w 737996"/>
                  <a:gd name="connsiteY3" fmla="*/ 71893 h 325190"/>
                  <a:gd name="connsiteX4" fmla="*/ 524319 w 737996"/>
                  <a:gd name="connsiteY4" fmla="*/ 17601 h 325190"/>
                  <a:gd name="connsiteX5" fmla="*/ 737997 w 737996"/>
                  <a:gd name="connsiteY5" fmla="*/ 136301 h 325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7996" h="325190">
                    <a:moveTo>
                      <a:pt x="0" y="286364"/>
                    </a:moveTo>
                    <a:lnTo>
                      <a:pt x="36830" y="306792"/>
                    </a:lnTo>
                    <a:cubicBezTo>
                      <a:pt x="107314" y="345959"/>
                      <a:pt x="196214" y="320540"/>
                      <a:pt x="235394" y="250030"/>
                    </a:cubicBezTo>
                    <a:lnTo>
                      <a:pt x="334327" y="71893"/>
                    </a:lnTo>
                    <a:cubicBezTo>
                      <a:pt x="371792" y="4443"/>
                      <a:pt x="456819" y="-19864"/>
                      <a:pt x="524319" y="17601"/>
                    </a:cubicBezTo>
                    <a:lnTo>
                      <a:pt x="737997" y="136301"/>
                    </a:lnTo>
                  </a:path>
                </a:pathLst>
              </a:custGeom>
              <a:noFill/>
              <a:ln w="6350" cap="flat">
                <a:solidFill>
                  <a:srgbClr val="75AFFF"/>
                </a:solidFill>
                <a:custDash>
                  <a:ds d="300000" sp="30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任意多边形: 形状 81"/>
              <p:cNvSpPr/>
              <p:nvPr/>
            </p:nvSpPr>
            <p:spPr>
              <a:xfrm>
                <a:off x="12280" y="4759"/>
                <a:ext cx="230" cy="299"/>
              </a:xfrm>
              <a:custGeom>
                <a:avLst/>
                <a:gdLst>
                  <a:gd name="connsiteX0" fmla="*/ 0 w 145859"/>
                  <a:gd name="connsiteY0" fmla="*/ 42437 h 190182"/>
                  <a:gd name="connsiteX1" fmla="*/ 133731 w 145859"/>
                  <a:gd name="connsiteY1" fmla="*/ 10058 h 190182"/>
                  <a:gd name="connsiteX2" fmla="*/ 145859 w 145859"/>
                  <a:gd name="connsiteY2" fmla="*/ 0 h 190182"/>
                  <a:gd name="connsiteX3" fmla="*/ 35306 w 145859"/>
                  <a:gd name="connsiteY3" fmla="*/ 190183 h 190182"/>
                  <a:gd name="connsiteX4" fmla="*/ 38100 w 145859"/>
                  <a:gd name="connsiteY4" fmla="*/ 174689 h 190182"/>
                  <a:gd name="connsiteX5" fmla="*/ 0 w 145859"/>
                  <a:gd name="connsiteY5" fmla="*/ 42437 h 190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5859" h="190182">
                    <a:moveTo>
                      <a:pt x="0" y="42437"/>
                    </a:moveTo>
                    <a:cubicBezTo>
                      <a:pt x="47181" y="52915"/>
                      <a:pt x="96583" y="40958"/>
                      <a:pt x="133731" y="10058"/>
                    </a:cubicBezTo>
                    <a:lnTo>
                      <a:pt x="145859" y="0"/>
                    </a:lnTo>
                    <a:lnTo>
                      <a:pt x="35306" y="190183"/>
                    </a:lnTo>
                    <a:lnTo>
                      <a:pt x="38100" y="174689"/>
                    </a:lnTo>
                    <a:cubicBezTo>
                      <a:pt x="46545" y="127089"/>
                      <a:pt x="32448" y="78264"/>
                      <a:pt x="0" y="42437"/>
                    </a:cubicBezTo>
                    <a:close/>
                  </a:path>
                </a:pathLst>
              </a:custGeom>
              <a:solidFill>
                <a:srgbClr val="055CF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任意多边形: 形状 82"/>
              <p:cNvSpPr/>
              <p:nvPr/>
            </p:nvSpPr>
            <p:spPr>
              <a:xfrm>
                <a:off x="15124" y="4753"/>
                <a:ext cx="230" cy="299"/>
              </a:xfrm>
              <a:custGeom>
                <a:avLst/>
                <a:gdLst>
                  <a:gd name="connsiteX0" fmla="*/ 145859 w 145859"/>
                  <a:gd name="connsiteY0" fmla="*/ 42437 h 190182"/>
                  <a:gd name="connsiteX1" fmla="*/ 12129 w 145859"/>
                  <a:gd name="connsiteY1" fmla="*/ 10058 h 190182"/>
                  <a:gd name="connsiteX2" fmla="*/ 0 w 145859"/>
                  <a:gd name="connsiteY2" fmla="*/ 0 h 190182"/>
                  <a:gd name="connsiteX3" fmla="*/ 110554 w 145859"/>
                  <a:gd name="connsiteY3" fmla="*/ 190183 h 190182"/>
                  <a:gd name="connsiteX4" fmla="*/ 107823 w 145859"/>
                  <a:gd name="connsiteY4" fmla="*/ 174689 h 190182"/>
                  <a:gd name="connsiteX5" fmla="*/ 145859 w 145859"/>
                  <a:gd name="connsiteY5" fmla="*/ 42437 h 190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5859" h="190182">
                    <a:moveTo>
                      <a:pt x="145859" y="42437"/>
                    </a:moveTo>
                    <a:cubicBezTo>
                      <a:pt x="98679" y="52915"/>
                      <a:pt x="49340" y="40958"/>
                      <a:pt x="12129" y="10058"/>
                    </a:cubicBezTo>
                    <a:lnTo>
                      <a:pt x="0" y="0"/>
                    </a:lnTo>
                    <a:lnTo>
                      <a:pt x="110554" y="190183"/>
                    </a:lnTo>
                    <a:lnTo>
                      <a:pt x="107823" y="174689"/>
                    </a:lnTo>
                    <a:cubicBezTo>
                      <a:pt x="99378" y="127089"/>
                      <a:pt x="113411" y="78264"/>
                      <a:pt x="145859" y="42437"/>
                    </a:cubicBezTo>
                    <a:close/>
                  </a:path>
                </a:pathLst>
              </a:custGeom>
              <a:solidFill>
                <a:srgbClr val="055CF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任意多边形: 形状 83"/>
              <p:cNvSpPr/>
              <p:nvPr/>
            </p:nvSpPr>
            <p:spPr>
              <a:xfrm>
                <a:off x="13637" y="7282"/>
                <a:ext cx="346" cy="165"/>
              </a:xfrm>
              <a:custGeom>
                <a:avLst/>
                <a:gdLst>
                  <a:gd name="connsiteX0" fmla="*/ 109982 w 219964"/>
                  <a:gd name="connsiteY0" fmla="*/ 104775 h 104775"/>
                  <a:gd name="connsiteX1" fmla="*/ 205232 w 219964"/>
                  <a:gd name="connsiteY1" fmla="*/ 5404 h 104775"/>
                  <a:gd name="connsiteX2" fmla="*/ 219964 w 219964"/>
                  <a:gd name="connsiteY2" fmla="*/ 0 h 104775"/>
                  <a:gd name="connsiteX3" fmla="*/ 0 w 219964"/>
                  <a:gd name="connsiteY3" fmla="*/ 0 h 104775"/>
                  <a:gd name="connsiteX4" fmla="*/ 14795 w 219964"/>
                  <a:gd name="connsiteY4" fmla="*/ 5404 h 104775"/>
                  <a:gd name="connsiteX5" fmla="*/ 109982 w 219964"/>
                  <a:gd name="connsiteY5" fmla="*/ 104775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9964" h="104775">
                    <a:moveTo>
                      <a:pt x="109982" y="104775"/>
                    </a:moveTo>
                    <a:cubicBezTo>
                      <a:pt x="124651" y="58712"/>
                      <a:pt x="159830" y="22022"/>
                      <a:pt x="205232" y="5404"/>
                    </a:cubicBezTo>
                    <a:lnTo>
                      <a:pt x="219964" y="0"/>
                    </a:lnTo>
                    <a:lnTo>
                      <a:pt x="0" y="0"/>
                    </a:lnTo>
                    <a:lnTo>
                      <a:pt x="14795" y="5404"/>
                    </a:lnTo>
                    <a:cubicBezTo>
                      <a:pt x="60198" y="22022"/>
                      <a:pt x="95314" y="58712"/>
                      <a:pt x="109982" y="104775"/>
                    </a:cubicBezTo>
                    <a:close/>
                  </a:path>
                </a:pathLst>
              </a:custGeom>
              <a:solidFill>
                <a:srgbClr val="055CF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任意多边形: 形状 84"/>
              <p:cNvSpPr/>
              <p:nvPr/>
            </p:nvSpPr>
            <p:spPr>
              <a:xfrm>
                <a:off x="13371" y="1192"/>
                <a:ext cx="944" cy="944"/>
              </a:xfrm>
              <a:custGeom>
                <a:avLst/>
                <a:gdLst>
                  <a:gd name="connsiteX0" fmla="*/ 0 w 599279"/>
                  <a:gd name="connsiteY0" fmla="*/ 0 h 599279"/>
                  <a:gd name="connsiteX1" fmla="*/ 599280 w 599279"/>
                  <a:gd name="connsiteY1" fmla="*/ 0 h 599279"/>
                  <a:gd name="connsiteX2" fmla="*/ 599280 w 599279"/>
                  <a:gd name="connsiteY2" fmla="*/ 599279 h 599279"/>
                  <a:gd name="connsiteX3" fmla="*/ 0 w 599279"/>
                  <a:gd name="connsiteY3" fmla="*/ 599279 h 599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9279" h="599279">
                    <a:moveTo>
                      <a:pt x="0" y="0"/>
                    </a:moveTo>
                    <a:lnTo>
                      <a:pt x="599280" y="0"/>
                    </a:lnTo>
                    <a:lnTo>
                      <a:pt x="599280" y="599279"/>
                    </a:lnTo>
                    <a:lnTo>
                      <a:pt x="0" y="599279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任意多边形: 形状 85"/>
              <p:cNvSpPr/>
              <p:nvPr/>
            </p:nvSpPr>
            <p:spPr>
              <a:xfrm>
                <a:off x="10138" y="6519"/>
                <a:ext cx="992" cy="992"/>
              </a:xfrm>
              <a:custGeom>
                <a:avLst/>
                <a:gdLst>
                  <a:gd name="connsiteX0" fmla="*/ 0 w 629966"/>
                  <a:gd name="connsiteY0" fmla="*/ 0 h 629966"/>
                  <a:gd name="connsiteX1" fmla="*/ 629967 w 629966"/>
                  <a:gd name="connsiteY1" fmla="*/ 0 h 629966"/>
                  <a:gd name="connsiteX2" fmla="*/ 629967 w 629966"/>
                  <a:gd name="connsiteY2" fmla="*/ 629966 h 629966"/>
                  <a:gd name="connsiteX3" fmla="*/ 0 w 629966"/>
                  <a:gd name="connsiteY3" fmla="*/ 629966 h 629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9966" h="629966">
                    <a:moveTo>
                      <a:pt x="0" y="0"/>
                    </a:moveTo>
                    <a:lnTo>
                      <a:pt x="629967" y="0"/>
                    </a:lnTo>
                    <a:lnTo>
                      <a:pt x="629967" y="629966"/>
                    </a:lnTo>
                    <a:lnTo>
                      <a:pt x="0" y="629966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16500" y="6517"/>
                <a:ext cx="993" cy="993"/>
              </a:xfrm>
              <a:custGeom>
                <a:avLst/>
                <a:gdLst>
                  <a:gd name="connsiteX0" fmla="*/ 0 w 630802"/>
                  <a:gd name="connsiteY0" fmla="*/ 0 h 630802"/>
                  <a:gd name="connsiteX1" fmla="*/ 630802 w 630802"/>
                  <a:gd name="connsiteY1" fmla="*/ 0 h 630802"/>
                  <a:gd name="connsiteX2" fmla="*/ 630802 w 630802"/>
                  <a:gd name="connsiteY2" fmla="*/ 630802 h 630802"/>
                  <a:gd name="connsiteX3" fmla="*/ 0 w 630802"/>
                  <a:gd name="connsiteY3" fmla="*/ 630802 h 630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0802" h="630802">
                    <a:moveTo>
                      <a:pt x="0" y="0"/>
                    </a:moveTo>
                    <a:lnTo>
                      <a:pt x="630802" y="0"/>
                    </a:lnTo>
                    <a:lnTo>
                      <a:pt x="630802" y="630802"/>
                    </a:lnTo>
                    <a:lnTo>
                      <a:pt x="0" y="630802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337" y="1207"/>
                <a:ext cx="928" cy="928"/>
              </a:xfrm>
              <a:prstGeom prst="rect">
                <a:avLst/>
              </a:prstGeom>
            </p:spPr>
          </p:pic>
          <p:pic>
            <p:nvPicPr>
              <p:cNvPr id="97" name="图片 9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00" y="6534"/>
                <a:ext cx="976" cy="976"/>
              </a:xfrm>
              <a:prstGeom prst="rect">
                <a:avLst/>
              </a:prstGeom>
            </p:spPr>
          </p:pic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99" y="6533"/>
                <a:ext cx="986" cy="986"/>
              </a:xfrm>
              <a:prstGeom prst="rect">
                <a:avLst/>
              </a:prstGeom>
            </p:spPr>
          </p:pic>
          <p:sp>
            <p:nvSpPr>
              <p:cNvPr id="104" name="文本框 103"/>
              <p:cNvSpPr txBox="1"/>
              <p:nvPr/>
            </p:nvSpPr>
            <p:spPr>
              <a:xfrm>
                <a:off x="12909" y="2156"/>
                <a:ext cx="1841" cy="7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en-US"/>
                </a:defPPr>
                <a:lvl1pPr algn="ctr">
                  <a:defRPr sz="1000" spc="300">
                    <a:solidFill>
                      <a:srgbClr val="055CF9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B" panose="00020600040101010101" pitchFamily="18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思源黑体 Medium" panose="020B0600000000000000" charset="-122"/>
                    <a:ea typeface="思源黑体 Medium" panose="020B0600000000000000" charset="-122"/>
                    <a:cs typeface="思源黑体 Bold" panose="020B0800000000000000" charset="-122"/>
                    <a:sym typeface="+mn-ea"/>
                  </a:rPr>
                  <a:t>跨系统</a:t>
                </a:r>
                <a:endParaRPr lang="zh-CN" altLang="en-US" sz="1200">
                  <a:solidFill>
                    <a:schemeClr val="tx1"/>
                  </a:solidFill>
                  <a:latin typeface="思源黑体 Medium" panose="020B0600000000000000" charset="-122"/>
                  <a:ea typeface="思源黑体 Medium" panose="020B0600000000000000" charset="-122"/>
                  <a:cs typeface="思源黑体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思源黑体 Medium" panose="020B0600000000000000" charset="-122"/>
                    <a:ea typeface="思源黑体 Medium" panose="020B0600000000000000" charset="-122"/>
                    <a:cs typeface="思源黑体 Bold" panose="020B0800000000000000" charset="-122"/>
                    <a:sym typeface="+mn-ea"/>
                  </a:rPr>
                  <a:t>数据融合</a:t>
                </a:r>
                <a:endParaRPr lang="zh-CN" altLang="en-US" sz="1200">
                  <a:solidFill>
                    <a:schemeClr val="tx1"/>
                  </a:solidFill>
                  <a:latin typeface="思源黑体 Medium" panose="020B0600000000000000" charset="-122"/>
                  <a:ea typeface="思源黑体 Medium" panose="020B0600000000000000" charset="-122"/>
                  <a:cs typeface="思源黑体 Bold" panose="020B0800000000000000" charset="-122"/>
                  <a:sym typeface="+mn-ea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9755" y="7554"/>
                <a:ext cx="1756" cy="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000" spc="300">
                    <a:solidFill>
                      <a:srgbClr val="055CF9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B" panose="00020600040101010101" pitchFamily="18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思源黑体 Medium" panose="020B0600000000000000" charset="-122"/>
                    <a:ea typeface="思源黑体 Medium" panose="020B0600000000000000" charset="-122"/>
                    <a:cs typeface="思源黑体 Bold" panose="020B0800000000000000" charset="-122"/>
                    <a:sym typeface="+mn-ea"/>
                  </a:rPr>
                  <a:t>智能</a:t>
                </a:r>
                <a:endParaRPr lang="zh-CN" altLang="en-US" sz="1200">
                  <a:solidFill>
                    <a:schemeClr val="tx1"/>
                  </a:solidFill>
                  <a:latin typeface="思源黑体 Medium" panose="020B0600000000000000" charset="-122"/>
                  <a:ea typeface="思源黑体 Medium" panose="020B0600000000000000" charset="-122"/>
                  <a:cs typeface="思源黑体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思源黑体 Medium" panose="020B0600000000000000" charset="-122"/>
                    <a:ea typeface="思源黑体 Medium" panose="020B0600000000000000" charset="-122"/>
                    <a:cs typeface="思源黑体 Bold" panose="020B0800000000000000" charset="-122"/>
                    <a:sym typeface="+mn-ea"/>
                  </a:rPr>
                  <a:t>辅助决策</a:t>
                </a:r>
                <a:endParaRPr lang="zh-CN" altLang="en-US" sz="1200">
                  <a:solidFill>
                    <a:schemeClr val="tx1"/>
                  </a:solidFill>
                  <a:latin typeface="思源黑体 Medium" panose="020B0600000000000000" charset="-122"/>
                  <a:ea typeface="思源黑体 Medium" panose="020B0600000000000000" charset="-122"/>
                  <a:cs typeface="思源黑体 Bold" panose="020B0800000000000000" charset="-122"/>
                  <a:sym typeface="+mn-ea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16270" y="7534"/>
                <a:ext cx="1576" cy="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000" spc="300">
                    <a:solidFill>
                      <a:srgbClr val="055CF9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B" panose="00020600040101010101" pitchFamily="18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思源黑体 Medium" panose="020B0600000000000000" charset="-122"/>
                    <a:ea typeface="思源黑体 Medium" panose="020B0600000000000000" charset="-122"/>
                    <a:cs typeface="思源黑体 Bold" panose="020B0800000000000000" charset="-122"/>
                    <a:sym typeface="+mn-ea"/>
                  </a:rPr>
                  <a:t>自动化</a:t>
                </a:r>
                <a:endParaRPr lang="zh-CN" altLang="en-US" sz="1200">
                  <a:solidFill>
                    <a:schemeClr val="tx1"/>
                  </a:solidFill>
                  <a:latin typeface="思源黑体 Medium" panose="020B0600000000000000" charset="-122"/>
                  <a:ea typeface="思源黑体 Medium" panose="020B0600000000000000" charset="-122"/>
                  <a:cs typeface="思源黑体 Bold" panose="020B0800000000000000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思源黑体 Medium" panose="020B0600000000000000" charset="-122"/>
                    <a:ea typeface="思源黑体 Medium" panose="020B0600000000000000" charset="-122"/>
                    <a:cs typeface="思源黑体 Bold" panose="020B0800000000000000" charset="-122"/>
                    <a:sym typeface="+mn-ea"/>
                  </a:rPr>
                  <a:t>任务执行</a:t>
                </a:r>
                <a:endParaRPr lang="zh-CN" altLang="en-US" sz="1200">
                  <a:solidFill>
                    <a:schemeClr val="tx1"/>
                  </a:solidFill>
                  <a:latin typeface="思源黑体 Medium" panose="020B0600000000000000" charset="-122"/>
                  <a:ea typeface="思源黑体 Medium" panose="020B0600000000000000" charset="-122"/>
                  <a:cs typeface="思源黑体 Bold" panose="020B0800000000000000" charset="-122"/>
                  <a:sym typeface="+mn-ea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 rot="1800000">
                <a:off x="9592" y="5182"/>
                <a:ext cx="1535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r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运维提效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 rot="1800000">
                <a:off x="10186" y="4734"/>
                <a:ext cx="1201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r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结构化建议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 rot="1800000">
                <a:off x="10820" y="3291"/>
                <a:ext cx="1310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r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知识助手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16" name="文本框 115"/>
              <p:cNvSpPr txBox="1"/>
              <p:nvPr/>
            </p:nvSpPr>
            <p:spPr>
              <a:xfrm rot="1800000">
                <a:off x="11256" y="2783"/>
                <a:ext cx="1259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</a:rPr>
                  <a:t>故障定位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 rot="1800000">
                <a:off x="10577" y="4076"/>
                <a:ext cx="1437" cy="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000" dirty="0">
                    <a:solidFill>
                      <a:srgbClr val="2F7DFB"/>
                    </a:solidFill>
                    <a:latin typeface="思源黑体 Bold" panose="020B0800000000000000" charset="-122"/>
                    <a:ea typeface="思源黑体 Bold" panose="020B0800000000000000" charset="-122"/>
                    <a:cs typeface="思源黑体 Medium" panose="020B0600000000000000" charset="-122"/>
                  </a:rPr>
                  <a:t>逻辑推理</a:t>
                </a:r>
                <a:endParaRPr lang="zh-CN" altLang="en-US" sz="1000" dirty="0">
                  <a:solidFill>
                    <a:srgbClr val="2F7DFB"/>
                  </a:solidFill>
                  <a:latin typeface="思源黑体 Bold" panose="020B0800000000000000" charset="-122"/>
                  <a:ea typeface="思源黑体 Bold" panose="020B0800000000000000" charset="-122"/>
                  <a:cs typeface="思源黑体 Medium" panose="020B0600000000000000" charset="-122"/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 rot="19800000">
                <a:off x="16513" y="5232"/>
                <a:ext cx="1419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人工替代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24" name="文本框 123"/>
              <p:cNvSpPr txBox="1"/>
              <p:nvPr/>
            </p:nvSpPr>
            <p:spPr>
              <a:xfrm rot="19800000">
                <a:off x="16227" y="4755"/>
                <a:ext cx="1095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清洗归并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 rot="19800000">
                <a:off x="15463" y="3378"/>
                <a:ext cx="1123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自动抓取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30" name="文本框 129"/>
              <p:cNvSpPr txBox="1"/>
              <p:nvPr/>
            </p:nvSpPr>
            <p:spPr>
              <a:xfrm rot="19800000">
                <a:off x="15132" y="2777"/>
                <a:ext cx="1287" cy="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多源数据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 rot="19800000">
                <a:off x="15666" y="3955"/>
                <a:ext cx="1545" cy="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2F7DFB"/>
                    </a:solidFill>
                    <a:latin typeface="思源黑体 Bold" panose="020B0800000000000000" charset="-122"/>
                    <a:ea typeface="思源黑体 Bold" panose="020B0800000000000000" charset="-122"/>
                    <a:cs typeface="思源黑体 Medium" panose="020B0600000000000000" charset="-122"/>
                    <a:sym typeface="+mn-ea"/>
                  </a:rPr>
                  <a:t>数据融合</a:t>
                </a:r>
                <a:endParaRPr lang="zh-CN" altLang="en-US" sz="1000" dirty="0">
                  <a:solidFill>
                    <a:srgbClr val="2F7DFB"/>
                  </a:solidFill>
                  <a:latin typeface="思源黑体 Bold" panose="020B0800000000000000" charset="-122"/>
                  <a:ea typeface="思源黑体 Bold" panose="020B0800000000000000" charset="-122"/>
                  <a:cs typeface="思源黑体 Medium" panose="020B0600000000000000" charset="-122"/>
                  <a:sym typeface="+mn-ea"/>
                </a:endParaRPr>
              </a:p>
            </p:txBody>
          </p:sp>
          <p:sp>
            <p:nvSpPr>
              <p:cNvPr id="143" name="文本框 142"/>
              <p:cNvSpPr txBox="1"/>
              <p:nvPr/>
            </p:nvSpPr>
            <p:spPr>
              <a:xfrm>
                <a:off x="12224" y="8137"/>
                <a:ext cx="385" cy="8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700" dirty="0">
                    <a:solidFill>
                      <a:srgbClr val="2F7DFB"/>
                    </a:solidFill>
                    <a:latin typeface="思源黑体 Normal" panose="020B0400000000000000" charset="-122"/>
                    <a:ea typeface="思源黑体 Normal" panose="020B0400000000000000" charset="-122"/>
                    <a:cs typeface="思源黑体 Regular" panose="020B0500000000000000" charset="-122"/>
                    <a:sym typeface="+mn-ea"/>
                  </a:rPr>
                  <a:t>自动化执行</a:t>
                </a:r>
                <a:endPara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endParaRPr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13587" y="7963"/>
                <a:ext cx="446" cy="1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2F7DFB"/>
                    </a:solidFill>
                    <a:latin typeface="思源黑体 Bold" panose="020B0800000000000000" charset="-122"/>
                    <a:ea typeface="思源黑体 Bold" panose="020B0800000000000000" charset="-122"/>
                    <a:cs typeface="思源黑体 Medium" panose="020B0600000000000000" charset="-122"/>
                    <a:sym typeface="+mn-ea"/>
                  </a:rPr>
                  <a:t>任务执行</a:t>
                </a:r>
                <a:endParaRPr lang="zh-CN" altLang="en-US" sz="1000" dirty="0">
                  <a:solidFill>
                    <a:srgbClr val="2F7DFB"/>
                  </a:solidFill>
                  <a:latin typeface="思源黑体 Bold" panose="020B0800000000000000" charset="-122"/>
                  <a:ea typeface="思源黑体 Bold" panose="020B0800000000000000" charset="-122"/>
                  <a:cs typeface="思源黑体 Medium" panose="020B0600000000000000" charset="-122"/>
                  <a:sym typeface="+mn-ea"/>
                </a:endParaRPr>
              </a:p>
            </p:txBody>
          </p:sp>
          <p:sp>
            <p:nvSpPr>
              <p:cNvPr id="155" name="文本框 154"/>
              <p:cNvSpPr txBox="1"/>
              <p:nvPr/>
            </p:nvSpPr>
            <p:spPr>
              <a:xfrm flipH="1">
                <a:off x="12594" y="6549"/>
                <a:ext cx="2543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000" spc="300">
                    <a:solidFill>
                      <a:srgbClr val="055CF9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B" panose="00020600040101010101" pitchFamily="18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en-US" altLang="zh-CN" sz="1400" b="1">
                    <a:latin typeface="思源黑体 Regular" panose="020B0500000000000000" charset="-122"/>
                    <a:ea typeface="思源黑体 Regular" panose="020B0500000000000000" charset="-122"/>
                    <a:cs typeface="思源黑体 Bold" panose="020B0800000000000000" charset="-122"/>
                    <a:sym typeface="+mn-ea"/>
                  </a:rPr>
                  <a:t>EnergyC</a:t>
                </a:r>
                <a:r>
                  <a:rPr lang="zh-CN" altLang="en-US" sz="1400" b="1">
                    <a:latin typeface="思源黑体 Regular" panose="020B0500000000000000" charset="-122"/>
                    <a:ea typeface="思源黑体 Regular" panose="020B0500000000000000" charset="-122"/>
                    <a:cs typeface="思源黑体 Bold" panose="020B0800000000000000" charset="-122"/>
                    <a:sym typeface="+mn-ea"/>
                  </a:rPr>
                  <a:t>law</a:t>
                </a:r>
                <a:endParaRPr lang="zh-CN" altLang="en-US" sz="1400" b="1">
                  <a:latin typeface="思源黑体 Regular" panose="020B0500000000000000" charset="-122"/>
                  <a:ea typeface="思源黑体 Regular" panose="020B0500000000000000" charset="-122"/>
                  <a:cs typeface="思源黑体 Bold" panose="020B0800000000000000" charset="-122"/>
                  <a:sym typeface="+mn-ea"/>
                </a:endParaRPr>
              </a:p>
            </p:txBody>
          </p:sp>
          <p:sp>
            <p:nvSpPr>
              <p:cNvPr id="157" name="文本框 156"/>
              <p:cNvSpPr txBox="1"/>
              <p:nvPr/>
            </p:nvSpPr>
            <p:spPr>
              <a:xfrm>
                <a:off x="13281" y="4479"/>
                <a:ext cx="1039" cy="4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algn="ctr">
                  <a:defRPr sz="1000" spc="300">
                    <a:solidFill>
                      <a:srgbClr val="055CF9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B" panose="00020600040101010101" pitchFamily="18" charset="-122"/>
                  </a:defRPr>
                </a:lvl1pPr>
              </a:lstStyle>
              <a:p>
                <a:r>
                  <a:rPr lang="zh-CN" altLang="en-US" spc="0" dirty="0">
                    <a:solidFill>
                      <a:sysClr val="window" lastClr="FFFFFF"/>
                    </a:solidFill>
                    <a:latin typeface="思源黑体 Regular" panose="020B0500000000000000" charset="-122"/>
                    <a:ea typeface="思源黑体 Regular" panose="020B0500000000000000" charset="-122"/>
                    <a:cs typeface="思源黑体 Medium" panose="020B0600000000000000" charset="-122"/>
                  </a:rPr>
                  <a:t>执行</a:t>
                </a:r>
                <a:endParaRPr lang="zh-CN" altLang="en-US" spc="0" dirty="0">
                  <a:solidFill>
                    <a:sysClr val="window" lastClr="FFFFFF"/>
                  </a:solidFill>
                  <a:latin typeface="思源黑体 Regular" panose="020B0500000000000000" charset="-122"/>
                  <a:ea typeface="思源黑体 Regular" panose="020B0500000000000000" charset="-122"/>
                  <a:cs typeface="思源黑体 Medium" panose="020B0600000000000000" charset="-122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3281" y="5146"/>
                <a:ext cx="1039" cy="4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algn="ctr">
                  <a:defRPr sz="1000" spc="300">
                    <a:solidFill>
                      <a:srgbClr val="055CF9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B" panose="00020600040101010101" pitchFamily="18" charset="-122"/>
                  </a:defRPr>
                </a:lvl1pPr>
              </a:lstStyle>
              <a:p>
                <a:r>
                  <a:rPr lang="zh-CN" altLang="en-US" spc="0" dirty="0">
                    <a:solidFill>
                      <a:sysClr val="window" lastClr="FFFFFF"/>
                    </a:solidFill>
                    <a:latin typeface="思源黑体 Regular" panose="020B0500000000000000" charset="-122"/>
                    <a:ea typeface="思源黑体 Regular" panose="020B0500000000000000" charset="-122"/>
                    <a:cs typeface="思源黑体 Medium" panose="020B0600000000000000" charset="-122"/>
                  </a:rPr>
                  <a:t>规划</a:t>
                </a:r>
                <a:endParaRPr lang="zh-CN" altLang="en-US" spc="0" dirty="0">
                  <a:solidFill>
                    <a:sysClr val="window" lastClr="FFFFFF"/>
                  </a:solidFill>
                  <a:latin typeface="思源黑体 Regular" panose="020B0500000000000000" charset="-122"/>
                  <a:ea typeface="思源黑体 Regular" panose="020B0500000000000000" charset="-122"/>
                  <a:cs typeface="思源黑体 Medium" panose="020B0600000000000000" charset="-122"/>
                </a:endParaRPr>
              </a:p>
            </p:txBody>
          </p:sp>
          <p:sp>
            <p:nvSpPr>
              <p:cNvPr id="161" name="文本框 160"/>
              <p:cNvSpPr txBox="1"/>
              <p:nvPr/>
            </p:nvSpPr>
            <p:spPr>
              <a:xfrm>
                <a:off x="13281" y="5836"/>
                <a:ext cx="1039" cy="4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algn="ctr">
                  <a:defRPr sz="1000" spc="300">
                    <a:solidFill>
                      <a:srgbClr val="055CF9"/>
                    </a:solidFill>
                    <a:latin typeface="OPPOSans B" panose="00020600040101010101" pitchFamily="18" charset="-122"/>
                    <a:ea typeface="OPPOSans B" panose="00020600040101010101" pitchFamily="18" charset="-122"/>
                    <a:cs typeface="OPPOSans B" panose="00020600040101010101" pitchFamily="18" charset="-122"/>
                  </a:defRPr>
                </a:lvl1pPr>
              </a:lstStyle>
              <a:p>
                <a:r>
                  <a:rPr lang="zh-CN" altLang="en-US" spc="0" dirty="0">
                    <a:solidFill>
                      <a:sysClr val="window" lastClr="FFFFFF"/>
                    </a:solidFill>
                    <a:latin typeface="思源黑体 Regular" panose="020B0500000000000000" charset="-122"/>
                    <a:ea typeface="思源黑体 Regular" panose="020B0500000000000000" charset="-122"/>
                    <a:cs typeface="思源黑体 Medium" panose="020B0600000000000000" charset="-122"/>
                  </a:rPr>
                  <a:t>感知</a:t>
                </a:r>
                <a:endParaRPr lang="zh-CN" altLang="en-US" spc="0" dirty="0">
                  <a:solidFill>
                    <a:sysClr val="window" lastClr="FFFFFF"/>
                  </a:solidFill>
                  <a:latin typeface="思源黑体 Regular" panose="020B0500000000000000" charset="-122"/>
                  <a:ea typeface="思源黑体 Regular" panose="020B0500000000000000" charset="-122"/>
                  <a:cs typeface="思源黑体 Medium" panose="020B0600000000000000" charset="-122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13096" y="8453"/>
              <a:ext cx="386" cy="8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rPr>
                <a:t>多渠推送</a:t>
              </a:r>
              <a:endParaRPr lang="zh-CN" altLang="en-US" sz="700" dirty="0">
                <a:solidFill>
                  <a:srgbClr val="2F7DFB"/>
                </a:solidFill>
                <a:latin typeface="思源黑体 Normal" panose="020B0400000000000000" charset="-122"/>
                <a:ea typeface="思源黑体 Normal" panose="020B0400000000000000" charset="-122"/>
                <a:cs typeface="思源黑体 Regular" panose="020B0500000000000000" charset="-122"/>
                <a:sym typeface="+mn-ea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657" y="8453"/>
              <a:ext cx="386" cy="8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rPr>
                <a:t>数字联络员</a:t>
              </a:r>
              <a:endParaRPr lang="zh-CN" altLang="en-US" sz="700" dirty="0">
                <a:solidFill>
                  <a:srgbClr val="2F7DFB"/>
                </a:solidFill>
                <a:latin typeface="思源黑体 Normal" panose="020B0400000000000000" charset="-122"/>
                <a:ea typeface="思源黑体 Normal" panose="020B0400000000000000" charset="-122"/>
                <a:cs typeface="思源黑体 Regular" panose="020B0500000000000000" charset="-122"/>
                <a:sym typeface="+mn-ea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5366" y="8453"/>
              <a:ext cx="386" cy="8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700" dirty="0">
                  <a:solidFill>
                    <a:srgbClr val="2F7DFB"/>
                  </a:solidFill>
                  <a:latin typeface="思源黑体 Normal" panose="020B0400000000000000" charset="-122"/>
                  <a:ea typeface="思源黑体 Normal" panose="020B0400000000000000" charset="-122"/>
                  <a:cs typeface="思源黑体 Regular" panose="020B0500000000000000" charset="-122"/>
                  <a:sym typeface="+mn-ea"/>
                </a:rPr>
                <a:t>流程闭环</a:t>
              </a:r>
              <a:endParaRPr lang="zh-CN" altLang="en-US" sz="700" dirty="0">
                <a:solidFill>
                  <a:srgbClr val="2F7DFB"/>
                </a:solidFill>
                <a:latin typeface="思源黑体 Normal" panose="020B0400000000000000" charset="-122"/>
                <a:ea typeface="思源黑体 Normal" panose="020B0400000000000000" charset="-122"/>
                <a:cs typeface="思源黑体 Regular" panose="020B0500000000000000" charset="-122"/>
                <a:sym typeface="+mn-ea"/>
              </a:endParaRP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648335" y="1955800"/>
            <a:ext cx="520954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电网多系统（监控平台 / OMS / 配网自动化等）产生海量信息；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Ener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g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yClaw跨系统自动抓取数据，完成</a:t>
            </a:r>
            <a:r>
              <a:rPr lang="zh-CN" altLang="en-US" sz="1000" dirty="0">
                <a:solidFill>
                  <a:srgbClr val="005AE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收集 - 清洗 - 汇总 - 推送全流程；</a:t>
            </a:r>
            <a:endParaRPr lang="zh-CN" altLang="en-US" sz="1000" dirty="0">
              <a:solidFill>
                <a:srgbClr val="182839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替代人工跨系统整理的低效操作，作为系统与人员的</a:t>
            </a:r>
            <a:r>
              <a:rPr lang="zh-CN" altLang="en-US" sz="1000" dirty="0">
                <a:solidFill>
                  <a:srgbClr val="005AE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高效中间层；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rPr>
              <a:t>不替代原有业务系统，仅做数据整合与流转。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647700" y="1649095"/>
            <a:ext cx="1733550" cy="30670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 defTabSz="266700">
              <a:buClrTx/>
              <a:buSzTx/>
              <a:buFontTx/>
            </a:pPr>
            <a:r>
              <a:rPr lang="zh-CN" altLang="en-US" sz="1400">
                <a:latin typeface="思源黑体 Bold" panose="020B0800000000000000" charset="-122"/>
                <a:ea typeface="思源黑体 Bold" panose="020B0800000000000000" charset="-122"/>
                <a:sym typeface="+mn-ea"/>
              </a:rPr>
              <a:t>跨系统数据融合</a:t>
            </a:r>
            <a:endParaRPr lang="zh-CN" altLang="en-US" sz="1400">
              <a:latin typeface="思源黑体 Bold" panose="020B0800000000000000" charset="-122"/>
              <a:ea typeface="思源黑体 Bold" panose="020B0800000000000000" charset="-122"/>
              <a:sym typeface="+mn-ea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2026285" y="1720215"/>
            <a:ext cx="772160" cy="196215"/>
            <a:chOff x="3471" y="2514"/>
            <a:chExt cx="1216" cy="309"/>
          </a:xfrm>
        </p:grpSpPr>
        <p:pic>
          <p:nvPicPr>
            <p:cNvPr id="278" name="Picture 27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471" y="2514"/>
              <a:ext cx="1216" cy="309"/>
            </a:xfrm>
            <a:prstGeom prst="rect">
              <a:avLst/>
            </a:prstGeom>
            <a:noFill/>
          </p:spPr>
        </p:pic>
        <p:sp>
          <p:nvSpPr>
            <p:cNvPr id="310" name="Rectangle 310"/>
            <p:cNvSpPr/>
            <p:nvPr/>
          </p:nvSpPr>
          <p:spPr>
            <a:xfrm>
              <a:off x="3610" y="2542"/>
              <a:ext cx="800" cy="24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algn="l"/>
              <a:r>
                <a:rPr lang="zh-CN" altLang="en-US" sz="1000" b="0" i="0" spc="0" baseline="0" dirty="0">
                  <a:solidFill>
                    <a:srgbClr val="1354DE"/>
                  </a:solidFill>
                  <a:latin typeface="思源黑体 Regular" panose="020B0500000000000000" charset="-122"/>
                  <a:ea typeface="思源黑体 Regular" panose="020B0500000000000000" charset="-122"/>
                </a:rPr>
                <a:t>生产辅助</a:t>
              </a:r>
              <a:endParaRPr lang="zh-CN" altLang="en-US" sz="1000" b="0" i="0" spc="0" baseline="0" dirty="0">
                <a:solidFill>
                  <a:srgbClr val="1354DE"/>
                </a:solidFill>
                <a:latin typeface="思源黑体 Regular" panose="020B0500000000000000" charset="-122"/>
                <a:ea typeface="思源黑体 Regular" panose="020B0500000000000000" charset="-122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647700" y="3397885"/>
            <a:ext cx="1424305" cy="30670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 defTabSz="266700">
              <a:buClrTx/>
              <a:buSzTx/>
              <a:buFontTx/>
            </a:pPr>
            <a:r>
              <a:rPr lang="zh-CN" altLang="en-US" sz="1400">
                <a:latin typeface="思源黑体 Bold" panose="020B0800000000000000" charset="-122"/>
                <a:ea typeface="思源黑体 Bold" panose="020B0800000000000000" charset="-122"/>
                <a:sym typeface="+mn-ea"/>
              </a:rPr>
              <a:t>智能辅助决策</a:t>
            </a:r>
            <a:endParaRPr lang="zh-CN" altLang="en-US" sz="1400">
              <a:latin typeface="思源黑体 Bold" panose="020B0800000000000000" charset="-122"/>
              <a:ea typeface="思源黑体 Bold" panose="020B0800000000000000" charset="-122"/>
              <a:sym typeface="+mn-ea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1854835" y="3481070"/>
            <a:ext cx="681355" cy="196215"/>
            <a:chOff x="3471" y="2514"/>
            <a:chExt cx="1073" cy="309"/>
          </a:xfrm>
        </p:grpSpPr>
        <p:pic>
          <p:nvPicPr>
            <p:cNvPr id="162" name="Picture 278"/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471" y="2514"/>
              <a:ext cx="1073" cy="309"/>
            </a:xfrm>
            <a:prstGeom prst="rect">
              <a:avLst/>
            </a:prstGeom>
            <a:noFill/>
          </p:spPr>
        </p:pic>
        <p:sp>
          <p:nvSpPr>
            <p:cNvPr id="163" name="Rectangle 310"/>
            <p:cNvSpPr/>
            <p:nvPr/>
          </p:nvSpPr>
          <p:spPr>
            <a:xfrm>
              <a:off x="3610" y="2542"/>
              <a:ext cx="800" cy="24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algn="l"/>
              <a:r>
                <a:rPr lang="zh-CN" altLang="en-US" sz="1000" b="0" i="0" spc="0" baseline="0" dirty="0">
                  <a:solidFill>
                    <a:srgbClr val="1354DE"/>
                  </a:solidFill>
                  <a:latin typeface="思源黑体 Regular" panose="020B0500000000000000" charset="-122"/>
                  <a:ea typeface="思源黑体 Regular" panose="020B0500000000000000" charset="-122"/>
                </a:rPr>
                <a:t>工作协同</a:t>
              </a:r>
              <a:endParaRPr lang="zh-CN" altLang="en-US" sz="1000" b="0" i="0" spc="0" baseline="0" dirty="0">
                <a:solidFill>
                  <a:srgbClr val="1354DE"/>
                </a:solidFill>
                <a:latin typeface="思源黑体 Regular" panose="020B0500000000000000" charset="-122"/>
                <a:ea typeface="思源黑体 Regular" panose="020B0500000000000000" charset="-122"/>
              </a:endParaRPr>
            </a:p>
          </p:txBody>
        </p:sp>
      </p:grpSp>
      <p:sp>
        <p:nvSpPr>
          <p:cNvPr id="167" name="文本框 166"/>
          <p:cNvSpPr txBox="1"/>
          <p:nvPr/>
        </p:nvSpPr>
        <p:spPr>
          <a:xfrm>
            <a:off x="648335" y="3735070"/>
            <a:ext cx="561276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海量告警 / 复杂故障时，结合安规库、案例、拓扑关系</a:t>
            </a:r>
            <a:r>
              <a:rPr lang="zh-CN" altLang="en-US" sz="1000" dirty="0">
                <a:solidFill>
                  <a:srgbClr val="005AE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快速定位故障；</a:t>
            </a:r>
            <a:endParaRPr lang="zh-CN" altLang="en-US" sz="1000" dirty="0">
              <a:solidFill>
                <a:srgbClr val="005AEA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构建可追问的知识助手，统一管理分散的规程 / 案例 / 检修记录；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整合知识库与历史案例，输出结构化建议，实现</a:t>
            </a:r>
            <a:r>
              <a:rPr lang="zh-CN" altLang="en-US" sz="1000" dirty="0">
                <a:solidFill>
                  <a:srgbClr val="005AE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知识检索 + 归纳 + 结构化输出；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Agent前处理</a:t>
            </a:r>
            <a:r>
              <a:rPr lang="zh-CN" altLang="en-US" sz="1000" dirty="0">
                <a:solidFill>
                  <a:srgbClr val="005AE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大幅提升运维效率。</a:t>
            </a:r>
            <a:endParaRPr lang="zh-CN" altLang="en-US" sz="1000" dirty="0">
              <a:solidFill>
                <a:srgbClr val="005AEA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47700" y="5048885"/>
            <a:ext cx="1644015" cy="30670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l" defTabSz="266700">
              <a:buClrTx/>
              <a:buSzTx/>
              <a:buFontTx/>
            </a:pPr>
            <a:r>
              <a:rPr lang="zh-CN" altLang="en-US" sz="1400">
                <a:latin typeface="思源黑体 Bold" panose="020B0800000000000000" charset="-122"/>
                <a:ea typeface="思源黑体 Bold" panose="020B0800000000000000" charset="-122"/>
                <a:sym typeface="+mn-ea"/>
              </a:rPr>
              <a:t>自动化任务执行</a:t>
            </a:r>
            <a:endParaRPr lang="zh-CN" altLang="en-US" sz="1400">
              <a:latin typeface="思源黑体 Bold" panose="020B0800000000000000" charset="-122"/>
              <a:ea typeface="思源黑体 Bold" panose="020B0800000000000000" charset="-122"/>
              <a:sym typeface="+mn-ea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2023110" y="5114925"/>
            <a:ext cx="772160" cy="196215"/>
            <a:chOff x="3471" y="2514"/>
            <a:chExt cx="1216" cy="309"/>
          </a:xfrm>
        </p:grpSpPr>
        <p:pic>
          <p:nvPicPr>
            <p:cNvPr id="165" name="Picture 27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471" y="2514"/>
              <a:ext cx="1216" cy="309"/>
            </a:xfrm>
            <a:prstGeom prst="rect">
              <a:avLst/>
            </a:prstGeom>
            <a:noFill/>
          </p:spPr>
        </p:pic>
        <p:sp>
          <p:nvSpPr>
            <p:cNvPr id="166" name="Rectangle 310"/>
            <p:cNvSpPr/>
            <p:nvPr/>
          </p:nvSpPr>
          <p:spPr>
            <a:xfrm>
              <a:off x="3543" y="2542"/>
              <a:ext cx="1000" cy="24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algn="l"/>
              <a:r>
                <a:rPr lang="zh-CN" altLang="en-US" sz="1000" b="0" i="0" spc="0" baseline="0" dirty="0">
                  <a:solidFill>
                    <a:srgbClr val="1354DE"/>
                  </a:solidFill>
                  <a:latin typeface="思源黑体 Regular" panose="020B0500000000000000" charset="-122"/>
                  <a:ea typeface="思源黑体 Regular" panose="020B0500000000000000" charset="-122"/>
                </a:rPr>
                <a:t>办公自动化</a:t>
              </a:r>
              <a:endParaRPr lang="zh-CN" altLang="en-US" sz="1000" b="0" i="0" spc="0" baseline="0" dirty="0">
                <a:solidFill>
                  <a:srgbClr val="1354DE"/>
                </a:solidFill>
                <a:latin typeface="思源黑体 Regular" panose="020B0500000000000000" charset="-122"/>
                <a:ea typeface="思源黑体 Regular" panose="020B0500000000000000" charset="-122"/>
              </a:endParaRPr>
            </a:p>
          </p:txBody>
        </p:sp>
      </p:grpSp>
      <p:sp>
        <p:nvSpPr>
          <p:cNvPr id="168" name="文本框 167"/>
          <p:cNvSpPr txBox="1"/>
          <p:nvPr/>
        </p:nvSpPr>
        <p:spPr>
          <a:xfrm>
            <a:off x="648335" y="5386705"/>
            <a:ext cx="5612765" cy="78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Ener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g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yClaw支持定时任务 + 多渠道推送，可完成</a:t>
            </a:r>
            <a:r>
              <a:rPr lang="zh-CN" altLang="en-US" sz="1000" dirty="0">
                <a:solidFill>
                  <a:srgbClr val="005AE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日报生成、缺陷催办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等多类工作；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化身</a:t>
            </a:r>
            <a:r>
              <a:rPr lang="zh-CN" altLang="en-US" sz="1000" dirty="0">
                <a:solidFill>
                  <a:srgbClr val="005AEA"/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7×24 小时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数字联络员，自动巡检、秒级推送关键结果至责任人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/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工作群；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打破信息孤岛，降低沟通成本，实现业务流程自动化与高效闭环。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+mn-ea"/>
            </a:endParaRPr>
          </a:p>
        </p:txBody>
      </p:sp>
      <p:pic>
        <p:nvPicPr>
          <p:cNvPr id="172" name="图片 171" descr="龙虾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" y="1708150"/>
            <a:ext cx="180340" cy="180340"/>
          </a:xfrm>
          <a:prstGeom prst="rect">
            <a:avLst/>
          </a:prstGeom>
        </p:spPr>
      </p:pic>
      <p:pic>
        <p:nvPicPr>
          <p:cNvPr id="177" name="图片 176" descr="龙虾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475" y="3470910"/>
            <a:ext cx="180340" cy="180340"/>
          </a:xfrm>
          <a:prstGeom prst="rect">
            <a:avLst/>
          </a:prstGeom>
        </p:spPr>
      </p:pic>
      <p:pic>
        <p:nvPicPr>
          <p:cNvPr id="178" name="图片 177" descr="龙虾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475" y="5122545"/>
            <a:ext cx="180340" cy="180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矩形: 圆角 4"/>
          <p:cNvSpPr/>
          <p:nvPr>
            <p:custDataLst>
              <p:tags r:id="rId1"/>
            </p:custDataLst>
          </p:nvPr>
        </p:nvSpPr>
        <p:spPr>
          <a:xfrm>
            <a:off x="498475" y="1242695"/>
            <a:ext cx="11224895" cy="42227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8FA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>
            <a:outerShdw blurRad="215900" dist="25400" dir="2700000" sx="101000" sy="101000" algn="tl" rotWithShape="0">
              <a:schemeClr val="tx2">
                <a:lumMod val="40000"/>
                <a:lumOff val="60000"/>
                <a:alpha val="3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05000"/>
              </a:lnSpc>
              <a:buSzTx/>
              <a:defRPr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基于 DeepSeek Harness 改造，从「工作流编排」到「一切皆插件」的范式跃迁。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9" name="矩形: 圆顶角 8"/>
          <p:cNvSpPr/>
          <p:nvPr/>
        </p:nvSpPr>
        <p:spPr>
          <a:xfrm>
            <a:off x="497840" y="1774190"/>
            <a:ext cx="3411220" cy="36741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>
            <a:noFill/>
          </a:ln>
          <a:effectLst>
            <a:outerShdw blurRad="660400" dist="38100" dir="5400000" algn="t" rotWithShape="0">
              <a:schemeClr val="accent1">
                <a:lumMod val="60000"/>
                <a:lumOff val="40000"/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kumimoji="1" lang="zh-CN" altLang="en-US" sz="1200" kern="1200">
              <a:sym typeface="+mn-ea"/>
            </a:endParaRPr>
          </a:p>
        </p:txBody>
      </p:sp>
      <p:sp>
        <p:nvSpPr>
          <p:cNvPr id="5" name="矩形: 单圆角 63"/>
          <p:cNvSpPr/>
          <p:nvPr>
            <p:custDataLst>
              <p:tags r:id="rId2"/>
            </p:custDataLst>
          </p:nvPr>
        </p:nvSpPr>
        <p:spPr>
          <a:xfrm flipV="1">
            <a:off x="481330" y="1748790"/>
            <a:ext cx="1877060" cy="368300"/>
          </a:xfrm>
          <a:prstGeom prst="round1Rect">
            <a:avLst>
              <a:gd name="adj" fmla="val 36691"/>
            </a:avLst>
          </a:prstGeom>
          <a:gradFill flip="none" rotWithShape="1">
            <a:gsLst>
              <a:gs pos="0">
                <a:srgbClr val="1D78FA">
                  <a:lumMod val="86000"/>
                  <a:lumOff val="14000"/>
                </a:srgbClr>
              </a:gs>
              <a:gs pos="100000">
                <a:srgbClr val="1D78FA">
                  <a:lumMod val="7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rgbClr val="1D78FA">
              <a:shade val="50000"/>
            </a:srgbClr>
          </a:lnRef>
          <a:fillRef idx="1">
            <a:srgbClr val="1D78FA"/>
          </a:fillRef>
          <a:effectRef idx="0">
            <a:srgbClr val="1D78FA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</a:t>
            </a:r>
            <a:endParaRPr lang="zh-CN" altLang="en-US">
              <a:solidFill>
                <a:sysClr val="window" lastClr="FFFFFF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7205" y="1767840"/>
            <a:ext cx="18611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+mj-lt"/>
                <a:ea typeface="+mj-lt"/>
                <a:cs typeface="思源黑体 Regular" panose="020B0500000000000000" charset="-122"/>
                <a:sym typeface="+mn-ea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+mj-lt"/>
                <a:ea typeface="+mj-lt"/>
                <a:cs typeface="思源黑体 Regular" panose="020B0500000000000000" charset="-122"/>
                <a:sym typeface="+mn-ea"/>
              </a:rPr>
              <a:t>产品演进</a:t>
            </a:r>
            <a:endParaRPr lang="zh-CN" altLang="en-US" sz="1600" b="1" dirty="0">
              <a:solidFill>
                <a:schemeClr val="bg1"/>
              </a:solidFill>
              <a:latin typeface="+mj-lt"/>
              <a:ea typeface="+mj-lt"/>
              <a:cs typeface="思源黑体 Regular" panose="020B05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498475" y="588645"/>
            <a:ext cx="83242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defTabSz="914400">
              <a:buClrTx/>
              <a:buSzTx/>
              <a:buFontTx/>
            </a:pPr>
            <a:r>
              <a:rPr lang="en-US" altLang="zh-CN" sz="2800" kern="1200" dirty="0" err="1"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AgentCreator V3.0</a:t>
            </a:r>
            <a:r>
              <a:rPr lang="en-US" altLang="zh-CN" sz="2800" dirty="0"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——</a:t>
            </a:r>
            <a:r>
              <a:rPr lang="zh-CN" altLang="en-US" sz="2800" kern="1200" dirty="0">
                <a:solidFill>
                  <a:srgbClr val="02191F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全插件化智能体平台</a:t>
            </a:r>
            <a:endParaRPr lang="zh-CN" altLang="en-US" sz="2800" kern="1200" dirty="0">
              <a:solidFill>
                <a:srgbClr val="02191F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</p:txBody>
      </p:sp>
      <p:sp>
        <p:nvSpPr>
          <p:cNvPr id="34" name="矩形: 圆顶角 8"/>
          <p:cNvSpPr/>
          <p:nvPr/>
        </p:nvSpPr>
        <p:spPr>
          <a:xfrm>
            <a:off x="4091940" y="1786890"/>
            <a:ext cx="7649845" cy="365252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>
            <a:noFill/>
          </a:ln>
          <a:effectLst>
            <a:outerShdw blurRad="660400" dist="38100" dir="5400000" algn="t" rotWithShape="0">
              <a:schemeClr val="accent1">
                <a:lumMod val="60000"/>
                <a:lumOff val="40000"/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kumimoji="1" lang="zh-CN" altLang="en-US" sz="1200" kern="1200">
              <a:sym typeface="+mn-ea"/>
            </a:endParaRPr>
          </a:p>
        </p:txBody>
      </p:sp>
      <p:sp>
        <p:nvSpPr>
          <p:cNvPr id="35" name="矩形: 单圆角 63"/>
          <p:cNvSpPr/>
          <p:nvPr>
            <p:custDataLst>
              <p:tags r:id="rId4"/>
            </p:custDataLst>
          </p:nvPr>
        </p:nvSpPr>
        <p:spPr>
          <a:xfrm flipV="1">
            <a:off x="4075430" y="1761490"/>
            <a:ext cx="1877060" cy="368300"/>
          </a:xfrm>
          <a:prstGeom prst="round1Rect">
            <a:avLst>
              <a:gd name="adj" fmla="val 36691"/>
            </a:avLst>
          </a:prstGeom>
          <a:gradFill flip="none" rotWithShape="1">
            <a:gsLst>
              <a:gs pos="0">
                <a:srgbClr val="1D78FA">
                  <a:lumMod val="86000"/>
                  <a:lumOff val="14000"/>
                </a:srgbClr>
              </a:gs>
              <a:gs pos="100000">
                <a:srgbClr val="1D78FA">
                  <a:lumMod val="7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rgbClr val="1D78FA">
              <a:shade val="50000"/>
            </a:srgbClr>
          </a:lnRef>
          <a:fillRef idx="1">
            <a:srgbClr val="1D78FA"/>
          </a:fillRef>
          <a:effectRef idx="0">
            <a:srgbClr val="1D78FA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</a:t>
            </a:r>
            <a:endParaRPr lang="zh-CN" altLang="en-US">
              <a:solidFill>
                <a:sysClr val="window" lastClr="FFFFFF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091305" y="1780540"/>
            <a:ext cx="18611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+mj-lt"/>
                <a:ea typeface="+mj-lt"/>
                <a:cs typeface="思源黑体 Regular" panose="020B0500000000000000" charset="-122"/>
                <a:sym typeface="+mn-ea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+mj-lt"/>
                <a:ea typeface="+mj-lt"/>
                <a:cs typeface="思源黑体 Regular" panose="020B0500000000000000" charset="-122"/>
                <a:sym typeface="+mn-ea"/>
              </a:rPr>
              <a:t>核心能力</a:t>
            </a:r>
            <a:endParaRPr lang="zh-CN" altLang="en-US" sz="1600" b="1" dirty="0">
              <a:solidFill>
                <a:schemeClr val="bg1"/>
              </a:solidFill>
              <a:latin typeface="+mj-lt"/>
              <a:ea typeface="+mj-lt"/>
              <a:cs typeface="思源黑体 Regular" panose="020B0500000000000000" charset="-122"/>
              <a:sym typeface="+mn-ea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35000" y="2230120"/>
            <a:ext cx="3152775" cy="83820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52" name="AutoShape 10"/>
          <p:cNvSpPr/>
          <p:nvPr/>
        </p:nvSpPr>
        <p:spPr>
          <a:xfrm>
            <a:off x="1117600" y="2303780"/>
            <a:ext cx="255143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kumimoji="1" lang="zh-CN" altLang="en-US" sz="1400" b="1" noProof="0">
                <a:ln>
                  <a:noFill/>
                </a:ln>
                <a:solidFill>
                  <a:srgbClr val="0461F5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基于 Workflow 的智能体平台</a:t>
            </a:r>
            <a:endParaRPr kumimoji="1" lang="zh-CN" altLang="en-US" sz="1400" b="1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53" name="AutoShape 11"/>
          <p:cNvSpPr/>
          <p:nvPr/>
        </p:nvSpPr>
        <p:spPr>
          <a:xfrm>
            <a:off x="748030" y="2637790"/>
            <a:ext cx="295211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低代码可视化开发 · Multi-Agent 协同 · 全生命周期管理</a:t>
            </a:r>
            <a:endParaRPr lang="en-US" sz="12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54" name="圆角矩形 359"/>
          <p:cNvSpPr/>
          <p:nvPr/>
        </p:nvSpPr>
        <p:spPr bwMode="auto">
          <a:xfrm>
            <a:off x="730250" y="2361565"/>
            <a:ext cx="331470" cy="159385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V1.0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36905" y="3302635"/>
            <a:ext cx="3150870" cy="83820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58" name="AutoShape 10"/>
          <p:cNvSpPr/>
          <p:nvPr/>
        </p:nvSpPr>
        <p:spPr>
          <a:xfrm>
            <a:off x="1119505" y="3376295"/>
            <a:ext cx="255143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kumimoji="1" lang="zh-CN" altLang="en-US" sz="1400" b="1" noProof="0">
                <a:ln>
                  <a:noFill/>
                </a:ln>
                <a:solidFill>
                  <a:srgbClr val="0461F5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类 OpenClaw 的电力行业平台</a:t>
            </a:r>
            <a:endParaRPr kumimoji="1" lang="zh-CN" altLang="en-US" sz="1400" b="1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59" name="AutoShape 11"/>
          <p:cNvSpPr/>
          <p:nvPr/>
        </p:nvSpPr>
        <p:spPr>
          <a:xfrm>
            <a:off x="749935" y="3710305"/>
            <a:ext cx="295021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纯内网私有化部署 · 一键开箱即用 · 全岗位数字助理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60" name="圆角矩形 359"/>
          <p:cNvSpPr/>
          <p:nvPr/>
        </p:nvSpPr>
        <p:spPr bwMode="auto">
          <a:xfrm>
            <a:off x="732155" y="3434080"/>
            <a:ext cx="331470" cy="159385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V2.0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79" name="下箭头 106"/>
          <p:cNvSpPr/>
          <p:nvPr>
            <p:custDataLst>
              <p:tags r:id="rId5"/>
            </p:custDataLst>
          </p:nvPr>
        </p:nvSpPr>
        <p:spPr>
          <a:xfrm>
            <a:off x="2120265" y="3085465"/>
            <a:ext cx="182245" cy="161925"/>
          </a:xfrm>
          <a:prstGeom prst="downArrow">
            <a:avLst/>
          </a:prstGeom>
          <a:gradFill>
            <a:gsLst>
              <a:gs pos="0">
                <a:srgbClr val="2F7DFB">
                  <a:alpha val="0"/>
                </a:srgbClr>
              </a:gs>
              <a:gs pos="100000">
                <a:srgbClr val="0461F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Regular" panose="020B0500000000000000" charset="-122"/>
              <a:sym typeface="+mn-ea"/>
            </a:endParaRPr>
          </a:p>
        </p:txBody>
      </p:sp>
      <p:sp>
        <p:nvSpPr>
          <p:cNvPr id="66" name="下箭头 106"/>
          <p:cNvSpPr/>
          <p:nvPr>
            <p:custDataLst>
              <p:tags r:id="rId6"/>
            </p:custDataLst>
          </p:nvPr>
        </p:nvSpPr>
        <p:spPr>
          <a:xfrm>
            <a:off x="2121218" y="4182110"/>
            <a:ext cx="182245" cy="161925"/>
          </a:xfrm>
          <a:prstGeom prst="downArrow">
            <a:avLst/>
          </a:prstGeom>
          <a:gradFill>
            <a:gsLst>
              <a:gs pos="0">
                <a:srgbClr val="2F7DFB">
                  <a:alpha val="0"/>
                </a:srgbClr>
              </a:gs>
              <a:gs pos="100000">
                <a:srgbClr val="0461F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Regular" panose="020B0500000000000000" charset="-122"/>
              <a:sym typeface="+mn-ea"/>
            </a:endParaRPr>
          </a:p>
        </p:txBody>
      </p:sp>
      <p:sp>
        <p:nvSpPr>
          <p:cNvPr id="88" name="AutoShape 36"/>
          <p:cNvSpPr/>
          <p:nvPr/>
        </p:nvSpPr>
        <p:spPr bwMode="auto">
          <a:xfrm>
            <a:off x="4229735" y="4692015"/>
            <a:ext cx="7345680" cy="635000"/>
          </a:xfrm>
          <a:prstGeom prst="roundRect">
            <a:avLst>
              <a:gd name="adj" fmla="val 9000"/>
            </a:avLst>
          </a:prstGeom>
          <a:solidFill>
            <a:srgbClr val="5697F9">
              <a:alpha val="15000"/>
            </a:srgbClr>
          </a:solidFill>
          <a:ln w="6350">
            <a:solidFill>
              <a:srgbClr val="1D78FA"/>
            </a:solidFill>
            <a:prstDash val="dash"/>
          </a:ln>
          <a:effectLst>
            <a:outerShdw blurRad="317500" dist="88900" dir="2700000" sx="99000" sy="99000" algn="tl" rotWithShape="0">
              <a:srgbClr val="5697F9">
                <a:alpha val="40000"/>
              </a:srgbClr>
            </a:outerShdw>
          </a:effectLst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Agent = Model（大脑推理） + Harness（感知环境 · 调用工具 · 持续运转的执行底座）</a:t>
            </a:r>
            <a:endParaRPr lang="en-US" altLang="en-US" sz="1400" b="1" kern="1200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4253865" y="2230120"/>
            <a:ext cx="3527425" cy="1016635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95" name="AutoShape 10"/>
          <p:cNvSpPr/>
          <p:nvPr/>
        </p:nvSpPr>
        <p:spPr>
          <a:xfrm>
            <a:off x="4691380" y="2313305"/>
            <a:ext cx="2854325" cy="2876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kumimoji="1" lang="zh-CN" altLang="en-US" sz="1400" b="1" noProof="0">
                <a:ln>
                  <a:noFill/>
                </a:ln>
                <a:solidFill>
                  <a:srgbClr val="0461F5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全插件化架构</a:t>
            </a:r>
            <a:endParaRPr kumimoji="1" lang="zh-CN" altLang="en-US" sz="1400" b="1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96" name="AutoShape 11"/>
          <p:cNvSpPr/>
          <p:nvPr/>
        </p:nvSpPr>
        <p:spPr>
          <a:xfrm>
            <a:off x="4380230" y="2691130"/>
            <a:ext cx="3302635" cy="402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基于 Cordis 插件框架，模型、工具、技能、循环调度全部可独立替换，并支持运行时热插拔。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97" name="圆角矩形 359"/>
          <p:cNvSpPr/>
          <p:nvPr/>
        </p:nvSpPr>
        <p:spPr bwMode="auto">
          <a:xfrm>
            <a:off x="4360545" y="2378710"/>
            <a:ext cx="298450" cy="18034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01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8047990" y="2230120"/>
            <a:ext cx="3527425" cy="1015365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101" name="AutoShape 10"/>
          <p:cNvSpPr/>
          <p:nvPr/>
        </p:nvSpPr>
        <p:spPr>
          <a:xfrm>
            <a:off x="8485505" y="2313305"/>
            <a:ext cx="2854325" cy="287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kumimoji="1" lang="zh-CN" altLang="en-US" sz="1400" b="1" noProof="0">
                <a:ln>
                  <a:noFill/>
                </a:ln>
                <a:solidFill>
                  <a:srgbClr val="0461F5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四种运行模式</a:t>
            </a:r>
            <a:endParaRPr kumimoji="1" lang="zh-CN" altLang="en-US" sz="1400" b="1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02" name="AutoShape 11"/>
          <p:cNvSpPr/>
          <p:nvPr/>
        </p:nvSpPr>
        <p:spPr>
          <a:xfrm>
            <a:off x="8174355" y="2691130"/>
            <a:ext cx="3302635" cy="401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极简 / 标准 / PTC / 创造，按需匹配电力业务场景，从轻量问答到复杂自动化全覆盖。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03" name="圆角矩形 359"/>
          <p:cNvSpPr/>
          <p:nvPr/>
        </p:nvSpPr>
        <p:spPr bwMode="auto">
          <a:xfrm>
            <a:off x="8154670" y="2378710"/>
            <a:ext cx="298450" cy="18034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02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4253865" y="3433445"/>
            <a:ext cx="3527425" cy="107950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106" name="AutoShape 10"/>
          <p:cNvSpPr/>
          <p:nvPr/>
        </p:nvSpPr>
        <p:spPr>
          <a:xfrm>
            <a:off x="4691380" y="3516630"/>
            <a:ext cx="2854325" cy="287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kumimoji="1" lang="zh-CN" altLang="en-US" sz="1400" b="1" noProof="0">
                <a:ln>
                  <a:noFill/>
                </a:ln>
                <a:solidFill>
                  <a:srgbClr val="0461F5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PTC 编程式工具调用</a:t>
            </a:r>
            <a:endParaRPr kumimoji="1" lang="zh-CN" altLang="en-US" sz="1400" b="1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07" name="AutoShape 11"/>
          <p:cNvSpPr/>
          <p:nvPr/>
        </p:nvSpPr>
        <p:spPr>
          <a:xfrm>
            <a:off x="4380230" y="3818255"/>
            <a:ext cx="3302635" cy="61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模型生成 TypeScript 脚本串联多步工具调用，减少大模型交互轮次，实现长链路业务自动化。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08" name="圆角矩形 359"/>
          <p:cNvSpPr/>
          <p:nvPr/>
        </p:nvSpPr>
        <p:spPr bwMode="auto">
          <a:xfrm>
            <a:off x="4360545" y="3582035"/>
            <a:ext cx="298450" cy="18034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03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8047990" y="3433445"/>
            <a:ext cx="3527425" cy="107950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111" name="AutoShape 10"/>
          <p:cNvSpPr/>
          <p:nvPr/>
        </p:nvSpPr>
        <p:spPr>
          <a:xfrm>
            <a:off x="8485505" y="3516630"/>
            <a:ext cx="2854325" cy="287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kumimoji="1" lang="zh-CN" altLang="en-US" sz="1400" b="1" noProof="0">
                <a:ln>
                  <a:noFill/>
                </a:ln>
                <a:solidFill>
                  <a:srgbClr val="0461F5"/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Skills + MCP + Subagents</a:t>
            </a:r>
            <a:endParaRPr kumimoji="1" lang="zh-CN" altLang="en-US" sz="1400" b="1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12" name="AutoShape 11"/>
          <p:cNvSpPr/>
          <p:nvPr/>
        </p:nvSpPr>
        <p:spPr>
          <a:xfrm>
            <a:off x="8174355" y="3894455"/>
            <a:ext cx="3302635" cy="401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电力专业 Skills 可复用共享，MCP 协议无缝对接业务系统，子智能体独立上下文隔离执行。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13" name="圆角矩形 359"/>
          <p:cNvSpPr/>
          <p:nvPr/>
        </p:nvSpPr>
        <p:spPr bwMode="auto">
          <a:xfrm>
            <a:off x="8154670" y="3582035"/>
            <a:ext cx="298450" cy="18034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04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114" name="矩形 113"/>
          <p:cNvSpPr/>
          <p:nvPr>
            <p:custDataLst>
              <p:tags r:id="rId7"/>
            </p:custDataLst>
          </p:nvPr>
        </p:nvSpPr>
        <p:spPr>
          <a:xfrm>
            <a:off x="0" y="6167755"/>
            <a:ext cx="12192000" cy="690245"/>
          </a:xfrm>
          <a:prstGeom prst="rect">
            <a:avLst/>
          </a:prstGeom>
          <a:gradFill>
            <a:gsLst>
              <a:gs pos="0">
                <a:srgbClr val="1D78FA">
                  <a:lumMod val="86000"/>
                  <a:lumOff val="14000"/>
                </a:srgbClr>
              </a:gs>
              <a:gs pos="100000">
                <a:srgbClr val="1D78FA">
                  <a:lumMod val="75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rgbClr val="1D78FA">
              <a:shade val="50000"/>
            </a:srgbClr>
          </a:lnRef>
          <a:fillRef idx="1">
            <a:srgbClr val="1D78FA"/>
          </a:fillRef>
          <a:effectRef idx="0">
            <a:srgbClr val="1D78FA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7F7F7F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</a:endParaRPr>
          </a:p>
        </p:txBody>
      </p:sp>
      <p:sp>
        <p:nvSpPr>
          <p:cNvPr id="115" name="矩形 114"/>
          <p:cNvSpPr/>
          <p:nvPr>
            <p:custDataLst>
              <p:tags r:id="rId8"/>
            </p:custDataLst>
          </p:nvPr>
        </p:nvSpPr>
        <p:spPr>
          <a:xfrm>
            <a:off x="506730" y="5599430"/>
            <a:ext cx="11235055" cy="1045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reflection blurRad="177800" stA="500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79705" rIns="179705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cs typeface="思源黑体 Regular" panose="020B0500000000000000" charset="-122"/>
              <a:sym typeface="+mn-ea"/>
            </a:endParaRPr>
          </a:p>
        </p:txBody>
      </p:sp>
      <p:sp>
        <p:nvSpPr>
          <p:cNvPr id="122" name="矩形: 单圆角 63"/>
          <p:cNvSpPr/>
          <p:nvPr>
            <p:custDataLst>
              <p:tags r:id="rId9"/>
            </p:custDataLst>
          </p:nvPr>
        </p:nvSpPr>
        <p:spPr>
          <a:xfrm flipV="1">
            <a:off x="506730" y="5595620"/>
            <a:ext cx="1974215" cy="368300"/>
          </a:xfrm>
          <a:prstGeom prst="round1Rect">
            <a:avLst>
              <a:gd name="adj" fmla="val 36691"/>
            </a:avLst>
          </a:prstGeom>
          <a:gradFill flip="none" rotWithShape="1">
            <a:gsLst>
              <a:gs pos="0">
                <a:srgbClr val="1D78FA">
                  <a:lumMod val="86000"/>
                  <a:lumOff val="14000"/>
                </a:srgbClr>
              </a:gs>
              <a:gs pos="100000">
                <a:srgbClr val="1D78FA">
                  <a:lumMod val="75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rgbClr val="1D78FA">
              <a:shade val="50000"/>
            </a:srgbClr>
          </a:lnRef>
          <a:fillRef idx="1">
            <a:srgbClr val="1D78FA"/>
          </a:fillRef>
          <a:effectRef idx="0">
            <a:srgbClr val="1D78FA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+mn-ea"/>
              </a:rPr>
              <a:t> </a:t>
            </a:r>
            <a:endParaRPr lang="zh-CN" altLang="en-US">
              <a:solidFill>
                <a:sysClr val="window" lastClr="FFFFFF"/>
              </a:solidFill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522605" y="5614670"/>
            <a:ext cx="19945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+mj-lt"/>
                <a:ea typeface="+mj-lt"/>
                <a:cs typeface="思源黑体 Regular" panose="020B0500000000000000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bg1"/>
                </a:solidFill>
                <a:latin typeface="+mj-lt"/>
                <a:ea typeface="+mj-lt"/>
                <a:cs typeface="思源黑体 Regular" panose="020B0500000000000000" charset="-122"/>
                <a:sym typeface="+mn-ea"/>
              </a:rPr>
              <a:t>电力行业专属保障</a:t>
            </a:r>
            <a:endParaRPr lang="zh-CN" altLang="en-US" sz="1600" b="1" dirty="0">
              <a:solidFill>
                <a:schemeClr val="bg1"/>
              </a:solidFill>
              <a:latin typeface="+mj-lt"/>
              <a:ea typeface="+mj-lt"/>
              <a:cs typeface="思源黑体 Regular" panose="020B0500000000000000" charset="-122"/>
              <a:sym typeface="+mn-ea"/>
            </a:endParaRPr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10">
            <a:alphaModFix amt="32000"/>
          </a:blip>
          <a:srcRect t="48306"/>
          <a:stretch>
            <a:fillRect/>
          </a:stretch>
        </p:blipFill>
        <p:spPr>
          <a:xfrm>
            <a:off x="9551670" y="5598795"/>
            <a:ext cx="2023745" cy="1045845"/>
          </a:xfrm>
          <a:prstGeom prst="rect">
            <a:avLst/>
          </a:prstGeom>
        </p:spPr>
      </p:pic>
      <p:sp>
        <p:nvSpPr>
          <p:cNvPr id="125" name="圆角矩形 124"/>
          <p:cNvSpPr/>
          <p:nvPr/>
        </p:nvSpPr>
        <p:spPr>
          <a:xfrm>
            <a:off x="730250" y="6064885"/>
            <a:ext cx="2534920" cy="44577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kumimoji="1" lang="en-US" altLang="zh-CN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       </a:t>
            </a:r>
            <a:r>
              <a:rPr kumimoji="1" lang="zh-CN" altLang="en-US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纯内网私有化部署</a:t>
            </a:r>
            <a:endParaRPr kumimoji="1" lang="zh-CN" altLang="en-US" sz="1400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3467735" y="6064885"/>
            <a:ext cx="2534920" cy="44577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kumimoji="1" lang="en-US" altLang="zh-CN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        </a:t>
            </a:r>
            <a:r>
              <a:rPr kumimoji="1" lang="zh-CN" altLang="en-US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全栈信创原生适配</a:t>
            </a:r>
            <a:endParaRPr kumimoji="1" lang="zh-CN" altLang="en-US" sz="1400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6205220" y="6064885"/>
            <a:ext cx="2534920" cy="44577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kumimoji="1" lang="en-US" altLang="zh-CN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         </a:t>
            </a:r>
            <a:r>
              <a:rPr kumimoji="1" lang="zh-CN" altLang="en-US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五级安全防护体系</a:t>
            </a:r>
            <a:endParaRPr kumimoji="1" lang="zh-CN" altLang="en-US" sz="1400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>
            <a:off x="8942705" y="6064885"/>
            <a:ext cx="2534920" cy="44577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kumimoji="1" lang="en-US" altLang="zh-CN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      </a:t>
            </a:r>
            <a:r>
              <a:rPr kumimoji="1" lang="zh-CN" altLang="en-US" sz="1400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rPr>
              <a:t>7×24 小时稳定运行</a:t>
            </a:r>
            <a:endParaRPr kumimoji="1" lang="zh-CN" altLang="en-US" sz="1400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31" name="矩形: 圆角 31"/>
          <p:cNvSpPr/>
          <p:nvPr/>
        </p:nvSpPr>
        <p:spPr>
          <a:xfrm>
            <a:off x="635000" y="4346575"/>
            <a:ext cx="3151505" cy="980440"/>
          </a:xfrm>
          <a:prstGeom prst="roundRect">
            <a:avLst>
              <a:gd name="adj" fmla="val 4922"/>
            </a:avLst>
          </a:prstGeom>
          <a:solidFill>
            <a:srgbClr val="00B050">
              <a:alpha val="15000"/>
            </a:srgbClr>
          </a:solidFill>
          <a:ln w="6350">
            <a:solidFill>
              <a:srgbClr val="00B050"/>
            </a:solidFill>
            <a:prstDash val="dash"/>
          </a:ln>
          <a:effectLst>
            <a:outerShdw blurRad="317500" dist="88900" dir="2700000" sx="99000" sy="99000" algn="tl" rotWithShape="0">
              <a:srgbClr val="5697F9">
                <a:alpha val="40000"/>
              </a:srgbClr>
            </a:outerShdw>
          </a:effectLst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</a:endParaRPr>
          </a:p>
        </p:txBody>
      </p:sp>
      <p:sp>
        <p:nvSpPr>
          <p:cNvPr id="132" name="AutoShape 10"/>
          <p:cNvSpPr/>
          <p:nvPr/>
        </p:nvSpPr>
        <p:spPr>
          <a:xfrm>
            <a:off x="1117600" y="4422775"/>
            <a:ext cx="249745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kumimoji="1" lang="zh-CN" altLang="en-US" sz="1400" b="1" i="0" u="none" strike="noStrike" kern="120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lt"/>
                <a:cs typeface="思源黑体 Regular" panose="020B0500000000000000" charset="-122"/>
                <a:sym typeface="思源黑体 Light" panose="020B0300000000000000" charset="-122"/>
              </a:rPr>
              <a:t>全插件化智能体平台</a:t>
            </a:r>
            <a:endParaRPr kumimoji="1" lang="zh-CN" altLang="en-US" sz="1400" b="1" i="0" u="none" strike="noStrike" kern="120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+mn-lt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33" name="AutoShape 11"/>
          <p:cNvSpPr/>
          <p:nvPr/>
        </p:nvSpPr>
        <p:spPr>
          <a:xfrm>
            <a:off x="785495" y="4674870"/>
            <a:ext cx="2952115" cy="594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18000"/>
              </a:lnSpc>
              <a:buClrTx/>
              <a:buSzTx/>
              <a:buFontTx/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基于 DeepSeek Harness 改造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Cordis 插件框架 · 一切皆插件 · 运行时热插拔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134" name="圆角矩形 359"/>
          <p:cNvSpPr/>
          <p:nvPr/>
        </p:nvSpPr>
        <p:spPr bwMode="auto">
          <a:xfrm>
            <a:off x="732790" y="4480560"/>
            <a:ext cx="330835" cy="153035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0B050"/>
              </a:gs>
              <a:gs pos="100000">
                <a:srgbClr val="00D05D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altLang="zh-CN" sz="900" kern="120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V3.0</a:t>
            </a:r>
            <a:endParaRPr lang="en-US" altLang="zh-CN" sz="900" kern="120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pic>
        <p:nvPicPr>
          <p:cNvPr id="135" name="图片 134" descr="ChatGPT Image 2026年9月8日 10_13_45 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395" y="6113145"/>
            <a:ext cx="397510" cy="397510"/>
          </a:xfrm>
          <a:prstGeom prst="rect">
            <a:avLst/>
          </a:prstGeom>
        </p:spPr>
      </p:pic>
      <p:pic>
        <p:nvPicPr>
          <p:cNvPr id="136" name="图片 135" descr="ChatGPT Image 2026年9月8日 10_13_46 (4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8755" y="6108700"/>
            <a:ext cx="381000" cy="381000"/>
          </a:xfrm>
          <a:prstGeom prst="rect">
            <a:avLst/>
          </a:prstGeom>
        </p:spPr>
      </p:pic>
      <p:pic>
        <p:nvPicPr>
          <p:cNvPr id="137" name="图片 136" descr="ChatGPT Image 2026年9月8日 10_13_45 (2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24275" y="6042025"/>
            <a:ext cx="447675" cy="447675"/>
          </a:xfrm>
          <a:prstGeom prst="rect">
            <a:avLst/>
          </a:prstGeom>
        </p:spPr>
      </p:pic>
      <p:pic>
        <p:nvPicPr>
          <p:cNvPr id="138" name="图片 137" descr="ChatGPT Image 2026年9月8日 10_13_46 (3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3685" y="6134100"/>
            <a:ext cx="307340" cy="307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66"/>
          <p:cNvGrpSpPr/>
          <p:nvPr/>
        </p:nvGrpSpPr>
        <p:grpSpPr>
          <a:xfrm>
            <a:off x="498475" y="3323590"/>
            <a:ext cx="11263630" cy="1260000"/>
            <a:chOff x="785" y="2903"/>
            <a:chExt cx="17738" cy="2050"/>
          </a:xfrm>
        </p:grpSpPr>
        <p:sp>
          <p:nvSpPr>
            <p:cNvPr id="68" name="矩形: 圆角 2"/>
            <p:cNvSpPr/>
            <p:nvPr/>
          </p:nvSpPr>
          <p:spPr>
            <a:xfrm>
              <a:off x="8855" y="2903"/>
              <a:ext cx="9668" cy="20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2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矩形: 圆角 7"/>
            <p:cNvSpPr/>
            <p:nvPr/>
          </p:nvSpPr>
          <p:spPr>
            <a:xfrm flipH="1">
              <a:off x="785" y="2903"/>
              <a:ext cx="9560" cy="20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38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98475" y="4727575"/>
            <a:ext cx="11263630" cy="1260000"/>
            <a:chOff x="785" y="2903"/>
            <a:chExt cx="17738" cy="2050"/>
          </a:xfrm>
        </p:grpSpPr>
        <p:sp>
          <p:nvSpPr>
            <p:cNvPr id="71" name="矩形: 圆角 2"/>
            <p:cNvSpPr/>
            <p:nvPr/>
          </p:nvSpPr>
          <p:spPr>
            <a:xfrm>
              <a:off x="8855" y="2903"/>
              <a:ext cx="9668" cy="20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6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矩形: 圆角 7"/>
            <p:cNvSpPr/>
            <p:nvPr/>
          </p:nvSpPr>
          <p:spPr>
            <a:xfrm flipH="1">
              <a:off x="785" y="2903"/>
              <a:ext cx="9560" cy="20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38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98475" y="588645"/>
            <a:ext cx="88182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defTabSz="914400">
              <a:buClrTx/>
              <a:buSzTx/>
              <a:buFontTx/>
            </a:pPr>
            <a:r>
              <a:rPr lang="zh-CN" altLang="en-US" sz="2800" kern="12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相对于原版 DeepSeek Harness，我们做了什么</a:t>
            </a:r>
            <a:endParaRPr lang="zh-CN" altLang="en-US" sz="2800" kern="1200" dirty="0">
              <a:solidFill>
                <a:srgbClr val="02191F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39" name="矩形: 圆角 4"/>
          <p:cNvSpPr/>
          <p:nvPr>
            <p:custDataLst>
              <p:tags r:id="rId2"/>
            </p:custDataLst>
          </p:nvPr>
        </p:nvSpPr>
        <p:spPr>
          <a:xfrm>
            <a:off x="498475" y="1242695"/>
            <a:ext cx="11224895" cy="42227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8FA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>
            <a:outerShdw blurRad="215900" dist="25400" dir="2700000" sx="101000" sy="101000" algn="tl" rotWithShape="0">
              <a:schemeClr val="tx2">
                <a:lumMod val="40000"/>
                <a:lumOff val="60000"/>
                <a:alpha val="3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05000"/>
              </a:lnSpc>
              <a:defRPr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不是简单的开源封装，而是面向电力行业的企业级增强版 — 开箱即用、业务适配、安全可控、持续进化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27" name="梯形 26"/>
          <p:cNvSpPr/>
          <p:nvPr/>
        </p:nvSpPr>
        <p:spPr>
          <a:xfrm>
            <a:off x="574478" y="5816279"/>
            <a:ext cx="11091281" cy="362149"/>
          </a:xfrm>
          <a:prstGeom prst="trapezoid">
            <a:avLst>
              <a:gd name="adj" fmla="val 156962"/>
            </a:avLst>
          </a:prstGeom>
          <a:gradFill>
            <a:gsLst>
              <a:gs pos="0">
                <a:srgbClr val="1D78FA">
                  <a:alpha val="0"/>
                </a:srgbClr>
              </a:gs>
              <a:gs pos="100000">
                <a:srgbClr val="1D78FA">
                  <a:alpha val="30000"/>
                </a:srgbClr>
              </a:gs>
            </a:gsLst>
            <a:lin ang="5400000" scaled="1"/>
          </a:gradFill>
          <a:ln w="2540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98475" y="1919605"/>
            <a:ext cx="11263630" cy="1260000"/>
            <a:chOff x="785" y="2903"/>
            <a:chExt cx="17738" cy="2050"/>
          </a:xfrm>
        </p:grpSpPr>
        <p:sp>
          <p:nvSpPr>
            <p:cNvPr id="28" name="矩形: 圆角 2"/>
            <p:cNvSpPr/>
            <p:nvPr/>
          </p:nvSpPr>
          <p:spPr>
            <a:xfrm>
              <a:off x="8855" y="2903"/>
              <a:ext cx="9668" cy="20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4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矩形: 圆角 7"/>
            <p:cNvSpPr/>
            <p:nvPr/>
          </p:nvSpPr>
          <p:spPr>
            <a:xfrm flipH="1">
              <a:off x="785" y="2903"/>
              <a:ext cx="9560" cy="205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33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7481570" y="2287270"/>
            <a:ext cx="4164965" cy="922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l">
              <a:lnSpc>
                <a:spcPct val="130000"/>
              </a:lnSpc>
              <a:buSzTx/>
            </a:pP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  <a:sym typeface="+mn-ea"/>
              </a:rPr>
              <a:t>· 基于对电力业务的理解，封装运检 / 调度 / 营销场景插件；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  <a:sym typeface="+mn-ea"/>
            </a:endParaRPr>
          </a:p>
          <a:p>
            <a:pPr lvl="0" algn="l">
              <a:lnSpc>
                <a:spcPct val="130000"/>
              </a:lnSpc>
              <a:buSzTx/>
            </a:pP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  <a:sym typeface="+mn-ea"/>
              </a:rPr>
              <a:t>· 操作票生成、故障诊断、报告撰写、数据查询即插即用；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  <a:sym typeface="+mn-ea"/>
            </a:endParaRPr>
          </a:p>
          <a:p>
            <a:pPr lvl="0" algn="l">
              <a:lnSpc>
                <a:spcPct val="130000"/>
              </a:lnSpc>
              <a:buSzTx/>
            </a:pP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  <a:sym typeface="+mn-ea"/>
              </a:rPr>
              <a:t>· 兼容 V2.0 全量技能，业务平滑升级不中断。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  <a:sym typeface="+mn-ea"/>
            </a:endParaRPr>
          </a:p>
        </p:txBody>
      </p:sp>
      <p:sp>
        <p:nvSpPr>
          <p:cNvPr id="33" name="标题 1"/>
          <p:cNvSpPr txBox="1"/>
          <p:nvPr/>
        </p:nvSpPr>
        <p:spPr>
          <a:xfrm>
            <a:off x="9201785" y="2042795"/>
            <a:ext cx="1910715" cy="3206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电力业务专属插件库</a:t>
            </a:r>
            <a:endParaRPr lang="zh-CN" altLang="en-US" sz="1400" dirty="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42" name="标题 1"/>
          <p:cNvSpPr txBox="1"/>
          <p:nvPr/>
        </p:nvSpPr>
        <p:spPr>
          <a:xfrm>
            <a:off x="1111250" y="2023110"/>
            <a:ext cx="1992630" cy="3403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开箱即用的插件市场</a:t>
            </a:r>
            <a:endParaRPr lang="zh-CN" altLang="en-US" sz="1400" dirty="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59460" y="2287270"/>
            <a:ext cx="4209415" cy="932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</a:rPr>
              <a:t>· 封装经过安全审核和稳定性验证的成熟通用插件；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</a:endParaRPr>
          </a:p>
          <a:p>
            <a:pPr marL="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</a:rPr>
              <a:t>· 电力人员无需从零搭建，即插即用，当天部署、当天见效；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</a:endParaRPr>
          </a:p>
          <a:p>
            <a:pPr marL="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n-lt"/>
                <a:cs typeface="+mn-lt"/>
              </a:rPr>
              <a:t>· 持续更新维护，统一版本管理，避免兼容问题。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</a:endParaRPr>
          </a:p>
          <a:p>
            <a:pPr mar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</a:endParaRPr>
          </a:p>
        </p:txBody>
      </p:sp>
      <p:sp>
        <p:nvSpPr>
          <p:cNvPr id="48" name="箭头: 上 64"/>
          <p:cNvSpPr/>
          <p:nvPr/>
        </p:nvSpPr>
        <p:spPr>
          <a:xfrm>
            <a:off x="4808220" y="1664335"/>
            <a:ext cx="2599690" cy="4195445"/>
          </a:xfrm>
          <a:prstGeom prst="upArrow">
            <a:avLst/>
          </a:prstGeom>
          <a:gradFill flip="none" rotWithShape="1">
            <a:gsLst>
              <a:gs pos="83000">
                <a:srgbClr val="275DF5"/>
              </a:gs>
              <a:gs pos="7000">
                <a:srgbClr val="3DA4F9"/>
              </a:gs>
            </a:gsLst>
            <a:lin ang="2700000" scaled="1"/>
            <a:tileRect/>
          </a:gradFill>
          <a:ln w="12700" cap="flat">
            <a:gradFill>
              <a:gsLst>
                <a:gs pos="93878">
                  <a:srgbClr val="3DA4F9">
                    <a:lumMod val="20000"/>
                    <a:lumOff val="80000"/>
                  </a:srgbClr>
                </a:gs>
                <a:gs pos="0">
                  <a:srgbClr val="275DF5">
                    <a:lumMod val="20000"/>
                    <a:lumOff val="8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reflection blurRad="139700" stA="93000" endPos="6000" dir="5400000" sy="-100000" algn="bl" rotWithShape="0"/>
          </a:effectLst>
          <a:scene3d>
            <a:camera prst="orthographicFront"/>
            <a:lightRig rig="contrasting" dir="t"/>
          </a:scene3d>
          <a:sp3d extrusionH="311150"/>
        </p:spPr>
        <p:txBody>
          <a:bodyPr rtlCol="0" anchor="ctr"/>
          <a:lstStyle/>
          <a:p>
            <a:endParaRPr lang="zh-CN" altLang="en-US" sz="160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493385" y="2583815"/>
            <a:ext cx="119570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zh-CN" sz="2800" kern="100" dirty="0">
                <a:solidFill>
                  <a:srgbClr val="FFFFFF"/>
                </a:solidFill>
                <a:latin typeface="思源黑体 Medium" panose="020B0600000000000000" charset="-122"/>
                <a:ea typeface="思源黑体 Medium" panose="020B0600000000000000" charset="-122"/>
              </a:rPr>
              <a:t>六大升级</a:t>
            </a:r>
            <a:endParaRPr lang="zh-CN" sz="2800" kern="100" dirty="0">
              <a:solidFill>
                <a:srgbClr val="FFFFFF"/>
              </a:solidFill>
              <a:latin typeface="思源黑体 Medium" panose="020B0600000000000000" charset="-122"/>
              <a:ea typeface="思源黑体 Medium" panose="020B0600000000000000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5845810" y="3959860"/>
            <a:ext cx="525145" cy="1167130"/>
            <a:chOff x="9206" y="6116"/>
            <a:chExt cx="827" cy="2992"/>
          </a:xfrm>
        </p:grpSpPr>
        <p:cxnSp>
          <p:nvCxnSpPr>
            <p:cNvPr id="50" name="直接箭头连接符 86"/>
            <p:cNvCxnSpPr/>
            <p:nvPr/>
          </p:nvCxnSpPr>
          <p:spPr>
            <a:xfrm flipV="1">
              <a:off x="9620" y="6116"/>
              <a:ext cx="0" cy="2992"/>
            </a:xfrm>
            <a:prstGeom prst="straightConnector1">
              <a:avLst/>
            </a:prstGeom>
            <a:noFill/>
            <a:ln w="50800" cap="flat" cmpd="sng" algn="ctr">
              <a:gradFill>
                <a:gsLst>
                  <a:gs pos="16000">
                    <a:srgbClr val="FFFFFF">
                      <a:alpha val="0"/>
                    </a:srgbClr>
                  </a:gs>
                  <a:gs pos="74000">
                    <a:srgbClr val="FFFFFF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1" name="直接箭头连接符 87"/>
            <p:cNvCxnSpPr/>
            <p:nvPr/>
          </p:nvCxnSpPr>
          <p:spPr>
            <a:xfrm flipV="1">
              <a:off x="10033" y="7224"/>
              <a:ext cx="0" cy="1884"/>
            </a:xfrm>
            <a:prstGeom prst="straightConnector1">
              <a:avLst/>
            </a:prstGeom>
            <a:noFill/>
            <a:ln w="50800" cap="flat" cmpd="sng" algn="ctr">
              <a:gradFill>
                <a:gsLst>
                  <a:gs pos="16000">
                    <a:srgbClr val="FFFFFF">
                      <a:alpha val="0"/>
                    </a:srgbClr>
                  </a:gs>
                  <a:gs pos="74000">
                    <a:srgbClr val="FFFFFF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5" name="直接箭头连接符 92"/>
            <p:cNvCxnSpPr/>
            <p:nvPr/>
          </p:nvCxnSpPr>
          <p:spPr>
            <a:xfrm flipV="1">
              <a:off x="9206" y="7224"/>
              <a:ext cx="0" cy="1884"/>
            </a:xfrm>
            <a:prstGeom prst="straightConnector1">
              <a:avLst/>
            </a:prstGeom>
            <a:noFill/>
            <a:ln w="50800" cap="flat" cmpd="sng" algn="ctr">
              <a:gradFill>
                <a:gsLst>
                  <a:gs pos="16000">
                    <a:srgbClr val="FFFFFF">
                      <a:alpha val="0"/>
                    </a:srgbClr>
                  </a:gs>
                  <a:gs pos="74000">
                    <a:srgbClr val="FFFFFF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56" name="圆角矩形 55"/>
          <p:cNvSpPr/>
          <p:nvPr/>
        </p:nvSpPr>
        <p:spPr>
          <a:xfrm>
            <a:off x="538480" y="6178550"/>
            <a:ext cx="11223625" cy="548640"/>
          </a:xfrm>
          <a:prstGeom prst="roundRect">
            <a:avLst/>
          </a:prstGeom>
          <a:gradFill>
            <a:gsLst>
              <a:gs pos="19000">
                <a:srgbClr val="2946ED"/>
              </a:gs>
              <a:gs pos="100000">
                <a:srgbClr val="4294FF"/>
              </a:gs>
            </a:gsLst>
            <a:path path="circle">
              <a:fillToRect r="100000" b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>
                <a:solidFill>
                  <a:srgbClr val="FFFFF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Light" panose="020B0300000000000000" charset="-122"/>
              </a:rPr>
              <a:t>让电力企业在安全可控的内网环境中，低成本、低门槛地用上企业级 Agent 能力</a:t>
            </a:r>
            <a:endParaRPr lang="en-US" altLang="en-US" sz="1800" kern="0">
              <a:solidFill>
                <a:srgbClr val="FFFFFF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Light" panose="020B0300000000000000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570470" y="3636010"/>
            <a:ext cx="4046855" cy="922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短期 / 长期分层记忆，会话动态压缩，避免上下文溢出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；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用户 / 班组 / 公司多级画像，越用越懂业务习惯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；</a:t>
            </a:r>
            <a:endParaRPr lang="en-US" sz="1200" b="0" i="0" u="none" strike="noStrike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从交互中自动识别模式，沉淀为可复用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Skill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。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  <a:sym typeface="思源黑体 Light" panose="020B0300000000000000" charset="-122"/>
            </a:endParaRPr>
          </a:p>
        </p:txBody>
      </p:sp>
      <p:sp>
        <p:nvSpPr>
          <p:cNvPr id="74" name="标题 1"/>
          <p:cNvSpPr txBox="1"/>
          <p:nvPr/>
        </p:nvSpPr>
        <p:spPr>
          <a:xfrm>
            <a:off x="9201785" y="3391535"/>
            <a:ext cx="1910715" cy="3206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分层记忆与技能沉淀</a:t>
            </a:r>
            <a:endParaRPr lang="zh-CN" altLang="en-US" sz="1400" dirty="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75" name="标题 1"/>
          <p:cNvSpPr txBox="1"/>
          <p:nvPr/>
        </p:nvSpPr>
        <p:spPr>
          <a:xfrm>
            <a:off x="1111250" y="3371850"/>
            <a:ext cx="1992630" cy="3403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全链路安全体系</a:t>
            </a:r>
            <a:endParaRPr lang="zh-CN" altLang="en-US" sz="1400" dirty="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29310" y="3636010"/>
            <a:ext cx="4209415" cy="932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网络安全：纯内网闭环部署，边界防护，数据全程不外流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；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数据安全：加密存储传输，敏感数据脱敏，访问可控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；</a:t>
            </a:r>
            <a:endParaRPr lang="en-US" sz="1200" b="0" i="0" u="none" strike="noStrike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执行安全：操作审批、沙箱隔离、结果验证、异常回滚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。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  <a:sym typeface="思源黑体 Light" panose="020B0300000000000000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005445" y="5048885"/>
            <a:ext cx="3542030" cy="922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全栈信创原生适配，兼容国产算力与操作系统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；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支持主流大模型灵活切换，模型适配器插件化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；</a:t>
            </a:r>
            <a:endParaRPr lang="en-US" sz="1200" b="0" i="0" u="none" strike="noStrike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全面支持多模态感知、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RAG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知识增强等特性。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  <a:sym typeface="思源黑体 Light" panose="020B0300000000000000" charset="-122"/>
            </a:endParaRPr>
          </a:p>
        </p:txBody>
      </p:sp>
      <p:sp>
        <p:nvSpPr>
          <p:cNvPr id="78" name="标题 1"/>
          <p:cNvSpPr txBox="1"/>
          <p:nvPr/>
        </p:nvSpPr>
        <p:spPr>
          <a:xfrm>
            <a:off x="9201785" y="4804410"/>
            <a:ext cx="1910715" cy="32067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lvl="0" algn="r">
              <a:lnSpc>
                <a:spcPct val="100000"/>
              </a:lnSpc>
              <a:buSzTx/>
            </a:pPr>
            <a:r>
              <a:rPr lang="zh-CN" altLang="en-US" sz="1400" dirty="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全栈信创与模型兼容</a:t>
            </a:r>
            <a:endParaRPr lang="zh-CN" altLang="en-US" sz="1400" dirty="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80" name="标题 1"/>
          <p:cNvSpPr txBox="1"/>
          <p:nvPr/>
        </p:nvSpPr>
        <p:spPr>
          <a:xfrm>
            <a:off x="1111250" y="4784725"/>
            <a:ext cx="1992630" cy="3403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企业级运维与权限</a:t>
            </a:r>
            <a:endParaRPr lang="zh-CN" altLang="en-US" sz="1400" dirty="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759460" y="5048885"/>
            <a:ext cx="4561205" cy="932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一键部署上线，环境自动适配，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图形化界面让用户告别命令行；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7×24 小时稳定运行，纯内网本地算力无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Token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 限制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；</a:t>
            </a:r>
            <a:endParaRPr lang="en-US" sz="1200" b="0" i="0" u="none" strike="noStrike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· 班组 / 工区 / 公司多级权限，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  <a:sym typeface="思源黑体 Light" panose="020B0300000000000000" charset="-122"/>
              </a:rPr>
              <a:t>支持统一配置管理和审计。</a:t>
            </a:r>
            <a:endParaRPr lang="zh-CN" altLang="en-US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n-lt"/>
              <a:cs typeface="+mn-lt"/>
              <a:sym typeface="思源黑体 Light" panose="020B0300000000000000" charset="-122"/>
            </a:endParaRPr>
          </a:p>
        </p:txBody>
      </p:sp>
      <p:sp>
        <p:nvSpPr>
          <p:cNvPr id="84" name="圆角矩形 359"/>
          <p:cNvSpPr/>
          <p:nvPr/>
        </p:nvSpPr>
        <p:spPr bwMode="auto">
          <a:xfrm>
            <a:off x="882650" y="2103120"/>
            <a:ext cx="299720" cy="16510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  01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85" name="圆角矩形 359"/>
          <p:cNvSpPr/>
          <p:nvPr/>
        </p:nvSpPr>
        <p:spPr bwMode="auto">
          <a:xfrm>
            <a:off x="11057890" y="2092960"/>
            <a:ext cx="299720" cy="16510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  <a:alpha val="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    02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86" name="圆角矩形 359"/>
          <p:cNvSpPr/>
          <p:nvPr/>
        </p:nvSpPr>
        <p:spPr bwMode="auto">
          <a:xfrm>
            <a:off x="882650" y="3444240"/>
            <a:ext cx="299720" cy="16510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  03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87" name="圆角矩形 359"/>
          <p:cNvSpPr/>
          <p:nvPr/>
        </p:nvSpPr>
        <p:spPr bwMode="auto">
          <a:xfrm>
            <a:off x="882650" y="4862830"/>
            <a:ext cx="299720" cy="16510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  05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89" name="圆角矩形 359"/>
          <p:cNvSpPr/>
          <p:nvPr/>
        </p:nvSpPr>
        <p:spPr bwMode="auto">
          <a:xfrm>
            <a:off x="11057890" y="3456940"/>
            <a:ext cx="299720" cy="16510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  <a:alpha val="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    04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90" name="圆角矩形 359"/>
          <p:cNvSpPr/>
          <p:nvPr/>
        </p:nvSpPr>
        <p:spPr bwMode="auto">
          <a:xfrm>
            <a:off x="11057890" y="4879975"/>
            <a:ext cx="299720" cy="165100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  <a:alpha val="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    06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98475" y="588645"/>
            <a:ext cx="7955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defTabSz="914400">
              <a:buClrTx/>
              <a:buSzTx/>
              <a:buFontTx/>
            </a:pPr>
            <a:r>
              <a:rPr lang="zh-CN" altLang="en-US" sz="2800" kern="12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从智能体平台到 Agentic OS</a:t>
            </a:r>
            <a:endParaRPr lang="zh-CN" altLang="en-US" sz="2800" kern="1200" dirty="0">
              <a:solidFill>
                <a:srgbClr val="02191F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39" name="矩形: 圆角 4"/>
          <p:cNvSpPr/>
          <p:nvPr>
            <p:custDataLst>
              <p:tags r:id="rId2"/>
            </p:custDataLst>
          </p:nvPr>
        </p:nvSpPr>
        <p:spPr>
          <a:xfrm>
            <a:off x="365760" y="1242695"/>
            <a:ext cx="11423015" cy="42227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8FA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>
            <a:outerShdw blurRad="215900" dist="25400" dir="2700000" sx="101000" sy="101000" algn="tl" rotWithShape="0">
              <a:schemeClr val="tx2">
                <a:lumMod val="40000"/>
                <a:lumOff val="60000"/>
                <a:alpha val="3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05000"/>
              </a:lnSpc>
              <a:defRPr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电力行业的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Agent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操作系统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——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统一管理模型、算力、工具、数据、记忆、技能，让业务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Agent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开箱即跑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27" name="梯形 26"/>
          <p:cNvSpPr/>
          <p:nvPr/>
        </p:nvSpPr>
        <p:spPr>
          <a:xfrm>
            <a:off x="367030" y="5207000"/>
            <a:ext cx="11421745" cy="321310"/>
          </a:xfrm>
          <a:prstGeom prst="trapezoid">
            <a:avLst>
              <a:gd name="adj" fmla="val 133982"/>
            </a:avLst>
          </a:prstGeom>
          <a:gradFill>
            <a:gsLst>
              <a:gs pos="0">
                <a:srgbClr val="1D78FA">
                  <a:alpha val="0"/>
                </a:srgbClr>
              </a:gs>
              <a:gs pos="100000">
                <a:srgbClr val="1D78FA">
                  <a:alpha val="30000"/>
                </a:srgbClr>
              </a:gs>
            </a:gsLst>
            <a:lin ang="5400000" scaled="1"/>
          </a:gradFill>
          <a:ln w="2540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365760" y="5528945"/>
            <a:ext cx="11423650" cy="1255395"/>
          </a:xfrm>
          <a:prstGeom prst="roundRect">
            <a:avLst>
              <a:gd name="adj" fmla="val 0"/>
            </a:avLst>
          </a:prstGeom>
          <a:gradFill>
            <a:gsLst>
              <a:gs pos="19000">
                <a:srgbClr val="2946ED"/>
              </a:gs>
              <a:gs pos="100000">
                <a:srgbClr val="4294FF"/>
              </a:gs>
            </a:gsLst>
            <a:path path="circle">
              <a:fillToRect r="100000" b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endParaRPr lang="en-US" altLang="en-US" sz="1800" kern="0">
              <a:solidFill>
                <a:srgbClr val="FFFFFF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Light" panose="020B0300000000000000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5760" y="1788160"/>
            <a:ext cx="11423015" cy="616585"/>
            <a:chOff x="576" y="2906"/>
            <a:chExt cx="17989" cy="971"/>
          </a:xfrm>
        </p:grpSpPr>
        <p:sp>
          <p:nvSpPr>
            <p:cNvPr id="54" name="圆角矩形 359"/>
            <p:cNvSpPr/>
            <p:nvPr/>
          </p:nvSpPr>
          <p:spPr bwMode="auto">
            <a:xfrm>
              <a:off x="576" y="2906"/>
              <a:ext cx="2195" cy="971"/>
            </a:xfrm>
            <a:prstGeom prst="roundRect">
              <a:avLst>
                <a:gd name="adj" fmla="val 6818"/>
              </a:avLst>
            </a:prstGeom>
            <a:gradFill>
              <a:gsLst>
                <a:gs pos="23000">
                  <a:srgbClr val="0461F5"/>
                </a:gs>
                <a:gs pos="100000">
                  <a:srgbClr val="0461F5">
                    <a:lumMod val="60000"/>
                    <a:lumOff val="40000"/>
                  </a:srgbClr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25400" stA="52000" endA="300" endPos="12000" dist="127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Regular" panose="020B0500000000000000" charset="-122"/>
                  <a:ea typeface="思源黑体 Regular" panose="020B0500000000000000" charset="-122"/>
                  <a:cs typeface="思源黑体 Regular" panose="020B0500000000000000" charset="-122"/>
                </a:rPr>
                <a:t>应用层</a:t>
              </a:r>
              <a:endPara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  <p:sp>
          <p:nvSpPr>
            <p:cNvPr id="2" name="圆角矩形 1"/>
            <p:cNvSpPr/>
            <p:nvPr/>
          </p:nvSpPr>
          <p:spPr>
            <a:xfrm>
              <a:off x="3025" y="2907"/>
              <a:ext cx="15541" cy="971"/>
            </a:xfrm>
            <a:prstGeom prst="roundRect">
              <a:avLst>
                <a:gd name="adj" fmla="val 2225"/>
              </a:avLst>
            </a:prstGeom>
            <a:solidFill>
              <a:srgbClr val="C2DBEF">
                <a:alpha val="28000"/>
              </a:srgbClr>
            </a:solidFill>
            <a:ln w="6350" cap="flat">
              <a:solidFill>
                <a:srgbClr val="1D78FA"/>
              </a:solidFill>
              <a:prstDash val="dash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60959" tIns="60959" rIns="60959" bIns="60959" numCol="1" spcCol="38100" rtlCol="0" anchor="ctr">
              <a:noAutofit/>
            </a:bodyPr>
            <a:lstStyle/>
            <a:p>
              <a:pPr indent="0" algn="l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思源黑体 Regular" panose="020B0500000000000000" charset="-122"/>
                <a:buNone/>
                <a:defRPr/>
              </a:pPr>
              <a:endParaRPr lang="en-US" altLang="zh-CN" sz="1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+mn-ea"/>
                <a:sym typeface="思源黑体 Regular" panose="020B0500000000000000" charset="-122"/>
              </a:endParaRPr>
            </a:p>
          </p:txBody>
        </p:sp>
        <p:sp>
          <p:nvSpPr>
            <p:cNvPr id="3" name="矩形: 圆角 15"/>
            <p:cNvSpPr/>
            <p:nvPr/>
          </p:nvSpPr>
          <p:spPr>
            <a:xfrm>
              <a:off x="3267" y="3127"/>
              <a:ext cx="2627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运检 </a:t>
              </a:r>
              <a:r>
                <a:rPr kumimoji="1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Agent 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  <p:sp>
          <p:nvSpPr>
            <p:cNvPr id="57" name="矩形: 圆角 15"/>
            <p:cNvSpPr/>
            <p:nvPr/>
          </p:nvSpPr>
          <p:spPr>
            <a:xfrm>
              <a:off x="6161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营销 </a:t>
              </a:r>
              <a:r>
                <a:rPr kumimoji="1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Agent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endParaRPr>
            </a:p>
          </p:txBody>
        </p:sp>
        <p:sp>
          <p:nvSpPr>
            <p:cNvPr id="58" name="矩形: 圆角 15"/>
            <p:cNvSpPr/>
            <p:nvPr/>
          </p:nvSpPr>
          <p:spPr>
            <a:xfrm>
              <a:off x="9054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 调控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Agent 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endParaRPr>
            </a:p>
          </p:txBody>
        </p:sp>
        <p:sp>
          <p:nvSpPr>
            <p:cNvPr id="59" name="矩形: 圆角 15"/>
            <p:cNvSpPr/>
            <p:nvPr/>
          </p:nvSpPr>
          <p:spPr>
            <a:xfrm>
              <a:off x="11947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供服 </a:t>
              </a: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Agent </a:t>
              </a:r>
              <a:endPara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endParaRPr>
            </a:p>
          </p:txBody>
        </p:sp>
        <p:sp>
          <p:nvSpPr>
            <p:cNvPr id="61" name="矩形: 圆角 15"/>
            <p:cNvSpPr/>
            <p:nvPr/>
          </p:nvSpPr>
          <p:spPr>
            <a:xfrm>
              <a:off x="14840" y="3127"/>
              <a:ext cx="3390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 自定义业务 </a:t>
              </a:r>
              <a:r>
                <a:rPr kumimoji="1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Agent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66395" y="3975100"/>
            <a:ext cx="11423015" cy="616585"/>
            <a:chOff x="576" y="2906"/>
            <a:chExt cx="17989" cy="971"/>
          </a:xfrm>
        </p:grpSpPr>
        <p:sp>
          <p:nvSpPr>
            <p:cNvPr id="18" name="圆角矩形 359"/>
            <p:cNvSpPr/>
            <p:nvPr/>
          </p:nvSpPr>
          <p:spPr bwMode="auto">
            <a:xfrm>
              <a:off x="576" y="2906"/>
              <a:ext cx="2195" cy="971"/>
            </a:xfrm>
            <a:prstGeom prst="roundRect">
              <a:avLst>
                <a:gd name="adj" fmla="val 6818"/>
              </a:avLst>
            </a:prstGeom>
            <a:gradFill>
              <a:gsLst>
                <a:gs pos="23000">
                  <a:srgbClr val="0461F5"/>
                </a:gs>
                <a:gs pos="100000">
                  <a:srgbClr val="0461F5">
                    <a:lumMod val="60000"/>
                    <a:lumOff val="40000"/>
                  </a:srgbClr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25400" stA="52000" endA="300" endPos="12000" dist="127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Regular" panose="020B0500000000000000" charset="-122"/>
                  <a:ea typeface="思源黑体 Regular" panose="020B0500000000000000" charset="-122"/>
                  <a:cs typeface="思源黑体 Regular" panose="020B0500000000000000" charset="-122"/>
                </a:rPr>
                <a:t>模型层</a:t>
              </a:r>
              <a:endPara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3025" y="2907"/>
              <a:ext cx="15541" cy="971"/>
            </a:xfrm>
            <a:prstGeom prst="roundRect">
              <a:avLst>
                <a:gd name="adj" fmla="val 2225"/>
              </a:avLst>
            </a:prstGeom>
            <a:solidFill>
              <a:srgbClr val="C2DBEF">
                <a:alpha val="28000"/>
              </a:srgbClr>
            </a:solidFill>
            <a:ln w="6350" cap="flat">
              <a:solidFill>
                <a:srgbClr val="1D78FA"/>
              </a:solidFill>
              <a:prstDash val="dash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60959" tIns="60959" rIns="60959" bIns="60959" numCol="1" spcCol="38100" rtlCol="0" anchor="ctr">
              <a:noAutofit/>
            </a:bodyPr>
            <a:lstStyle/>
            <a:p>
              <a:pPr indent="0" algn="l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思源黑体 Regular" panose="020B0500000000000000" charset="-122"/>
                <a:buNone/>
                <a:defRPr/>
              </a:pPr>
              <a:endParaRPr lang="en-US" altLang="zh-CN" sz="1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+mn-ea"/>
                <a:sym typeface="思源黑体 Regular" panose="020B0500000000000000" charset="-122"/>
              </a:endParaRPr>
            </a:p>
          </p:txBody>
        </p:sp>
        <p:sp>
          <p:nvSpPr>
            <p:cNvPr id="20" name="矩形: 圆角 15"/>
            <p:cNvSpPr/>
            <p:nvPr/>
          </p:nvSpPr>
          <p:spPr>
            <a:xfrm>
              <a:off x="3267" y="3127"/>
              <a:ext cx="2627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模型适配</a:t>
              </a:r>
              <a:r>
                <a:rPr kumimoji="1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 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  <p:sp>
          <p:nvSpPr>
            <p:cNvPr id="21" name="矩形: 圆角 15"/>
            <p:cNvSpPr/>
            <p:nvPr/>
          </p:nvSpPr>
          <p:spPr>
            <a:xfrm>
              <a:off x="6161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模型管理 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endParaRPr>
            </a:p>
          </p:txBody>
        </p:sp>
        <p:sp>
          <p:nvSpPr>
            <p:cNvPr id="22" name="矩形: 圆角 15"/>
            <p:cNvSpPr/>
            <p:nvPr/>
          </p:nvSpPr>
          <p:spPr>
            <a:xfrm>
              <a:off x="9054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 </a:t>
              </a: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微调训练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endParaRPr>
            </a:p>
          </p:txBody>
        </p:sp>
        <p:sp>
          <p:nvSpPr>
            <p:cNvPr id="23" name="矩形: 圆角 15"/>
            <p:cNvSpPr/>
            <p:nvPr/>
          </p:nvSpPr>
          <p:spPr>
            <a:xfrm>
              <a:off x="11947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推理优化 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endParaRPr>
            </a:p>
          </p:txBody>
        </p:sp>
        <p:sp>
          <p:nvSpPr>
            <p:cNvPr id="24" name="矩形: 圆角 15"/>
            <p:cNvSpPr/>
            <p:nvPr/>
          </p:nvSpPr>
          <p:spPr>
            <a:xfrm>
              <a:off x="14840" y="3127"/>
              <a:ext cx="3390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108000"/>
                </a:lnSpc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 </a:t>
              </a: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多模型路由切换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65760" y="4714875"/>
            <a:ext cx="11423015" cy="616585"/>
            <a:chOff x="576" y="2906"/>
            <a:chExt cx="17989" cy="971"/>
          </a:xfrm>
        </p:grpSpPr>
        <p:sp>
          <p:nvSpPr>
            <p:cNvPr id="32" name="圆角矩形 359"/>
            <p:cNvSpPr/>
            <p:nvPr/>
          </p:nvSpPr>
          <p:spPr bwMode="auto">
            <a:xfrm>
              <a:off x="576" y="2906"/>
              <a:ext cx="2195" cy="971"/>
            </a:xfrm>
            <a:prstGeom prst="roundRect">
              <a:avLst>
                <a:gd name="adj" fmla="val 6818"/>
              </a:avLst>
            </a:prstGeom>
            <a:gradFill>
              <a:gsLst>
                <a:gs pos="23000">
                  <a:srgbClr val="0461F5"/>
                </a:gs>
                <a:gs pos="100000">
                  <a:srgbClr val="0461F5">
                    <a:lumMod val="60000"/>
                    <a:lumOff val="40000"/>
                  </a:srgbClr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25400" stA="52000" endA="300" endPos="12000" dist="127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Regular" panose="020B0500000000000000" charset="-122"/>
                  <a:ea typeface="思源黑体 Regular" panose="020B0500000000000000" charset="-122"/>
                  <a:cs typeface="思源黑体 Regular" panose="020B0500000000000000" charset="-122"/>
                </a:rPr>
                <a:t>基础</a:t>
              </a:r>
              <a:endPara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Regular" panose="020B0500000000000000" charset="-122"/>
                  <a:ea typeface="思源黑体 Regular" panose="020B0500000000000000" charset="-122"/>
                  <a:cs typeface="思源黑体 Regular" panose="020B0500000000000000" charset="-122"/>
                </a:rPr>
                <a:t>设置层</a:t>
              </a:r>
              <a:endPara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3025" y="2907"/>
              <a:ext cx="15541" cy="971"/>
            </a:xfrm>
            <a:prstGeom prst="roundRect">
              <a:avLst>
                <a:gd name="adj" fmla="val 2225"/>
              </a:avLst>
            </a:prstGeom>
            <a:solidFill>
              <a:srgbClr val="C2DBEF">
                <a:alpha val="28000"/>
              </a:srgbClr>
            </a:solidFill>
            <a:ln w="6350" cap="flat">
              <a:solidFill>
                <a:srgbClr val="1D78FA"/>
              </a:solidFill>
              <a:prstDash val="dash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60959" tIns="60959" rIns="60959" bIns="60959" numCol="1" spcCol="38100" rtlCol="0" anchor="ctr">
              <a:noAutofit/>
            </a:bodyPr>
            <a:lstStyle/>
            <a:p>
              <a:pPr indent="0" algn="l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思源黑体 Regular" panose="020B0500000000000000" charset="-122"/>
                <a:buNone/>
                <a:defRPr/>
              </a:pPr>
              <a:endParaRPr lang="en-US" altLang="zh-CN" sz="1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+mn-ea"/>
                <a:sym typeface="思源黑体 Regular" panose="020B0500000000000000" charset="-122"/>
              </a:endParaRPr>
            </a:p>
          </p:txBody>
        </p:sp>
        <p:sp>
          <p:nvSpPr>
            <p:cNvPr id="35" name="矩形: 圆角 15"/>
            <p:cNvSpPr/>
            <p:nvPr/>
          </p:nvSpPr>
          <p:spPr>
            <a:xfrm>
              <a:off x="3267" y="3127"/>
              <a:ext cx="2627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  <a:sym typeface="思源黑体 Light" panose="020B0300000000000000" charset="-122"/>
                </a:rPr>
                <a:t>算力调度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endParaRPr>
            </a:p>
          </p:txBody>
        </p:sp>
        <p:sp>
          <p:nvSpPr>
            <p:cNvPr id="36" name="矩形: 圆角 15"/>
            <p:cNvSpPr/>
            <p:nvPr/>
          </p:nvSpPr>
          <p:spPr>
            <a:xfrm>
              <a:off x="6161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 存储管理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endParaRPr>
            </a:p>
          </p:txBody>
        </p:sp>
        <p:sp>
          <p:nvSpPr>
            <p:cNvPr id="37" name="矩形: 圆角 15"/>
            <p:cNvSpPr/>
            <p:nvPr/>
          </p:nvSpPr>
          <p:spPr>
            <a:xfrm>
              <a:off x="9054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 </a:t>
              </a: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网络通信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endParaRPr>
            </a:p>
          </p:txBody>
        </p:sp>
        <p:sp>
          <p:nvSpPr>
            <p:cNvPr id="38" name="矩形: 圆角 15"/>
            <p:cNvSpPr/>
            <p:nvPr/>
          </p:nvSpPr>
          <p:spPr>
            <a:xfrm>
              <a:off x="11947" y="3127"/>
              <a:ext cx="2626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  <a:sym typeface="思源黑体 Light" panose="020B0300000000000000" charset="-122"/>
                </a:rPr>
                <a:t>容器编排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endParaRPr>
            </a:p>
          </p:txBody>
        </p:sp>
        <p:sp>
          <p:nvSpPr>
            <p:cNvPr id="39" name="矩形: 圆角 15"/>
            <p:cNvSpPr/>
            <p:nvPr/>
          </p:nvSpPr>
          <p:spPr>
            <a:xfrm>
              <a:off x="14840" y="3127"/>
              <a:ext cx="3390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1000" sy="101000" algn="ctr" rotWithShape="0">
                <a:schemeClr val="accent1"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>
                <a:lnSpc>
                  <a:spcPct val="100000"/>
                </a:lnSpc>
                <a:buClrTx/>
                <a:buSzTx/>
                <a:buFontTx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+mn-ea"/>
                </a:rPr>
                <a:t> </a:t>
              </a:r>
              <a:r>
                <a:rPr kumimoji="1" lang="en-US" altLang="zh-CN" sz="1400" kern="12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  <a:sym typeface="思源黑体 Light" panose="020B0300000000000000" charset="-122"/>
                </a:rPr>
                <a:t>信创硬件适配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  <a:sym typeface="思源黑体 Light" panose="020B0300000000000000" charset="-122"/>
              </a:endParaRPr>
            </a:p>
          </p:txBody>
        </p:sp>
      </p:grpSp>
      <p:sp>
        <p:nvSpPr>
          <p:cNvPr id="41" name="AutoShape 30"/>
          <p:cNvSpPr/>
          <p:nvPr/>
        </p:nvSpPr>
        <p:spPr>
          <a:xfrm>
            <a:off x="571500" y="5528945"/>
            <a:ext cx="1092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i="0" u="none" strike="noStrike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Light" panose="020B0300000000000000" charset="-122"/>
              </a:rPr>
              <a:t>Agentic OS 的核心价值</a:t>
            </a:r>
            <a:endParaRPr lang="en-US" sz="1400" i="0" u="none" strike="noStrike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Light" panose="020B0300000000000000" charset="-122"/>
            </a:endParaRPr>
          </a:p>
        </p:txBody>
      </p:sp>
      <p:sp>
        <p:nvSpPr>
          <p:cNvPr id="45" name="AutoShape 32"/>
          <p:cNvSpPr/>
          <p:nvPr/>
        </p:nvSpPr>
        <p:spPr>
          <a:xfrm>
            <a:off x="3498850" y="5207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</a:pPr>
            <a:endParaRPr lang="en-US" sz="1100" b="0" i="0" u="none" strike="noStrike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47" name="AutoShape 34"/>
          <p:cNvSpPr/>
          <p:nvPr/>
        </p:nvSpPr>
        <p:spPr>
          <a:xfrm>
            <a:off x="8959850" y="5207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</a:pPr>
            <a:endParaRPr lang="en-US" sz="1100" b="0" i="0" u="none" strike="noStrike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365760" y="2527935"/>
            <a:ext cx="11423015" cy="1323975"/>
            <a:chOff x="576" y="4162"/>
            <a:chExt cx="17989" cy="2085"/>
          </a:xfrm>
        </p:grpSpPr>
        <p:sp>
          <p:nvSpPr>
            <p:cNvPr id="8" name="圆角矩形 359"/>
            <p:cNvSpPr/>
            <p:nvPr/>
          </p:nvSpPr>
          <p:spPr bwMode="auto">
            <a:xfrm>
              <a:off x="576" y="4162"/>
              <a:ext cx="2195" cy="2084"/>
            </a:xfrm>
            <a:prstGeom prst="roundRect">
              <a:avLst>
                <a:gd name="adj" fmla="val 5326"/>
              </a:avLst>
            </a:prstGeom>
            <a:gradFill>
              <a:gsLst>
                <a:gs pos="38000">
                  <a:srgbClr val="FEB900"/>
                </a:gs>
                <a:gs pos="100000">
                  <a:srgbClr val="FFDB8B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25400" stA="52000" endA="300" endPos="12000" dist="127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>
                    <a:outerShdw blurRad="25400" dist="38100" dir="5400000" algn="t" rotWithShape="0">
                      <a:prstClr val="black">
                        <a:alpha val="11000"/>
                      </a:prstClr>
                    </a:outerShdw>
                  </a:effectLst>
                  <a:uLnTx/>
                  <a:uFillTx/>
                  <a:latin typeface="思源黑体 Regular" panose="020B0500000000000000" charset="-122"/>
                  <a:ea typeface="思源黑体 Regular" panose="020B0500000000000000" charset="-122"/>
                  <a:cs typeface="思源黑体 Regular" panose="020B0500000000000000" charset="-122"/>
                </a:rPr>
                <a:t>能力层</a:t>
              </a:r>
              <a:endPara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25400" dist="38100" dir="5400000" algn="t" rotWithShape="0">
                    <a:prstClr val="black">
                      <a:alpha val="11000"/>
                    </a:prstClr>
                  </a:outerShdw>
                </a:effectLst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>
                    <a:outerShdw blurRad="25400" dist="38100" dir="5400000" algn="t" rotWithShape="0">
                      <a:prstClr val="black">
                        <a:alpha val="11000"/>
                      </a:prstClr>
                    </a:outerShdw>
                  </a:effectLst>
                  <a:uLnTx/>
                  <a:uFillTx/>
                  <a:latin typeface="思源黑体 Regular" panose="020B0500000000000000" charset="-122"/>
                  <a:ea typeface="思源黑体 Regular" panose="020B0500000000000000" charset="-122"/>
                  <a:cs typeface="思源黑体 Regular" panose="020B0500000000000000" charset="-122"/>
                </a:rPr>
                <a:t>（核心）</a:t>
              </a:r>
              <a:endParaRPr kumimoji="0" lang="zh-CN" altLang="en-US" sz="16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25400" dist="38100" dir="5400000" algn="t" rotWithShape="0">
                    <a:prstClr val="black">
                      <a:alpha val="11000"/>
                    </a:prstClr>
                  </a:outerShdw>
                </a:effectLst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025" y="4163"/>
              <a:ext cx="15541" cy="2084"/>
            </a:xfrm>
            <a:prstGeom prst="roundRect">
              <a:avLst>
                <a:gd name="adj" fmla="val 2225"/>
              </a:avLst>
            </a:prstGeom>
            <a:solidFill>
              <a:srgbClr val="FFCF4D">
                <a:alpha val="21000"/>
              </a:srgbClr>
            </a:solidFill>
            <a:ln w="6350" cap="flat">
              <a:solidFill>
                <a:srgbClr val="FFC000"/>
              </a:solidFill>
              <a:prstDash val="dash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60959" tIns="60959" rIns="60959" bIns="60959" numCol="1" spcCol="38100" rtlCol="0" anchor="ctr">
              <a:noAutofit/>
            </a:bodyPr>
            <a:lstStyle/>
            <a:p>
              <a:pPr indent="0" algn="l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思源黑体 Regular" panose="020B0500000000000000" charset="-122"/>
                <a:buNone/>
                <a:defRPr/>
              </a:pPr>
              <a:endParaRPr lang="en-US" altLang="zh-CN" sz="1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+mn-ea"/>
                <a:sym typeface="思源黑体 Regular" panose="020B0500000000000000" charset="-122"/>
              </a:endParaRPr>
            </a:p>
          </p:txBody>
        </p:sp>
        <p:sp>
          <p:nvSpPr>
            <p:cNvPr id="10" name="矩形: 圆角 15"/>
            <p:cNvSpPr/>
            <p:nvPr/>
          </p:nvSpPr>
          <p:spPr>
            <a:xfrm>
              <a:off x="3268" y="4841"/>
              <a:ext cx="2177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短期/长期记忆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267" y="4282"/>
              <a:ext cx="2179" cy="56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Regular" panose="020B0500000000000000" charset="-122"/>
                  <a:sym typeface="+mn-ea"/>
                </a:rPr>
                <a:t>记忆系统</a:t>
              </a:r>
              <a:endParaRPr kumimoji="1" lang="zh-CN" altLang="en-US" sz="14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endParaRPr>
            </a:p>
          </p:txBody>
        </p:sp>
        <p:sp>
          <p:nvSpPr>
            <p:cNvPr id="91" name="矩形: 圆角 15"/>
            <p:cNvSpPr/>
            <p:nvPr/>
          </p:nvSpPr>
          <p:spPr>
            <a:xfrm>
              <a:off x="3268" y="5512"/>
              <a:ext cx="2177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</a:rPr>
                <a:t>会话压缩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</a:endParaRPr>
            </a:p>
          </p:txBody>
        </p:sp>
        <p:sp>
          <p:nvSpPr>
            <p:cNvPr id="94" name="矩形: 圆角 15"/>
            <p:cNvSpPr/>
            <p:nvPr/>
          </p:nvSpPr>
          <p:spPr>
            <a:xfrm>
              <a:off x="5789" y="4841"/>
              <a:ext cx="2039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</a:rPr>
                <a:t>Plan-ReAct</a:t>
              </a:r>
              <a:endPara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5788" y="4282"/>
              <a:ext cx="2041" cy="56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Regular" panose="020B0500000000000000" charset="-122"/>
                  <a:sym typeface="+mn-ea"/>
                </a:rPr>
                <a:t>规划引擎</a:t>
              </a:r>
              <a:endParaRPr kumimoji="1" lang="zh-CN" altLang="en-US" sz="14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endParaRPr>
            </a:p>
          </p:txBody>
        </p:sp>
        <p:sp>
          <p:nvSpPr>
            <p:cNvPr id="96" name="矩形: 圆角 15"/>
            <p:cNvSpPr/>
            <p:nvPr/>
          </p:nvSpPr>
          <p:spPr>
            <a:xfrm>
              <a:off x="5789" y="5512"/>
              <a:ext cx="2039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</a:rPr>
                <a:t>动态路径调整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</a:endParaRPr>
            </a:p>
          </p:txBody>
        </p:sp>
        <p:sp>
          <p:nvSpPr>
            <p:cNvPr id="98" name="矩形: 圆角 15"/>
            <p:cNvSpPr/>
            <p:nvPr/>
          </p:nvSpPr>
          <p:spPr>
            <a:xfrm>
              <a:off x="8172" y="4841"/>
              <a:ext cx="2332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MCP </a:t>
              </a: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协议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8171" y="4282"/>
              <a:ext cx="2211" cy="56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Regular" panose="020B0500000000000000" charset="-122"/>
                  <a:sym typeface="+mn-ea"/>
                </a:rPr>
                <a:t>工具管理</a:t>
              </a:r>
              <a:endParaRPr kumimoji="1" lang="zh-CN" altLang="en-US" sz="14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endParaRPr>
            </a:p>
          </p:txBody>
        </p:sp>
        <p:sp>
          <p:nvSpPr>
            <p:cNvPr id="100" name="矩形: 圆角 15"/>
            <p:cNvSpPr/>
            <p:nvPr/>
          </p:nvSpPr>
          <p:spPr>
            <a:xfrm>
              <a:off x="8172" y="5512"/>
              <a:ext cx="2332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 插件化注册调用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  <p:sp>
          <p:nvSpPr>
            <p:cNvPr id="102" name="矩形: 圆角 15"/>
            <p:cNvSpPr/>
            <p:nvPr/>
          </p:nvSpPr>
          <p:spPr>
            <a:xfrm>
              <a:off x="10848" y="4841"/>
              <a:ext cx="2332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</a:rPr>
                <a:t>渐进加载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10847" y="4282"/>
              <a:ext cx="2211" cy="56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Regular" panose="020B0500000000000000" charset="-122"/>
                  <a:sym typeface="+mn-ea"/>
                </a:rPr>
                <a:t>技能市场</a:t>
              </a:r>
              <a:endParaRPr kumimoji="1" lang="zh-CN" altLang="en-US" sz="14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endParaRPr>
            </a:p>
          </p:txBody>
        </p:sp>
        <p:sp>
          <p:nvSpPr>
            <p:cNvPr id="104" name="矩形: 圆角 15"/>
            <p:cNvSpPr/>
            <p:nvPr/>
          </p:nvSpPr>
          <p:spPr>
            <a:xfrm>
              <a:off x="10848" y="5512"/>
              <a:ext cx="2332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 记忆→技能转化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  <p:sp>
          <p:nvSpPr>
            <p:cNvPr id="106" name="矩形: 圆角 15"/>
            <p:cNvSpPr/>
            <p:nvPr/>
          </p:nvSpPr>
          <p:spPr>
            <a:xfrm>
              <a:off x="13523" y="4841"/>
              <a:ext cx="2163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</a:rPr>
                <a:t>任务拆解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3523" y="4282"/>
              <a:ext cx="2163" cy="560"/>
            </a:xfrm>
            <a:prstGeom prst="rect">
              <a:avLst/>
            </a:prstGeom>
            <a:noFill/>
          </p:spPr>
          <p:txBody>
            <a:bodyPr wrap="square" lIns="0" r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Medium" panose="020B0600000000000000" charset="-122"/>
                  <a:sym typeface="+mn-ea"/>
                </a:rPr>
                <a:t>Subagent </a:t>
              </a:r>
              <a:r>
                <a:rPr kumimoji="1" lang="zh-CN" altLang="en-US" sz="14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Medium" panose="020B0600000000000000" charset="-122"/>
                  <a:sym typeface="+mn-ea"/>
                </a:rPr>
                <a:t>调度</a:t>
              </a:r>
              <a:endParaRPr kumimoji="1" lang="zh-CN" altLang="en-US" sz="14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endParaRPr>
            </a:p>
          </p:txBody>
        </p:sp>
        <p:sp>
          <p:nvSpPr>
            <p:cNvPr id="108" name="矩形: 圆角 15"/>
            <p:cNvSpPr/>
            <p:nvPr/>
          </p:nvSpPr>
          <p:spPr>
            <a:xfrm>
              <a:off x="13523" y="5512"/>
              <a:ext cx="2163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 并行隔离执行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  <p:sp>
          <p:nvSpPr>
            <p:cNvPr id="110" name="矩形: 圆角 15"/>
            <p:cNvSpPr/>
            <p:nvPr/>
          </p:nvSpPr>
          <p:spPr>
            <a:xfrm>
              <a:off x="16029" y="4841"/>
              <a:ext cx="2163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思源黑体 Regular" panose="020B0500000000000000" charset="-122"/>
                </a:rPr>
                <a:t>按需加载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16029" y="4282"/>
              <a:ext cx="2163" cy="560"/>
            </a:xfrm>
            <a:prstGeom prst="rect">
              <a:avLst/>
            </a:prstGeom>
            <a:noFill/>
          </p:spPr>
          <p:txBody>
            <a:bodyPr wrap="square" lIns="0" r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思源黑体 Medium" panose="020B0600000000000000" charset="-122"/>
                  <a:ea typeface="思源黑体 Medium" panose="020B0600000000000000" charset="-122"/>
                  <a:cs typeface="思源黑体 Regular" panose="020B0500000000000000" charset="-122"/>
                  <a:sym typeface="+mn-ea"/>
                </a:rPr>
                <a:t>上下文管理</a:t>
              </a:r>
              <a:endParaRPr kumimoji="1" lang="zh-CN" altLang="en-US" sz="14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endParaRPr>
            </a:p>
          </p:txBody>
        </p:sp>
        <p:sp>
          <p:nvSpPr>
            <p:cNvPr id="112" name="矩形: 圆角 15"/>
            <p:cNvSpPr/>
            <p:nvPr/>
          </p:nvSpPr>
          <p:spPr>
            <a:xfrm>
              <a:off x="16029" y="5512"/>
              <a:ext cx="2163" cy="554"/>
            </a:xfrm>
            <a:prstGeom prst="roundRect">
              <a:avLst>
                <a:gd name="adj" fmla="val 6022"/>
              </a:avLst>
            </a:prstGeom>
            <a:solidFill>
              <a:schemeClr val="bg1"/>
            </a:solidFill>
            <a:ln w="6350">
              <a:noFill/>
              <a:prstDash val="solid"/>
            </a:ln>
            <a:effectLst>
              <a:outerShdw blurRad="101600" sx="101000" sy="101000" algn="ctr" rotWithShape="0">
                <a:srgbClr val="FFC000">
                  <a:alpha val="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25000"/>
                    </a:srgbClr>
                  </a:solidFill>
                  <a:effectLst/>
                  <a:uLnTx/>
                  <a:uFillTx/>
                  <a:latin typeface="+mj-lt"/>
                  <a:ea typeface="+mj-lt"/>
                  <a:cs typeface="+mj-lt"/>
                </a:rPr>
                <a:t> 防溢出失焦</a:t>
              </a:r>
              <a:endPara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+mj-lt"/>
              </a:endParaRPr>
            </a:p>
          </p:txBody>
        </p:sp>
      </p:grpSp>
      <p:sp>
        <p:nvSpPr>
          <p:cNvPr id="393" name="文本框 392"/>
          <p:cNvSpPr txBox="1"/>
          <p:nvPr/>
        </p:nvSpPr>
        <p:spPr>
          <a:xfrm>
            <a:off x="622935" y="5923915"/>
            <a:ext cx="2628000" cy="762635"/>
          </a:xfrm>
          <a:prstGeom prst="roundRect">
            <a:avLst>
              <a:gd name="adj" fmla="val 8481"/>
            </a:avLst>
          </a:prstGeom>
          <a:noFill/>
          <a:ln w="6350">
            <a:solidFill>
              <a:schemeClr val="bg1"/>
            </a:solidFill>
            <a:prstDash val="dash"/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 u="none" strike="noStrike" cap="none" spc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ctr">
              <a:lnSpc>
                <a:spcPct val="117000"/>
              </a:lnSpc>
              <a:defRPr/>
            </a:pPr>
            <a:r>
              <a:rPr lang="en-US" sz="120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统一管理</a:t>
            </a:r>
            <a:endParaRPr 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27000"/>
              </a:lnSpc>
              <a:defRPr/>
            </a:pPr>
            <a:endParaRPr 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模型、工具、数据、记忆</a:t>
            </a:r>
            <a:r>
              <a:rPr lang="zh-CN" alt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、</a:t>
            </a:r>
            <a:endParaRPr lang="en-US" sz="1200" b="0" i="0" u="none" strike="noStrike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技能统一纳管，避免碎片化</a:t>
            </a:r>
            <a:endParaRPr lang="en-US" altLang="en-US" sz="1200" dirty="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3400795" y="5923915"/>
            <a:ext cx="2627630" cy="762635"/>
          </a:xfrm>
          <a:prstGeom prst="roundRect">
            <a:avLst>
              <a:gd name="adj" fmla="val 8481"/>
            </a:avLst>
          </a:prstGeom>
          <a:noFill/>
          <a:ln w="6350">
            <a:solidFill>
              <a:schemeClr val="bg1"/>
            </a:solidFill>
            <a:prstDash val="dash"/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 u="none" strike="noStrike" cap="none" spc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ctr">
              <a:lnSpc>
                <a:spcPct val="117000"/>
              </a:lnSpc>
              <a:defRPr/>
            </a:pPr>
            <a:r>
              <a:rPr lang="zh-CN" altLang="en-US" sz="120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弹性扩展</a:t>
            </a: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27000"/>
              </a:lnSpc>
              <a:defRPr/>
            </a:pP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插件化架构，能力按需加载</a:t>
            </a:r>
            <a:endParaRPr lang="en-US" sz="1200" b="0" i="0" u="none" strike="noStrike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新业务</a:t>
            </a:r>
            <a:r>
              <a:rPr lang="zh-CN" alt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、</a:t>
            </a: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新场景快速接入</a:t>
            </a:r>
            <a:endParaRPr lang="en-US" altLang="en-US" sz="1200" dirty="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178285" y="5924550"/>
            <a:ext cx="2627630" cy="762635"/>
          </a:xfrm>
          <a:prstGeom prst="roundRect">
            <a:avLst>
              <a:gd name="adj" fmla="val 8481"/>
            </a:avLst>
          </a:prstGeom>
          <a:noFill/>
          <a:ln w="6350">
            <a:solidFill>
              <a:schemeClr val="bg1"/>
            </a:solidFill>
            <a:prstDash val="dash"/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 u="none" strike="noStrike" cap="none" spc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ctr">
              <a:lnSpc>
                <a:spcPct val="117000"/>
              </a:lnSpc>
              <a:defRPr/>
            </a:pPr>
            <a:r>
              <a:rPr lang="zh-CN" altLang="en-US" sz="120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可观测可控</a:t>
            </a: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27000"/>
              </a:lnSpc>
              <a:defRPr/>
            </a:pP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执行链路追踪、性能监控</a:t>
            </a:r>
            <a:endParaRPr lang="en-US" sz="1200" b="0" i="0" u="none" strike="noStrike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成本统计、异常自动恢复</a:t>
            </a:r>
            <a:endParaRPr lang="en-US" altLang="en-US" sz="1200" dirty="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955775" y="5924550"/>
            <a:ext cx="2627630" cy="762635"/>
          </a:xfrm>
          <a:prstGeom prst="roundRect">
            <a:avLst>
              <a:gd name="adj" fmla="val 8481"/>
            </a:avLst>
          </a:prstGeom>
          <a:noFill/>
          <a:ln w="6350">
            <a:solidFill>
              <a:schemeClr val="bg1"/>
            </a:solidFill>
            <a:prstDash val="dash"/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 u="none" strike="noStrike" cap="none" spc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ctr">
              <a:lnSpc>
                <a:spcPct val="117000"/>
              </a:lnSpc>
              <a:defRPr/>
            </a:pPr>
            <a:r>
              <a:rPr lang="zh-CN" altLang="en-US" sz="120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安全内生</a:t>
            </a: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27000"/>
              </a:lnSpc>
              <a:defRPr/>
            </a:pP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安全治理贯穿全栈各层</a:t>
            </a:r>
            <a:endParaRPr lang="en-US" sz="1200" b="0" i="0" u="none" strike="noStrike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00">
                <a:solidFill>
                  <a:schemeClr val="bg1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不是外挂补丁，而是底层能力</a:t>
            </a:r>
            <a:endParaRPr lang="en-US" altLang="en-US" sz="1200" dirty="0">
              <a:solidFill>
                <a:schemeClr val="bg1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98475" y="588645"/>
            <a:ext cx="82594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defTabSz="914400">
              <a:buClrTx/>
              <a:buSzTx/>
              <a:buFontTx/>
            </a:pPr>
            <a:r>
              <a:rPr lang="zh-CN" altLang="en-US" sz="2800" kern="12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核心技术能力       </a:t>
            </a:r>
            <a:r>
              <a:rPr lang="zh-CN" altLang="en-US" sz="2800" kern="1200" dirty="0">
                <a:solidFill>
                  <a:srgbClr val="02191F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让 Agent 真正能干活</a:t>
            </a:r>
            <a:r>
              <a:rPr lang="zh-CN" altLang="en-US" sz="2800" kern="1200" dirty="0">
                <a:solidFill>
                  <a:srgbClr val="02191F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   </a:t>
            </a:r>
            <a:endParaRPr lang="zh-CN" altLang="en-US" sz="2800" kern="1200" dirty="0">
              <a:solidFill>
                <a:srgbClr val="02191F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</p:txBody>
      </p:sp>
      <p:sp>
        <p:nvSpPr>
          <p:cNvPr id="139" name="矩形: 圆角 4"/>
          <p:cNvSpPr/>
          <p:nvPr>
            <p:custDataLst>
              <p:tags r:id="rId2"/>
            </p:custDataLst>
          </p:nvPr>
        </p:nvSpPr>
        <p:spPr>
          <a:xfrm>
            <a:off x="365760" y="1242695"/>
            <a:ext cx="11423015" cy="42227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8FA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>
            <a:outerShdw blurRad="215900" dist="25400" dir="2700000" sx="101000" sy="101000" algn="tl" rotWithShape="0">
              <a:schemeClr val="tx2">
                <a:lumMod val="40000"/>
                <a:lumOff val="60000"/>
                <a:alpha val="3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05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不是简单的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LLM + Prompt，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而是围绕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Context / Tool / Memory / State / Verification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的完整工程体系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856865" y="722630"/>
            <a:ext cx="304165" cy="255270"/>
            <a:chOff x="3060" y="1138"/>
            <a:chExt cx="479" cy="402"/>
          </a:xfrm>
        </p:grpSpPr>
        <p:sp>
          <p:nvSpPr>
            <p:cNvPr id="15" name="箭头: 五边形 37"/>
            <p:cNvSpPr/>
            <p:nvPr>
              <p:custDataLst>
                <p:tags r:id="rId3"/>
              </p:custDataLst>
            </p:nvPr>
          </p:nvSpPr>
          <p:spPr>
            <a:xfrm>
              <a:off x="3165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8000">
                  <a:srgbClr val="DCEAFE">
                    <a:alpha val="0"/>
                  </a:srgbClr>
                </a:gs>
                <a:gs pos="100000">
                  <a:srgbClr val="A9C1E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endParaRPr>
            </a:p>
          </p:txBody>
        </p:sp>
        <p:sp>
          <p:nvSpPr>
            <p:cNvPr id="16" name="箭头: 五边形 37"/>
            <p:cNvSpPr/>
            <p:nvPr>
              <p:custDataLst>
                <p:tags r:id="rId4"/>
              </p:custDataLst>
            </p:nvPr>
          </p:nvSpPr>
          <p:spPr>
            <a:xfrm>
              <a:off x="3060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0">
                  <a:srgbClr val="DCEAFE">
                    <a:alpha val="0"/>
                  </a:srgbClr>
                </a:gs>
                <a:gs pos="100000">
                  <a:srgbClr val="A6C0E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endParaRPr>
            </a:p>
          </p:txBody>
        </p:sp>
      </p:grpSp>
      <p:sp>
        <p:nvSpPr>
          <p:cNvPr id="14" name="任意多边形: 形状 59"/>
          <p:cNvSpPr/>
          <p:nvPr/>
        </p:nvSpPr>
        <p:spPr>
          <a:xfrm>
            <a:off x="365760" y="1752600"/>
            <a:ext cx="3693795" cy="176530"/>
          </a:xfrm>
          <a:custGeom>
            <a:avLst/>
            <a:gdLst>
              <a:gd name="connsiteX0" fmla="*/ 107981 w 3249789"/>
              <a:gd name="connsiteY0" fmla="*/ 0 h 176306"/>
              <a:gd name="connsiteX1" fmla="*/ 3141808 w 3249789"/>
              <a:gd name="connsiteY1" fmla="*/ 0 h 176306"/>
              <a:gd name="connsiteX2" fmla="*/ 3249789 w 3249789"/>
              <a:gd name="connsiteY2" fmla="*/ 107981 h 176306"/>
              <a:gd name="connsiteX3" fmla="*/ 3249789 w 3249789"/>
              <a:gd name="connsiteY3" fmla="*/ 176306 h 176306"/>
              <a:gd name="connsiteX4" fmla="*/ 3141808 w 3249789"/>
              <a:gd name="connsiteY4" fmla="*/ 68325 h 176306"/>
              <a:gd name="connsiteX5" fmla="*/ 107981 w 3249789"/>
              <a:gd name="connsiteY5" fmla="*/ 68325 h 176306"/>
              <a:gd name="connsiteX6" fmla="*/ 0 w 3249789"/>
              <a:gd name="connsiteY6" fmla="*/ 176306 h 176306"/>
              <a:gd name="connsiteX7" fmla="*/ 0 w 3249789"/>
              <a:gd name="connsiteY7" fmla="*/ 107981 h 176306"/>
              <a:gd name="connsiteX8" fmla="*/ 107981 w 3249789"/>
              <a:gd name="connsiteY8" fmla="*/ 0 h 17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49789" h="176306">
                <a:moveTo>
                  <a:pt x="107981" y="0"/>
                </a:moveTo>
                <a:lnTo>
                  <a:pt x="3141808" y="0"/>
                </a:lnTo>
                <a:cubicBezTo>
                  <a:pt x="3201444" y="0"/>
                  <a:pt x="3249789" y="48345"/>
                  <a:pt x="3249789" y="107981"/>
                </a:cubicBezTo>
                <a:lnTo>
                  <a:pt x="3249789" y="176306"/>
                </a:lnTo>
                <a:cubicBezTo>
                  <a:pt x="3249789" y="116670"/>
                  <a:pt x="3201444" y="68325"/>
                  <a:pt x="3141808" y="68325"/>
                </a:cubicBezTo>
                <a:lnTo>
                  <a:pt x="107981" y="68325"/>
                </a:lnTo>
                <a:cubicBezTo>
                  <a:pt x="48345" y="68325"/>
                  <a:pt x="0" y="116670"/>
                  <a:pt x="0" y="176306"/>
                </a:cubicBezTo>
                <a:lnTo>
                  <a:pt x="0" y="107981"/>
                </a:lnTo>
                <a:cubicBezTo>
                  <a:pt x="0" y="48345"/>
                  <a:pt x="48345" y="0"/>
                  <a:pt x="107981" y="0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 Medium" panose="020B0600000000000000" charset="-122"/>
              <a:cs typeface="+mn-ea"/>
            </a:endParaRPr>
          </a:p>
        </p:txBody>
      </p:sp>
      <p:sp>
        <p:nvSpPr>
          <p:cNvPr id="25" name="矩形: 圆角 60"/>
          <p:cNvSpPr/>
          <p:nvPr/>
        </p:nvSpPr>
        <p:spPr>
          <a:xfrm>
            <a:off x="365760" y="1811655"/>
            <a:ext cx="3693795" cy="2260600"/>
          </a:xfrm>
          <a:prstGeom prst="roundRect">
            <a:avLst>
              <a:gd name="adj" fmla="val 681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20700" dist="38100" dir="5400000" algn="t" rotWithShape="0">
              <a:srgbClr val="0461F5">
                <a:alpha val="13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endParaRPr lang="en-US" sz="1800" kern="12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Medium" panose="020B0600000000000000" charset="-122"/>
              <a:cs typeface="+mn-ea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65760" y="1929130"/>
            <a:ext cx="36937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2" indent="0" algn="ctr" fontAlgn="auto"/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01</a:t>
            </a:r>
            <a:r>
              <a:rPr lang="en-US" altLang="zh-CN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 </a:t>
            </a:r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 动态规划与执行</a:t>
            </a:r>
            <a:endParaRPr lang="zh-CN" altLang="en-US" sz="1600" b="1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02590" y="2232025"/>
            <a:ext cx="3570605" cy="1666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lnSpc>
                <a:spcPct val="133000"/>
              </a:lnSpc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</a:t>
            </a:r>
            <a:r>
              <a:rPr 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 Plan-</a:t>
            </a:r>
            <a:r>
              <a:rPr lang="en-US" sz="1100" dirty="0" err="1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ReAct</a:t>
            </a:r>
            <a:r>
              <a:rPr 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 </a:t>
            </a:r>
            <a:r>
              <a:rPr lang="en-US" sz="1100" dirty="0" err="1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灵活切换</a:t>
            </a:r>
            <a:r>
              <a:rPr 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简单任务直接执行，复杂任务先规划；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marL="0" indent="0" algn="just">
              <a:lnSpc>
                <a:spcPct val="133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·执行中遇异常自动重新规划，不卡死在固定流程；</a:t>
            </a:r>
            <a:endParaRPr lang="zh-CN" altLang="en-US" sz="11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marL="0" indent="0" algn="just">
              <a:lnSpc>
                <a:spcPct val="133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PTC 模式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：长链路任务用脚本串联，减少模型交互轮次；</a:t>
            </a:r>
            <a:endParaRPr lang="zh-CN" altLang="en-US" sz="11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marL="0" indent="0" algn="just">
              <a:lnSpc>
                <a:spcPct val="133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区别于 Workflow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：Agent 能动态调整路径，不是走预设流程。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70" name="任意多边形: 形状 59"/>
          <p:cNvSpPr/>
          <p:nvPr/>
        </p:nvSpPr>
        <p:spPr>
          <a:xfrm>
            <a:off x="4232910" y="1752600"/>
            <a:ext cx="3693795" cy="176530"/>
          </a:xfrm>
          <a:custGeom>
            <a:avLst/>
            <a:gdLst>
              <a:gd name="connsiteX0" fmla="*/ 107981 w 3249789"/>
              <a:gd name="connsiteY0" fmla="*/ 0 h 176306"/>
              <a:gd name="connsiteX1" fmla="*/ 3141808 w 3249789"/>
              <a:gd name="connsiteY1" fmla="*/ 0 h 176306"/>
              <a:gd name="connsiteX2" fmla="*/ 3249789 w 3249789"/>
              <a:gd name="connsiteY2" fmla="*/ 107981 h 176306"/>
              <a:gd name="connsiteX3" fmla="*/ 3249789 w 3249789"/>
              <a:gd name="connsiteY3" fmla="*/ 176306 h 176306"/>
              <a:gd name="connsiteX4" fmla="*/ 3141808 w 3249789"/>
              <a:gd name="connsiteY4" fmla="*/ 68325 h 176306"/>
              <a:gd name="connsiteX5" fmla="*/ 107981 w 3249789"/>
              <a:gd name="connsiteY5" fmla="*/ 68325 h 176306"/>
              <a:gd name="connsiteX6" fmla="*/ 0 w 3249789"/>
              <a:gd name="connsiteY6" fmla="*/ 176306 h 176306"/>
              <a:gd name="connsiteX7" fmla="*/ 0 w 3249789"/>
              <a:gd name="connsiteY7" fmla="*/ 107981 h 176306"/>
              <a:gd name="connsiteX8" fmla="*/ 107981 w 3249789"/>
              <a:gd name="connsiteY8" fmla="*/ 0 h 17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49789" h="176306">
                <a:moveTo>
                  <a:pt x="107981" y="0"/>
                </a:moveTo>
                <a:lnTo>
                  <a:pt x="3141808" y="0"/>
                </a:lnTo>
                <a:cubicBezTo>
                  <a:pt x="3201444" y="0"/>
                  <a:pt x="3249789" y="48345"/>
                  <a:pt x="3249789" y="107981"/>
                </a:cubicBezTo>
                <a:lnTo>
                  <a:pt x="3249789" y="176306"/>
                </a:lnTo>
                <a:cubicBezTo>
                  <a:pt x="3249789" y="116670"/>
                  <a:pt x="3201444" y="68325"/>
                  <a:pt x="3141808" y="68325"/>
                </a:cubicBezTo>
                <a:lnTo>
                  <a:pt x="107981" y="68325"/>
                </a:lnTo>
                <a:cubicBezTo>
                  <a:pt x="48345" y="68325"/>
                  <a:pt x="0" y="116670"/>
                  <a:pt x="0" y="176306"/>
                </a:cubicBezTo>
                <a:lnTo>
                  <a:pt x="0" y="107981"/>
                </a:lnTo>
                <a:cubicBezTo>
                  <a:pt x="0" y="48345"/>
                  <a:pt x="48345" y="0"/>
                  <a:pt x="107981" y="0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 Medium" panose="020B0600000000000000" charset="-122"/>
              <a:cs typeface="+mn-ea"/>
            </a:endParaRPr>
          </a:p>
        </p:txBody>
      </p:sp>
      <p:sp>
        <p:nvSpPr>
          <p:cNvPr id="71" name="矩形: 圆角 60"/>
          <p:cNvSpPr/>
          <p:nvPr/>
        </p:nvSpPr>
        <p:spPr>
          <a:xfrm>
            <a:off x="4232910" y="1811655"/>
            <a:ext cx="3693795" cy="2310765"/>
          </a:xfrm>
          <a:prstGeom prst="roundRect">
            <a:avLst>
              <a:gd name="adj" fmla="val 681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20700" dist="38100" dir="5400000" algn="t" rotWithShape="0">
              <a:srgbClr val="0461F5">
                <a:alpha val="13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endParaRPr lang="en-US" sz="1800" kern="12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Medium" panose="020B0600000000000000" charset="-122"/>
              <a:cs typeface="+mn-ea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232910" y="1929130"/>
            <a:ext cx="36937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2" indent="0" algn="ctr" fontAlgn="auto"/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0</a:t>
            </a:r>
            <a:r>
              <a:rPr lang="en-US" altLang="zh-CN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2</a:t>
            </a:r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 分层记忆系统</a:t>
            </a:r>
            <a:endParaRPr lang="zh-CN" altLang="en-US" sz="1600" b="1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269740" y="2232025"/>
            <a:ext cx="3570605" cy="1666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短期记忆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：当前会话上下文，滑动窗口 + 动态摘要压缩；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长期记忆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：用户偏好、业务知识、历史交互持久化存储；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组织记忆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：班组 / 工区 / 公司级知识沉淀，共享复用；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记忆 → 技能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：从反复交互中自动识别模式，沉淀为 Skill。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75" name="任意多边形: 形状 59"/>
          <p:cNvSpPr/>
          <p:nvPr/>
        </p:nvSpPr>
        <p:spPr>
          <a:xfrm>
            <a:off x="8100060" y="1752600"/>
            <a:ext cx="3693795" cy="176530"/>
          </a:xfrm>
          <a:custGeom>
            <a:avLst/>
            <a:gdLst>
              <a:gd name="connsiteX0" fmla="*/ 107981 w 3249789"/>
              <a:gd name="connsiteY0" fmla="*/ 0 h 176306"/>
              <a:gd name="connsiteX1" fmla="*/ 3141808 w 3249789"/>
              <a:gd name="connsiteY1" fmla="*/ 0 h 176306"/>
              <a:gd name="connsiteX2" fmla="*/ 3249789 w 3249789"/>
              <a:gd name="connsiteY2" fmla="*/ 107981 h 176306"/>
              <a:gd name="connsiteX3" fmla="*/ 3249789 w 3249789"/>
              <a:gd name="connsiteY3" fmla="*/ 176306 h 176306"/>
              <a:gd name="connsiteX4" fmla="*/ 3141808 w 3249789"/>
              <a:gd name="connsiteY4" fmla="*/ 68325 h 176306"/>
              <a:gd name="connsiteX5" fmla="*/ 107981 w 3249789"/>
              <a:gd name="connsiteY5" fmla="*/ 68325 h 176306"/>
              <a:gd name="connsiteX6" fmla="*/ 0 w 3249789"/>
              <a:gd name="connsiteY6" fmla="*/ 176306 h 176306"/>
              <a:gd name="connsiteX7" fmla="*/ 0 w 3249789"/>
              <a:gd name="connsiteY7" fmla="*/ 107981 h 176306"/>
              <a:gd name="connsiteX8" fmla="*/ 107981 w 3249789"/>
              <a:gd name="connsiteY8" fmla="*/ 0 h 17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49789" h="176306">
                <a:moveTo>
                  <a:pt x="107981" y="0"/>
                </a:moveTo>
                <a:lnTo>
                  <a:pt x="3141808" y="0"/>
                </a:lnTo>
                <a:cubicBezTo>
                  <a:pt x="3201444" y="0"/>
                  <a:pt x="3249789" y="48345"/>
                  <a:pt x="3249789" y="107981"/>
                </a:cubicBezTo>
                <a:lnTo>
                  <a:pt x="3249789" y="176306"/>
                </a:lnTo>
                <a:cubicBezTo>
                  <a:pt x="3249789" y="116670"/>
                  <a:pt x="3201444" y="68325"/>
                  <a:pt x="3141808" y="68325"/>
                </a:cubicBezTo>
                <a:lnTo>
                  <a:pt x="107981" y="68325"/>
                </a:lnTo>
                <a:cubicBezTo>
                  <a:pt x="48345" y="68325"/>
                  <a:pt x="0" y="116670"/>
                  <a:pt x="0" y="176306"/>
                </a:cubicBezTo>
                <a:lnTo>
                  <a:pt x="0" y="107981"/>
                </a:lnTo>
                <a:cubicBezTo>
                  <a:pt x="0" y="48345"/>
                  <a:pt x="48345" y="0"/>
                  <a:pt x="107981" y="0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 Medium" panose="020B0600000000000000" charset="-122"/>
              <a:cs typeface="+mn-ea"/>
            </a:endParaRPr>
          </a:p>
        </p:txBody>
      </p:sp>
      <p:sp>
        <p:nvSpPr>
          <p:cNvPr id="76" name="矩形: 圆角 60"/>
          <p:cNvSpPr/>
          <p:nvPr/>
        </p:nvSpPr>
        <p:spPr>
          <a:xfrm>
            <a:off x="8100060" y="1811655"/>
            <a:ext cx="3693795" cy="2310765"/>
          </a:xfrm>
          <a:prstGeom prst="roundRect">
            <a:avLst>
              <a:gd name="adj" fmla="val 681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20700" dist="38100" dir="5400000" algn="t" rotWithShape="0">
              <a:srgbClr val="0461F5">
                <a:alpha val="13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endParaRPr lang="en-US" sz="1800" kern="12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Medium" panose="020B0600000000000000" charset="-122"/>
              <a:cs typeface="+mn-ea"/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100060" y="1929130"/>
            <a:ext cx="36937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2" indent="0" algn="ctr" fontAlgn="auto"/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0</a:t>
            </a:r>
            <a:r>
              <a:rPr lang="en-US" altLang="zh-CN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3</a:t>
            </a:r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 渐进式加载</a:t>
            </a:r>
            <a:endParaRPr lang="zh-CN" altLang="en-US" sz="1600" b="1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195310" y="2232025"/>
            <a:ext cx="3502025" cy="189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Skill 按需加载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，不一次性塞入所有能力，避免上下文溢出；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MCP 工具按需注册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，调用时才加载，减少无关信息干扰；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虚拟分页机制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，超长对话按需换入换出，保留关键信息；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加载某业务所需的工具时，模型工具列表只含相关工具。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80" name="任意多边形: 形状 59"/>
          <p:cNvSpPr/>
          <p:nvPr/>
        </p:nvSpPr>
        <p:spPr>
          <a:xfrm>
            <a:off x="360680" y="4291965"/>
            <a:ext cx="3693795" cy="176530"/>
          </a:xfrm>
          <a:custGeom>
            <a:avLst/>
            <a:gdLst>
              <a:gd name="connsiteX0" fmla="*/ 107981 w 3249789"/>
              <a:gd name="connsiteY0" fmla="*/ 0 h 176306"/>
              <a:gd name="connsiteX1" fmla="*/ 3141808 w 3249789"/>
              <a:gd name="connsiteY1" fmla="*/ 0 h 176306"/>
              <a:gd name="connsiteX2" fmla="*/ 3249789 w 3249789"/>
              <a:gd name="connsiteY2" fmla="*/ 107981 h 176306"/>
              <a:gd name="connsiteX3" fmla="*/ 3249789 w 3249789"/>
              <a:gd name="connsiteY3" fmla="*/ 176306 h 176306"/>
              <a:gd name="connsiteX4" fmla="*/ 3141808 w 3249789"/>
              <a:gd name="connsiteY4" fmla="*/ 68325 h 176306"/>
              <a:gd name="connsiteX5" fmla="*/ 107981 w 3249789"/>
              <a:gd name="connsiteY5" fmla="*/ 68325 h 176306"/>
              <a:gd name="connsiteX6" fmla="*/ 0 w 3249789"/>
              <a:gd name="connsiteY6" fmla="*/ 176306 h 176306"/>
              <a:gd name="connsiteX7" fmla="*/ 0 w 3249789"/>
              <a:gd name="connsiteY7" fmla="*/ 107981 h 176306"/>
              <a:gd name="connsiteX8" fmla="*/ 107981 w 3249789"/>
              <a:gd name="connsiteY8" fmla="*/ 0 h 17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49789" h="176306">
                <a:moveTo>
                  <a:pt x="107981" y="0"/>
                </a:moveTo>
                <a:lnTo>
                  <a:pt x="3141808" y="0"/>
                </a:lnTo>
                <a:cubicBezTo>
                  <a:pt x="3201444" y="0"/>
                  <a:pt x="3249789" y="48345"/>
                  <a:pt x="3249789" y="107981"/>
                </a:cubicBezTo>
                <a:lnTo>
                  <a:pt x="3249789" y="176306"/>
                </a:lnTo>
                <a:cubicBezTo>
                  <a:pt x="3249789" y="116670"/>
                  <a:pt x="3201444" y="68325"/>
                  <a:pt x="3141808" y="68325"/>
                </a:cubicBezTo>
                <a:lnTo>
                  <a:pt x="107981" y="68325"/>
                </a:lnTo>
                <a:cubicBezTo>
                  <a:pt x="48345" y="68325"/>
                  <a:pt x="0" y="116670"/>
                  <a:pt x="0" y="176306"/>
                </a:cubicBezTo>
                <a:lnTo>
                  <a:pt x="0" y="107981"/>
                </a:lnTo>
                <a:cubicBezTo>
                  <a:pt x="0" y="48345"/>
                  <a:pt x="48345" y="0"/>
                  <a:pt x="107981" y="0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 Medium" panose="020B0600000000000000" charset="-122"/>
              <a:cs typeface="+mn-ea"/>
            </a:endParaRPr>
          </a:p>
        </p:txBody>
      </p:sp>
      <p:sp>
        <p:nvSpPr>
          <p:cNvPr id="81" name="矩形: 圆角 60"/>
          <p:cNvSpPr/>
          <p:nvPr/>
        </p:nvSpPr>
        <p:spPr>
          <a:xfrm>
            <a:off x="360680" y="4351020"/>
            <a:ext cx="3693795" cy="2326005"/>
          </a:xfrm>
          <a:prstGeom prst="roundRect">
            <a:avLst>
              <a:gd name="adj" fmla="val 681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20700" dist="38100" dir="5400000" algn="t" rotWithShape="0">
              <a:srgbClr val="0461F5">
                <a:alpha val="1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 Medium" panose="020B0600000000000000" charset="-122"/>
              <a:cs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0680" y="4468495"/>
            <a:ext cx="36937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2" indent="0" algn="ctr" fontAlgn="auto"/>
            <a:r>
              <a:rPr lang="en-US" altLang="zh-CN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04 Subagent </a:t>
            </a:r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并行与隔离</a:t>
            </a:r>
            <a:endParaRPr lang="zh-CN" altLang="en-US" sz="1600" b="1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97510" y="4771390"/>
            <a:ext cx="3656965" cy="1193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复杂任务自动拆解为子任务，分配给独立的子智能体；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每个子任务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独立上下文窗口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，隔离执行，互不干扰；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并行执行提升效率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，主智能体汇总各子任务结果；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子任务失败不影响主任务，可独立重试或降级处理。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85" name="任意多边形: 形状 59"/>
          <p:cNvSpPr/>
          <p:nvPr/>
        </p:nvSpPr>
        <p:spPr>
          <a:xfrm>
            <a:off x="4227830" y="4291965"/>
            <a:ext cx="3693795" cy="176530"/>
          </a:xfrm>
          <a:custGeom>
            <a:avLst/>
            <a:gdLst>
              <a:gd name="connsiteX0" fmla="*/ 107981 w 3249789"/>
              <a:gd name="connsiteY0" fmla="*/ 0 h 176306"/>
              <a:gd name="connsiteX1" fmla="*/ 3141808 w 3249789"/>
              <a:gd name="connsiteY1" fmla="*/ 0 h 176306"/>
              <a:gd name="connsiteX2" fmla="*/ 3249789 w 3249789"/>
              <a:gd name="connsiteY2" fmla="*/ 107981 h 176306"/>
              <a:gd name="connsiteX3" fmla="*/ 3249789 w 3249789"/>
              <a:gd name="connsiteY3" fmla="*/ 176306 h 176306"/>
              <a:gd name="connsiteX4" fmla="*/ 3141808 w 3249789"/>
              <a:gd name="connsiteY4" fmla="*/ 68325 h 176306"/>
              <a:gd name="connsiteX5" fmla="*/ 107981 w 3249789"/>
              <a:gd name="connsiteY5" fmla="*/ 68325 h 176306"/>
              <a:gd name="connsiteX6" fmla="*/ 0 w 3249789"/>
              <a:gd name="connsiteY6" fmla="*/ 176306 h 176306"/>
              <a:gd name="connsiteX7" fmla="*/ 0 w 3249789"/>
              <a:gd name="connsiteY7" fmla="*/ 107981 h 176306"/>
              <a:gd name="connsiteX8" fmla="*/ 107981 w 3249789"/>
              <a:gd name="connsiteY8" fmla="*/ 0 h 17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49789" h="176306">
                <a:moveTo>
                  <a:pt x="107981" y="0"/>
                </a:moveTo>
                <a:lnTo>
                  <a:pt x="3141808" y="0"/>
                </a:lnTo>
                <a:cubicBezTo>
                  <a:pt x="3201444" y="0"/>
                  <a:pt x="3249789" y="48345"/>
                  <a:pt x="3249789" y="107981"/>
                </a:cubicBezTo>
                <a:lnTo>
                  <a:pt x="3249789" y="176306"/>
                </a:lnTo>
                <a:cubicBezTo>
                  <a:pt x="3249789" y="116670"/>
                  <a:pt x="3201444" y="68325"/>
                  <a:pt x="3141808" y="68325"/>
                </a:cubicBezTo>
                <a:lnTo>
                  <a:pt x="107981" y="68325"/>
                </a:lnTo>
                <a:cubicBezTo>
                  <a:pt x="48345" y="68325"/>
                  <a:pt x="0" y="116670"/>
                  <a:pt x="0" y="176306"/>
                </a:cubicBezTo>
                <a:lnTo>
                  <a:pt x="0" y="107981"/>
                </a:lnTo>
                <a:cubicBezTo>
                  <a:pt x="0" y="48345"/>
                  <a:pt x="48345" y="0"/>
                  <a:pt x="107981" y="0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 Medium" panose="020B0600000000000000" charset="-122"/>
              <a:cs typeface="+mn-ea"/>
            </a:endParaRPr>
          </a:p>
        </p:txBody>
      </p:sp>
      <p:sp>
        <p:nvSpPr>
          <p:cNvPr id="86" name="矩形: 圆角 60"/>
          <p:cNvSpPr/>
          <p:nvPr/>
        </p:nvSpPr>
        <p:spPr>
          <a:xfrm>
            <a:off x="4227830" y="4351020"/>
            <a:ext cx="3693795" cy="2376805"/>
          </a:xfrm>
          <a:prstGeom prst="roundRect">
            <a:avLst>
              <a:gd name="adj" fmla="val 681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20700" dist="38100" dir="5400000" algn="t" rotWithShape="0">
              <a:srgbClr val="0461F5">
                <a:alpha val="13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endParaRPr lang="en-US" sz="1800" kern="12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Medium" panose="020B0600000000000000" charset="-122"/>
              <a:cs typeface="+mn-ea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227830" y="4468495"/>
            <a:ext cx="36937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2" indent="0" algn="ctr" fontAlgn="auto"/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05 容错与自动恢复</a:t>
            </a:r>
            <a:endParaRPr lang="zh-CN" altLang="en-US" sz="1600" b="1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264660" y="4771390"/>
            <a:ext cx="3570605" cy="14700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模型调用异常自动重试，自动降级到备用模型；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数据格式错误自动修复，不中断执行流程；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工具调用失败分类处理，不同异常不同恢复策略；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6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对流程异常分类处理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，让流程自动回到正轨，不卡死不崩溃。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90" name="任意多边形: 形状 59"/>
          <p:cNvSpPr/>
          <p:nvPr/>
        </p:nvSpPr>
        <p:spPr>
          <a:xfrm>
            <a:off x="8094980" y="4291965"/>
            <a:ext cx="3693795" cy="176530"/>
          </a:xfrm>
          <a:custGeom>
            <a:avLst/>
            <a:gdLst>
              <a:gd name="connsiteX0" fmla="*/ 107981 w 3249789"/>
              <a:gd name="connsiteY0" fmla="*/ 0 h 176306"/>
              <a:gd name="connsiteX1" fmla="*/ 3141808 w 3249789"/>
              <a:gd name="connsiteY1" fmla="*/ 0 h 176306"/>
              <a:gd name="connsiteX2" fmla="*/ 3249789 w 3249789"/>
              <a:gd name="connsiteY2" fmla="*/ 107981 h 176306"/>
              <a:gd name="connsiteX3" fmla="*/ 3249789 w 3249789"/>
              <a:gd name="connsiteY3" fmla="*/ 176306 h 176306"/>
              <a:gd name="connsiteX4" fmla="*/ 3141808 w 3249789"/>
              <a:gd name="connsiteY4" fmla="*/ 68325 h 176306"/>
              <a:gd name="connsiteX5" fmla="*/ 107981 w 3249789"/>
              <a:gd name="connsiteY5" fmla="*/ 68325 h 176306"/>
              <a:gd name="connsiteX6" fmla="*/ 0 w 3249789"/>
              <a:gd name="connsiteY6" fmla="*/ 176306 h 176306"/>
              <a:gd name="connsiteX7" fmla="*/ 0 w 3249789"/>
              <a:gd name="connsiteY7" fmla="*/ 107981 h 176306"/>
              <a:gd name="connsiteX8" fmla="*/ 107981 w 3249789"/>
              <a:gd name="connsiteY8" fmla="*/ 0 h 17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49789" h="176306">
                <a:moveTo>
                  <a:pt x="107981" y="0"/>
                </a:moveTo>
                <a:lnTo>
                  <a:pt x="3141808" y="0"/>
                </a:lnTo>
                <a:cubicBezTo>
                  <a:pt x="3201444" y="0"/>
                  <a:pt x="3249789" y="48345"/>
                  <a:pt x="3249789" y="107981"/>
                </a:cubicBezTo>
                <a:lnTo>
                  <a:pt x="3249789" y="176306"/>
                </a:lnTo>
                <a:cubicBezTo>
                  <a:pt x="3249789" y="116670"/>
                  <a:pt x="3201444" y="68325"/>
                  <a:pt x="3141808" y="68325"/>
                </a:cubicBezTo>
                <a:lnTo>
                  <a:pt x="107981" y="68325"/>
                </a:lnTo>
                <a:cubicBezTo>
                  <a:pt x="48345" y="68325"/>
                  <a:pt x="0" y="116670"/>
                  <a:pt x="0" y="176306"/>
                </a:cubicBezTo>
                <a:lnTo>
                  <a:pt x="0" y="107981"/>
                </a:lnTo>
                <a:cubicBezTo>
                  <a:pt x="0" y="48345"/>
                  <a:pt x="48345" y="0"/>
                  <a:pt x="107981" y="0"/>
                </a:cubicBezTo>
                <a:close/>
              </a:path>
            </a:pathLst>
          </a:cu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思源黑体 Medium" panose="020B0600000000000000" charset="-122"/>
              <a:cs typeface="+mn-ea"/>
            </a:endParaRPr>
          </a:p>
        </p:txBody>
      </p:sp>
      <p:sp>
        <p:nvSpPr>
          <p:cNvPr id="92" name="矩形: 圆角 60"/>
          <p:cNvSpPr/>
          <p:nvPr/>
        </p:nvSpPr>
        <p:spPr>
          <a:xfrm>
            <a:off x="8094980" y="4351020"/>
            <a:ext cx="3693795" cy="2376805"/>
          </a:xfrm>
          <a:prstGeom prst="roundRect">
            <a:avLst>
              <a:gd name="adj" fmla="val 6812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20700" dist="38100" dir="5400000" algn="t" rotWithShape="0">
              <a:srgbClr val="0461F5">
                <a:alpha val="13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endParaRPr lang="en-US" sz="1800" kern="12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思源黑体 Medium" panose="020B0600000000000000" charset="-122"/>
              <a:cs typeface="+mn-ea"/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8094980" y="4468495"/>
            <a:ext cx="36937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2" indent="0" algn="ctr" fontAlgn="auto"/>
            <a:r>
              <a:rPr lang="zh-CN" altLang="en-US" sz="1600" b="1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+mn-ea"/>
              </a:rPr>
              <a:t>06 执行护栏与验证</a:t>
            </a:r>
            <a:endParaRPr lang="zh-CN" altLang="en-US" sz="1600" b="1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190230" y="4771390"/>
            <a:ext cx="3526155" cy="2116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执行前：权限校验、操作审批、风险预判，高危操作拦截；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执行中：沙箱隔离、步骤监控、异常中断，实时可观测；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执行后：结果验证、自动回滚、审计留痕，全程可追溯；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· 关键节点引入 </a:t>
            </a:r>
            <a:r>
              <a:rPr lang="zh-CN" altLang="en-US" sz="1100" dirty="0">
                <a:solidFill>
                  <a:srgbClr val="0461F5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Human-in-the-loop</a:t>
            </a:r>
            <a:r>
              <a:rPr lang="zh-CN" altLang="en-US" sz="1100" dirty="0">
                <a:solidFill>
                  <a:srgbClr val="536174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 机制，人工确认后才继续执行。</a:t>
            </a: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  <a:p>
            <a:pPr lvl="0" algn="just">
              <a:lnSpc>
                <a:spcPct val="133000"/>
              </a:lnSpc>
              <a:buClrTx/>
              <a:buSzTx/>
              <a:buFontTx/>
              <a:defRPr/>
            </a:pPr>
            <a:endParaRPr lang="zh-CN" altLang="en-US" sz="1100" dirty="0">
              <a:solidFill>
                <a:srgbClr val="536174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98475" y="588645"/>
            <a:ext cx="87166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defTabSz="914400">
              <a:buClrTx/>
              <a:buSzTx/>
              <a:buFontTx/>
            </a:pPr>
            <a:r>
              <a:rPr lang="zh-CN" altLang="en-US" sz="2800" kern="12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电力行业 </a:t>
            </a:r>
            <a:r>
              <a:rPr lang="en-US" altLang="zh-CN" sz="2800" kern="12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     </a:t>
            </a:r>
            <a:r>
              <a:rPr lang="zh-CN" altLang="en-US" sz="2800" kern="1200" dirty="0">
                <a:solidFill>
                  <a:srgbClr val="02191F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Regular" panose="020B0500000000000000" charset="-122"/>
                <a:sym typeface="+mn-ea"/>
              </a:rPr>
              <a:t>从数字助理到数字员工</a:t>
            </a:r>
            <a:endParaRPr lang="zh-CN" altLang="en-US" sz="2800" kern="1200" dirty="0">
              <a:solidFill>
                <a:srgbClr val="02191F"/>
              </a:solidFill>
              <a:latin typeface="思源黑体 Light" panose="020B0300000000000000" charset="-122"/>
              <a:ea typeface="思源黑体 Light" panose="020B03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39" name="矩形: 圆角 4"/>
          <p:cNvSpPr/>
          <p:nvPr>
            <p:custDataLst>
              <p:tags r:id="rId2"/>
            </p:custDataLst>
          </p:nvPr>
        </p:nvSpPr>
        <p:spPr>
          <a:xfrm>
            <a:off x="365760" y="1242695"/>
            <a:ext cx="11423015" cy="42227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8FA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>
            <a:outerShdw blurRad="215900" dist="25400" dir="2700000" sx="101000" sy="101000" algn="tl" rotWithShape="0">
              <a:schemeClr val="tx2">
                <a:lumMod val="40000"/>
                <a:lumOff val="60000"/>
                <a:alpha val="3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05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Agent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时代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AI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第一次为结果负责 — 不是完全自主，而是有监督的自主，人机协同创造价值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357370" y="722630"/>
            <a:ext cx="304165" cy="255270"/>
            <a:chOff x="3060" y="1138"/>
            <a:chExt cx="479" cy="402"/>
          </a:xfrm>
        </p:grpSpPr>
        <p:sp>
          <p:nvSpPr>
            <p:cNvPr id="15" name="箭头: 五边形 37"/>
            <p:cNvSpPr/>
            <p:nvPr>
              <p:custDataLst>
                <p:tags r:id="rId3"/>
              </p:custDataLst>
            </p:nvPr>
          </p:nvSpPr>
          <p:spPr>
            <a:xfrm>
              <a:off x="3165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8000">
                  <a:srgbClr val="DCEAFE">
                    <a:alpha val="0"/>
                  </a:srgbClr>
                </a:gs>
                <a:gs pos="100000">
                  <a:srgbClr val="A9C1E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endParaRPr>
            </a:p>
          </p:txBody>
        </p:sp>
        <p:sp>
          <p:nvSpPr>
            <p:cNvPr id="16" name="箭头: 五边形 37"/>
            <p:cNvSpPr/>
            <p:nvPr>
              <p:custDataLst>
                <p:tags r:id="rId4"/>
              </p:custDataLst>
            </p:nvPr>
          </p:nvSpPr>
          <p:spPr>
            <a:xfrm>
              <a:off x="3060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0">
                  <a:srgbClr val="DCEAFE">
                    <a:alpha val="0"/>
                  </a:srgbClr>
                </a:gs>
                <a:gs pos="100000">
                  <a:srgbClr val="A6C0E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endParaRPr>
            </a:p>
          </p:txBody>
        </p:sp>
      </p:grpSp>
      <p:sp>
        <p:nvSpPr>
          <p:cNvPr id="27" name="梯形 26"/>
          <p:cNvSpPr/>
          <p:nvPr/>
        </p:nvSpPr>
        <p:spPr>
          <a:xfrm>
            <a:off x="367030" y="5283200"/>
            <a:ext cx="11421745" cy="421640"/>
          </a:xfrm>
          <a:prstGeom prst="trapezoid">
            <a:avLst>
              <a:gd name="adj" fmla="val 133982"/>
            </a:avLst>
          </a:prstGeom>
          <a:gradFill>
            <a:gsLst>
              <a:gs pos="0">
                <a:srgbClr val="1D78FA">
                  <a:alpha val="0"/>
                </a:srgbClr>
              </a:gs>
              <a:gs pos="100000">
                <a:srgbClr val="1D78FA">
                  <a:alpha val="30000"/>
                </a:srgbClr>
              </a:gs>
            </a:gsLst>
            <a:lin ang="5400000" scaled="1"/>
          </a:gradFill>
          <a:ln w="2540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365760" y="5701030"/>
            <a:ext cx="11423650" cy="1050290"/>
          </a:xfrm>
          <a:prstGeom prst="roundRect">
            <a:avLst>
              <a:gd name="adj" fmla="val 0"/>
            </a:avLst>
          </a:prstGeom>
          <a:gradFill>
            <a:gsLst>
              <a:gs pos="19000">
                <a:srgbClr val="2946ED"/>
              </a:gs>
              <a:gs pos="100000">
                <a:srgbClr val="4294FF"/>
              </a:gs>
            </a:gsLst>
            <a:path path="circle">
              <a:fillToRect r="100000" b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endParaRPr lang="en-US" altLang="en-US" sz="1800" kern="0">
              <a:solidFill>
                <a:srgbClr val="FFFFFF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Light" panose="020B0300000000000000" charset="-122"/>
            </a:endParaRPr>
          </a:p>
        </p:txBody>
      </p:sp>
      <p:sp>
        <p:nvSpPr>
          <p:cNvPr id="41" name="AutoShape 30"/>
          <p:cNvSpPr/>
          <p:nvPr/>
        </p:nvSpPr>
        <p:spPr>
          <a:xfrm>
            <a:off x="571500" y="5361940"/>
            <a:ext cx="1092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Light" panose="020B0300000000000000" charset="-122"/>
              </a:rPr>
              <a:t>AI </a:t>
            </a:r>
            <a:r>
              <a:rPr lang="zh-CN" altLang="en-US" sz="1600" b="1" i="0" u="none" strike="noStrike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Light" panose="020B0300000000000000" charset="-122"/>
              </a:rPr>
              <a:t>班组</a:t>
            </a:r>
            <a:r>
              <a:rPr lang="en-US" altLang="zh-CN" sz="1600" b="1" i="0" u="none" strike="noStrike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Light" panose="020B0300000000000000" charset="-122"/>
              </a:rPr>
              <a:t>——</a:t>
            </a:r>
            <a:r>
              <a:rPr lang="zh-CN" altLang="en-US" sz="1600" b="1" i="0" u="none" strike="noStrike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Medium" panose="020B0600000000000000" charset="-122"/>
                <a:sym typeface="思源黑体 Light" panose="020B0300000000000000" charset="-122"/>
              </a:rPr>
              <a:t>数字员工之间协同，与人类班组并肩作战</a:t>
            </a:r>
            <a:endParaRPr lang="zh-CN" altLang="en-US" sz="1600" b="1" i="0" u="none" strike="noStrike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Medium" panose="020B0600000000000000" charset="-122"/>
              <a:sym typeface="思源黑体 Light" panose="020B0300000000000000" charset="-122"/>
            </a:endParaRPr>
          </a:p>
        </p:txBody>
      </p:sp>
      <p:sp>
        <p:nvSpPr>
          <p:cNvPr id="393" name="文本框 392"/>
          <p:cNvSpPr txBox="1"/>
          <p:nvPr/>
        </p:nvSpPr>
        <p:spPr>
          <a:xfrm>
            <a:off x="622935" y="5836920"/>
            <a:ext cx="3492000" cy="762635"/>
          </a:xfrm>
          <a:prstGeom prst="roundRect">
            <a:avLst>
              <a:gd name="adj" fmla="val 8481"/>
            </a:avLst>
          </a:prstGeom>
          <a:noFill/>
          <a:ln w="6350">
            <a:solidFill>
              <a:schemeClr val="bg1"/>
            </a:solidFill>
            <a:prstDash val="dash"/>
          </a:ln>
        </p:spPr>
        <p:txBody>
          <a:bodyPr wrap="square" lIns="107950" tIns="0" rIns="107950" bIns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 u="none" strike="noStrike" cap="none" spc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ctr">
              <a:lnSpc>
                <a:spcPct val="117000"/>
              </a:lnSpc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故障协同处置</a:t>
            </a:r>
            <a:endParaRPr lang="zh-CN" altLang="en-US" sz="1200" dirty="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27000"/>
              </a:lnSpc>
              <a:defRPr/>
            </a:pPr>
            <a:endParaRPr lang="zh-CN" altLang="en-US" sz="1200" dirty="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调度数字员工研判故障 → 运检数字员工生成检修方案 → 联动派单闭环</a:t>
            </a:r>
            <a:endParaRPr lang="zh-CN" altLang="en-US" sz="1200" dirty="0">
              <a:solidFill>
                <a:schemeClr val="bg1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57505" y="5836920"/>
            <a:ext cx="3491865" cy="762635"/>
          </a:xfrm>
          <a:prstGeom prst="roundRect">
            <a:avLst>
              <a:gd name="adj" fmla="val 8481"/>
            </a:avLst>
          </a:prstGeom>
          <a:noFill/>
          <a:ln w="6350">
            <a:solidFill>
              <a:schemeClr val="bg1"/>
            </a:solidFill>
            <a:prstDash val="dash"/>
          </a:ln>
        </p:spPr>
        <p:txBody>
          <a:bodyPr wrap="square" lIns="107950" tIns="0" rIns="107950" bIns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 u="none" strike="noStrike" cap="none" spc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ctr">
              <a:lnSpc>
                <a:spcPct val="117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客户服务协同</a:t>
            </a:r>
            <a:endParaRPr lang="zh-CN" altLang="en-US" sz="1200" b="1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27000"/>
              </a:lnSpc>
              <a:defRPr/>
            </a:pP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algn="ctr">
              <a:lnSpc>
                <a:spcPct val="117000"/>
              </a:lnSpc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营销数字员工分析客户需求 → 客服数字员工应答处理 → 管理数字员工汇总分析</a:t>
            </a:r>
            <a:endParaRPr lang="zh-CN" altLang="en-US" sz="1200">
              <a:solidFill>
                <a:schemeClr val="bg1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91940" y="5836920"/>
            <a:ext cx="3491865" cy="762635"/>
          </a:xfrm>
          <a:prstGeom prst="roundRect">
            <a:avLst>
              <a:gd name="adj" fmla="val 8481"/>
            </a:avLst>
          </a:prstGeom>
          <a:noFill/>
          <a:ln w="6350">
            <a:solidFill>
              <a:schemeClr val="bg1"/>
            </a:solidFill>
            <a:prstDash val="dash"/>
          </a:ln>
        </p:spPr>
        <p:txBody>
          <a:bodyPr wrap="square" lIns="107950" tIns="0" rIns="107950" bIns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0" u="none" strike="noStrike" cap="none" spc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ctr">
              <a:lnSpc>
                <a:spcPct val="117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人机协同班组</a:t>
            </a: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indent="0" algn="ctr">
              <a:lnSpc>
                <a:spcPct val="27000"/>
              </a:lnSpc>
              <a:defRPr/>
            </a:pPr>
            <a:endParaRPr lang="zh-CN" altLang="en-US" sz="1200">
              <a:solidFill>
                <a:schemeClr val="bg1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  <a:p>
            <a:pPr marL="0" algn="ctr">
              <a:lnSpc>
                <a:spcPct val="117000"/>
              </a:lnSpc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latin typeface="+mj-lt"/>
                <a:ea typeface="+mj-lt"/>
                <a:cs typeface="+mj-lt"/>
                <a:sym typeface="思源黑体 Light" panose="020B0300000000000000" charset="-122"/>
              </a:rPr>
              <a:t>人类员工定目标做决策 → 数字员工执行重复性工作 → 关键节点人工确认审批</a:t>
            </a:r>
            <a:endParaRPr lang="zh-CN" altLang="en-US" sz="1200">
              <a:solidFill>
                <a:schemeClr val="bg1"/>
              </a:solidFill>
              <a:latin typeface="+mj-lt"/>
              <a:ea typeface="+mj-lt"/>
              <a:cs typeface="+mj-lt"/>
              <a:sym typeface="思源黑体 Light" panose="020B0300000000000000" charset="-122"/>
            </a:endParaRPr>
          </a:p>
        </p:txBody>
      </p:sp>
      <p:sp>
        <p:nvSpPr>
          <p:cNvPr id="9" name="矩形: 圆顶角 8"/>
          <p:cNvSpPr/>
          <p:nvPr/>
        </p:nvSpPr>
        <p:spPr>
          <a:xfrm>
            <a:off x="374015" y="1783715"/>
            <a:ext cx="4460875" cy="349885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>
            <a:noFill/>
          </a:ln>
          <a:effectLst>
            <a:outerShdw blurRad="660400" dist="38100" dir="5400000" algn="t" rotWithShape="0">
              <a:schemeClr val="accent1">
                <a:lumMod val="60000"/>
                <a:lumOff val="40000"/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kumimoji="1" lang="zh-CN" altLang="en-US" sz="1200" kern="1200"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01650" y="2331720"/>
            <a:ext cx="4220210" cy="1114425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52" name="AutoShape 10"/>
          <p:cNvSpPr/>
          <p:nvPr/>
        </p:nvSpPr>
        <p:spPr>
          <a:xfrm>
            <a:off x="984250" y="2437130"/>
            <a:ext cx="324104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kumimoji="1" lang="zh-CN" altLang="en-US" sz="1400" b="1" i="0" u="none" strike="noStrike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rPr>
              <a:t>数字助理</a:t>
            </a:r>
            <a:endParaRPr kumimoji="1" lang="zh-CN" altLang="en-US" sz="1400" b="1" i="0" u="none" strike="noStrike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53" name="AutoShape 11"/>
          <p:cNvSpPr/>
          <p:nvPr/>
        </p:nvSpPr>
        <p:spPr>
          <a:xfrm>
            <a:off x="652145" y="3029585"/>
            <a:ext cx="375031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ea typeface="+mn-lt"/>
                <a:cs typeface="+mn-lt"/>
                <a:sym typeface="思源黑体 Light" panose="020B0300000000000000" charset="-122"/>
              </a:rPr>
              <a:t>人做决策，</a:t>
            </a:r>
            <a:r>
              <a:rPr lang="en-US" altLang="zh-CN" sz="1200" b="0" i="0" u="none" strike="noStrike" dirty="0">
                <a:solidFill>
                  <a:srgbClr val="536174"/>
                </a:solidFill>
                <a:ea typeface="+mn-lt"/>
                <a:cs typeface="+mn-lt"/>
                <a:sym typeface="思源黑体 Light" panose="020B0300000000000000" charset="-122"/>
              </a:rPr>
              <a:t>AI </a:t>
            </a:r>
            <a:r>
              <a:rPr lang="zh-CN" altLang="en-US" sz="1200" b="0" i="0" u="none" strike="noStrike" dirty="0">
                <a:solidFill>
                  <a:srgbClr val="536174"/>
                </a:solidFill>
                <a:ea typeface="+mn-lt"/>
                <a:cs typeface="+mn-lt"/>
                <a:sym typeface="思源黑体 Light" panose="020B0300000000000000" charset="-122"/>
              </a:rPr>
              <a:t>提供信息支持，不直接为结果负责。</a:t>
            </a:r>
            <a:endParaRPr lang="zh-CN" altLang="en-US" sz="1200" b="0" i="0" u="none" strike="noStrike" dirty="0">
              <a:solidFill>
                <a:srgbClr val="536174"/>
              </a:solidFill>
              <a:ea typeface="+mn-lt"/>
              <a:cs typeface="+mn-lt"/>
              <a:sym typeface="思源黑体 Light" panose="020B0300000000000000" charset="-122"/>
            </a:endParaRPr>
          </a:p>
        </p:txBody>
      </p:sp>
      <p:sp>
        <p:nvSpPr>
          <p:cNvPr id="54" name="圆角矩形 359"/>
          <p:cNvSpPr/>
          <p:nvPr/>
        </p:nvSpPr>
        <p:spPr bwMode="auto">
          <a:xfrm>
            <a:off x="596900" y="2494915"/>
            <a:ext cx="338455" cy="159385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</a:rPr>
              <a:t>V2.0</a:t>
            </a:r>
            <a:endParaRPr kumimoji="0" lang="en-US" altLang="zh-CN" sz="9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</a:endParaRPr>
          </a:p>
        </p:txBody>
      </p:sp>
      <p:sp>
        <p:nvSpPr>
          <p:cNvPr id="79" name="下箭头 106"/>
          <p:cNvSpPr/>
          <p:nvPr>
            <p:custDataLst>
              <p:tags r:id="rId5"/>
            </p:custDataLst>
          </p:nvPr>
        </p:nvSpPr>
        <p:spPr>
          <a:xfrm>
            <a:off x="2314575" y="3519805"/>
            <a:ext cx="379730" cy="212090"/>
          </a:xfrm>
          <a:prstGeom prst="downArrow">
            <a:avLst/>
          </a:prstGeom>
          <a:gradFill>
            <a:gsLst>
              <a:gs pos="0">
                <a:srgbClr val="2F7DFB">
                  <a:alpha val="0"/>
                </a:srgbClr>
              </a:gs>
              <a:gs pos="100000">
                <a:srgbClr val="0461F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思源黑体 Regular" panose="020B0500000000000000" charset="-122"/>
              <a:sym typeface="+mn-ea"/>
            </a:endParaRPr>
          </a:p>
        </p:txBody>
      </p:sp>
      <p:sp>
        <p:nvSpPr>
          <p:cNvPr id="131" name="矩形: 圆角 31"/>
          <p:cNvSpPr/>
          <p:nvPr/>
        </p:nvSpPr>
        <p:spPr>
          <a:xfrm>
            <a:off x="501650" y="3732530"/>
            <a:ext cx="4218940" cy="1344930"/>
          </a:xfrm>
          <a:prstGeom prst="roundRect">
            <a:avLst>
              <a:gd name="adj" fmla="val 3437"/>
            </a:avLst>
          </a:prstGeom>
          <a:solidFill>
            <a:srgbClr val="5697F9">
              <a:alpha val="15000"/>
            </a:srgbClr>
          </a:solidFill>
          <a:ln w="6350">
            <a:solidFill>
              <a:srgbClr val="1D78FA"/>
            </a:solidFill>
            <a:prstDash val="dash"/>
          </a:ln>
          <a:effectLst>
            <a:outerShdw blurRad="317500" dist="88900" dir="2700000" sx="99000" sy="99000" algn="tl" rotWithShape="0">
              <a:srgbClr val="5697F9">
                <a:alpha val="40000"/>
              </a:srgbClr>
            </a:outerShdw>
          </a:effectLst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</a:endParaRPr>
          </a:p>
        </p:txBody>
      </p:sp>
      <p:sp>
        <p:nvSpPr>
          <p:cNvPr id="132" name="AutoShape 10"/>
          <p:cNvSpPr/>
          <p:nvPr/>
        </p:nvSpPr>
        <p:spPr>
          <a:xfrm>
            <a:off x="984250" y="3851275"/>
            <a:ext cx="317246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kumimoji="1" lang="zh-CN" altLang="en-US" sz="1400" b="1" i="0" u="none" strike="noStrike" kern="1200" noProof="0">
                <a:ln>
                  <a:noFill/>
                </a:ln>
                <a:solidFill>
                  <a:srgbClr val="0461F5"/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rPr>
              <a:t>数字员工</a:t>
            </a:r>
            <a:endParaRPr kumimoji="1" lang="zh-CN" altLang="en-US" sz="1400" b="1" i="0" u="none" strike="noStrike" kern="1200" noProof="0">
              <a:ln>
                <a:noFill/>
              </a:ln>
              <a:solidFill>
                <a:srgbClr val="0461F5"/>
              </a:solidFill>
              <a:effectLst/>
              <a:uLnTx/>
              <a:uFillTx/>
              <a:latin typeface="+mj-lt"/>
              <a:ea typeface="+mj-lt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34" name="圆角矩形 359"/>
          <p:cNvSpPr/>
          <p:nvPr/>
        </p:nvSpPr>
        <p:spPr bwMode="auto">
          <a:xfrm>
            <a:off x="599440" y="3909060"/>
            <a:ext cx="335280" cy="153035"/>
          </a:xfrm>
          <a:prstGeom prst="roundRect">
            <a:avLst>
              <a:gd name="adj" fmla="val 6818"/>
            </a:avLst>
          </a:prstGeom>
          <a:gradFill>
            <a:gsLst>
              <a:gs pos="23000">
                <a:srgbClr val="0461F5"/>
              </a:gs>
              <a:gs pos="100000">
                <a:srgbClr val="0461F5">
                  <a:lumMod val="60000"/>
                  <a:lumOff val="4000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>
            <a:noAutofit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altLang="zh-CN" sz="900" kern="120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V3.0</a:t>
            </a:r>
            <a:endParaRPr lang="en-US" altLang="zh-CN" sz="900" kern="120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4650" y="1837690"/>
            <a:ext cx="44596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演进：</a:t>
            </a:r>
            <a:r>
              <a:rPr lang="en-US" sz="160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从「数字助理」到「数字员工」</a:t>
            </a:r>
            <a:endParaRPr lang="en-US" altLang="en-US" sz="160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21" name="矩形: 圆角 31"/>
          <p:cNvSpPr/>
          <p:nvPr/>
        </p:nvSpPr>
        <p:spPr>
          <a:xfrm>
            <a:off x="596900" y="2775585"/>
            <a:ext cx="1005205" cy="25971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Regular" panose="020B0500000000000000" charset="-122"/>
              </a:rPr>
              <a:t>辅助问答 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Regular" panose="020B0500000000000000" charset="-122"/>
            </a:endParaRPr>
          </a:p>
        </p:txBody>
      </p:sp>
      <p:sp>
        <p:nvSpPr>
          <p:cNvPr id="10" name="矩形: 圆角 31"/>
          <p:cNvSpPr/>
          <p:nvPr/>
        </p:nvSpPr>
        <p:spPr>
          <a:xfrm>
            <a:off x="1729105" y="2769235"/>
            <a:ext cx="1005205" cy="25971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Regular" panose="020B0500000000000000" charset="-122"/>
                <a:sym typeface="思源黑体 Regular" panose="020B0500000000000000" charset="-122"/>
              </a:rPr>
              <a:t>信息查询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思源黑体 Regular" panose="020B0500000000000000" charset="-122"/>
              <a:sym typeface="思源黑体 Regular" panose="020B0500000000000000" charset="-122"/>
            </a:endParaRPr>
          </a:p>
        </p:txBody>
      </p:sp>
      <p:sp>
        <p:nvSpPr>
          <p:cNvPr id="13" name="矩形: 圆角 31"/>
          <p:cNvSpPr/>
          <p:nvPr/>
        </p:nvSpPr>
        <p:spPr>
          <a:xfrm>
            <a:off x="2861310" y="2769235"/>
            <a:ext cx="1005205" cy="25971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思源黑体 Light" panose="020B0300000000000000" charset="-122"/>
              </a:rPr>
              <a:t>报告生成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4200" y="4107815"/>
            <a:ext cx="4040505" cy="875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58000"/>
              </a:lnSpc>
              <a:buSzTx/>
              <a:defRPr/>
            </a:pPr>
            <a:r>
              <a:rPr lang="zh-CN" altLang="en-US" sz="1200" dirty="0">
                <a:solidFill>
                  <a:srgbClr val="536174"/>
                </a:solidFill>
                <a:ea typeface="+mn-lt"/>
                <a:cs typeface="+mn-lt"/>
                <a:sym typeface="思源黑体 Light" panose="020B0300000000000000" charset="-122"/>
              </a:rPr>
              <a:t>· 独立承担一类工作，端到端负责执行结果；</a:t>
            </a:r>
            <a:endParaRPr lang="zh-CN" altLang="en-US" sz="1200" dirty="0">
              <a:solidFill>
                <a:srgbClr val="536174"/>
              </a:solidFill>
              <a:ea typeface="+mn-lt"/>
              <a:cs typeface="+mn-lt"/>
              <a:sym typeface="思源黑体 Light" panose="020B0300000000000000" charset="-122"/>
            </a:endParaRPr>
          </a:p>
          <a:p>
            <a:pPr lvl="0" algn="l">
              <a:lnSpc>
                <a:spcPct val="158000"/>
              </a:lnSpc>
              <a:buSzTx/>
              <a:defRPr/>
            </a:pPr>
            <a:r>
              <a:rPr lang="zh-CN" altLang="en-US" sz="1200" dirty="0">
                <a:solidFill>
                  <a:srgbClr val="536174"/>
                </a:solidFill>
                <a:ea typeface="+mn-lt"/>
                <a:cs typeface="+mn-lt"/>
                <a:sym typeface="思源黑体 Light" panose="020B0300000000000000" charset="-122"/>
              </a:rPr>
              <a:t>· 人类员工定目标、做决策，AI 自主规划执行，关键节点由人工确认、审批，为结果负责，可追溯、可回滚、可审计。</a:t>
            </a:r>
            <a:endParaRPr lang="zh-CN" altLang="en-US" sz="1200" dirty="0">
              <a:solidFill>
                <a:srgbClr val="536174"/>
              </a:solidFill>
              <a:ea typeface="+mn-lt"/>
              <a:cs typeface="+mn-lt"/>
              <a:sym typeface="思源黑体 Light" panose="020B0300000000000000" charset="-122"/>
            </a:endParaRPr>
          </a:p>
        </p:txBody>
      </p:sp>
      <p:sp>
        <p:nvSpPr>
          <p:cNvPr id="18" name="矩形: 圆顶角 8"/>
          <p:cNvSpPr/>
          <p:nvPr/>
        </p:nvSpPr>
        <p:spPr>
          <a:xfrm>
            <a:off x="4919980" y="1783715"/>
            <a:ext cx="6868795" cy="349885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>
            <a:noFill/>
          </a:ln>
          <a:effectLst>
            <a:outerShdw blurRad="660400" dist="38100" dir="5400000" algn="t" rotWithShape="0">
              <a:schemeClr val="accent1">
                <a:lumMod val="60000"/>
                <a:lumOff val="40000"/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kumimoji="1" lang="zh-CN" altLang="en-US" sz="1200" kern="1200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19980" y="1837690"/>
            <a:ext cx="68668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0461F5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Light" panose="020B0300000000000000" charset="-122"/>
                <a:sym typeface="思源黑体 Light" panose="020B0300000000000000" charset="-122"/>
              </a:rPr>
              <a:t>电力行业数字员工矩阵</a:t>
            </a:r>
            <a:endParaRPr lang="zh-CN" altLang="en-US" sz="1600">
              <a:solidFill>
                <a:srgbClr val="0461F5"/>
              </a:solidFill>
              <a:latin typeface="思源黑体 Medium" panose="020B0600000000000000" charset="-122"/>
              <a:ea typeface="思源黑体 Medium" panose="020B0600000000000000" charset="-122"/>
              <a:cs typeface="思源黑体 Light" panose="020B0300000000000000" charset="-122"/>
              <a:sym typeface="思源黑体 Light" panose="020B0300000000000000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041900" y="2331720"/>
            <a:ext cx="3230245" cy="1254760"/>
          </a:xfrm>
          <a:prstGeom prst="roundRect">
            <a:avLst>
              <a:gd name="adj" fmla="val 2225"/>
            </a:avLst>
          </a:prstGeom>
          <a:solidFill>
            <a:srgbClr val="C2DBEF">
              <a:alpha val="28000"/>
            </a:srgbClr>
          </a:solidFill>
          <a:ln w="6350" cap="flat">
            <a:solidFill>
              <a:srgbClr val="1D78FA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34" name="AutoShape 10"/>
          <p:cNvSpPr/>
          <p:nvPr/>
        </p:nvSpPr>
        <p:spPr>
          <a:xfrm>
            <a:off x="5408295" y="2387600"/>
            <a:ext cx="2840355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kumimoji="1" lang="zh-CN" altLang="en-US" sz="1200" b="1" i="0" u="none" strike="noStrike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rPr>
              <a:t>调度数字员工</a:t>
            </a:r>
            <a:endParaRPr kumimoji="1" lang="zh-CN" altLang="en-US" sz="1200" b="1" i="0" u="none" strike="noStrike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39" name="矩形: 圆角 31"/>
          <p:cNvSpPr/>
          <p:nvPr/>
        </p:nvSpPr>
        <p:spPr>
          <a:xfrm>
            <a:off x="5135245" y="2776855"/>
            <a:ext cx="1203325" cy="27622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操作票生成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40" name="矩形: 圆角 31"/>
          <p:cNvSpPr/>
          <p:nvPr/>
        </p:nvSpPr>
        <p:spPr>
          <a:xfrm>
            <a:off x="6499225" y="2776855"/>
            <a:ext cx="721995" cy="27622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审核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42" name="矩形: 圆角 31"/>
          <p:cNvSpPr/>
          <p:nvPr/>
        </p:nvSpPr>
        <p:spPr>
          <a:xfrm>
            <a:off x="7418705" y="2776855"/>
            <a:ext cx="721995" cy="27622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下发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43" name="矩形: 圆角 31"/>
          <p:cNvSpPr/>
          <p:nvPr/>
        </p:nvSpPr>
        <p:spPr>
          <a:xfrm>
            <a:off x="5132705" y="3169285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故障研判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44" name="矩形: 圆角 31"/>
          <p:cNvSpPr/>
          <p:nvPr/>
        </p:nvSpPr>
        <p:spPr>
          <a:xfrm>
            <a:off x="6499225" y="3162300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1D78FA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461F5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处置方案推荐</a:t>
            </a:r>
            <a:endParaRPr kumimoji="0" lang="zh-CN" altLang="en-US" sz="1200" i="0" u="none" strike="noStrike" kern="1200" cap="none" spc="0" normalizeH="0" baseline="0" dirty="0">
              <a:solidFill>
                <a:srgbClr val="0461F5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8390255" y="2331720"/>
            <a:ext cx="3261995" cy="1254760"/>
          </a:xfrm>
          <a:prstGeom prst="roundRect">
            <a:avLst>
              <a:gd name="adj" fmla="val 2225"/>
            </a:avLst>
          </a:prstGeom>
          <a:solidFill>
            <a:srgbClr val="00B050">
              <a:alpha val="5000"/>
            </a:srgbClr>
          </a:solidFill>
          <a:ln w="6350" cap="flat">
            <a:solidFill>
              <a:srgbClr val="00B050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119" name="AutoShape 10"/>
          <p:cNvSpPr/>
          <p:nvPr/>
        </p:nvSpPr>
        <p:spPr>
          <a:xfrm>
            <a:off x="8756650" y="2387600"/>
            <a:ext cx="2840355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kumimoji="1" lang="zh-CN" altLang="en-US" sz="1200" b="1" i="0" u="none" strike="noStrike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rPr>
              <a:t>运检数字员工</a:t>
            </a:r>
            <a:endParaRPr kumimoji="1" lang="zh-CN" altLang="en-US" sz="1200" b="1" i="0" u="none" strike="noStrike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20" name="矩形: 圆角 31"/>
          <p:cNvSpPr/>
          <p:nvPr/>
        </p:nvSpPr>
        <p:spPr>
          <a:xfrm>
            <a:off x="8483600" y="2776855"/>
            <a:ext cx="1203325" cy="276225"/>
          </a:xfrm>
          <a:prstGeom prst="roundRect">
            <a:avLst>
              <a:gd name="adj" fmla="val 50000"/>
            </a:avLst>
          </a:prstGeom>
          <a:solidFill>
            <a:srgbClr val="00B050">
              <a:alpha val="15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0B050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设备诊断</a:t>
            </a:r>
            <a:endParaRPr kumimoji="0" lang="zh-CN" altLang="en-US" sz="1200" i="0" u="none" strike="noStrike" kern="1200" cap="none" spc="0" normalizeH="0" baseline="0" dirty="0">
              <a:solidFill>
                <a:srgbClr val="00B050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21" name="矩形: 圆角 31"/>
          <p:cNvSpPr/>
          <p:nvPr/>
        </p:nvSpPr>
        <p:spPr>
          <a:xfrm>
            <a:off x="9908540" y="2776855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00B050">
              <a:alpha val="15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0B050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检修方案生成</a:t>
            </a:r>
            <a:endParaRPr kumimoji="0" lang="zh-CN" altLang="en-US" sz="1200" i="0" u="none" strike="noStrike" kern="1200" cap="none" spc="0" normalizeH="0" baseline="0" dirty="0">
              <a:solidFill>
                <a:srgbClr val="00B050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23" name="矩形: 圆角 31"/>
          <p:cNvSpPr/>
          <p:nvPr/>
        </p:nvSpPr>
        <p:spPr>
          <a:xfrm>
            <a:off x="8481060" y="3169285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00B050">
              <a:alpha val="15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0B050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巡检报告</a:t>
            </a:r>
            <a:endParaRPr kumimoji="0" lang="zh-CN" altLang="en-US" sz="1200" i="0" u="none" strike="noStrike" kern="1200" cap="none" spc="0" normalizeH="0" baseline="0" dirty="0">
              <a:solidFill>
                <a:srgbClr val="00B050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24" name="矩形: 圆角 31"/>
          <p:cNvSpPr/>
          <p:nvPr/>
        </p:nvSpPr>
        <p:spPr>
          <a:xfrm>
            <a:off x="9908540" y="3162300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00B050">
              <a:alpha val="15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00B050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缺陷催办闭环</a:t>
            </a:r>
            <a:endParaRPr kumimoji="0" lang="zh-CN" altLang="en-US" sz="1200" i="0" u="none" strike="noStrike" kern="1200" cap="none" spc="0" normalizeH="0" baseline="0" dirty="0">
              <a:solidFill>
                <a:srgbClr val="00B050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5064760" y="3822700"/>
            <a:ext cx="3206750" cy="1254760"/>
          </a:xfrm>
          <a:prstGeom prst="roundRect">
            <a:avLst>
              <a:gd name="adj" fmla="val 2225"/>
            </a:avLst>
          </a:prstGeom>
          <a:solidFill>
            <a:srgbClr val="FEB900">
              <a:alpha val="7000"/>
            </a:srgbClr>
          </a:solidFill>
          <a:ln w="6350" cap="flat">
            <a:solidFill>
              <a:srgbClr val="F2A000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128" name="AutoShape 10"/>
          <p:cNvSpPr/>
          <p:nvPr/>
        </p:nvSpPr>
        <p:spPr>
          <a:xfrm>
            <a:off x="5431155" y="3878580"/>
            <a:ext cx="2840355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kumimoji="1" lang="zh-CN" altLang="en-US" sz="1200" b="1" i="0" u="none" strike="noStrike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rPr>
              <a:t>营销数字员工</a:t>
            </a:r>
            <a:endParaRPr kumimoji="1" lang="zh-CN" altLang="en-US" sz="1200" b="1" i="0" u="none" strike="noStrike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29" name="矩形: 圆角 31"/>
          <p:cNvSpPr/>
          <p:nvPr/>
        </p:nvSpPr>
        <p:spPr>
          <a:xfrm>
            <a:off x="5158105" y="4267835"/>
            <a:ext cx="1203325" cy="276225"/>
          </a:xfrm>
          <a:prstGeom prst="roundRect">
            <a:avLst>
              <a:gd name="adj" fmla="val 50000"/>
            </a:avLst>
          </a:prstGeom>
          <a:solidFill>
            <a:srgbClr val="FEB900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EF9842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客户分析</a:t>
            </a:r>
            <a:endParaRPr kumimoji="0" lang="zh-CN" altLang="en-US" sz="1200" i="0" u="none" strike="noStrike" kern="1200" cap="none" spc="0" normalizeH="0" baseline="0" dirty="0">
              <a:solidFill>
                <a:srgbClr val="EF9842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30" name="矩形: 圆角 31"/>
          <p:cNvSpPr/>
          <p:nvPr/>
        </p:nvSpPr>
        <p:spPr>
          <a:xfrm>
            <a:off x="6499225" y="4267835"/>
            <a:ext cx="1205230" cy="276225"/>
          </a:xfrm>
          <a:prstGeom prst="roundRect">
            <a:avLst>
              <a:gd name="adj" fmla="val 50000"/>
            </a:avLst>
          </a:prstGeom>
          <a:solidFill>
            <a:srgbClr val="FEB900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EF9842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服务推荐</a:t>
            </a:r>
            <a:endParaRPr kumimoji="0" lang="zh-CN" altLang="en-US" sz="1200" i="0" u="none" strike="noStrike" kern="1200" cap="none" spc="0" normalizeH="0" baseline="0" dirty="0">
              <a:solidFill>
                <a:srgbClr val="EF9842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36" name="矩形: 圆角 31"/>
          <p:cNvSpPr/>
          <p:nvPr/>
        </p:nvSpPr>
        <p:spPr>
          <a:xfrm>
            <a:off x="5155565" y="4660265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FEB900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EF9842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投诉处理</a:t>
            </a:r>
            <a:endParaRPr kumimoji="0" lang="zh-CN" altLang="en-US" sz="1200" i="0" u="none" strike="noStrike" kern="1200" cap="none" spc="0" normalizeH="0" baseline="0" dirty="0">
              <a:solidFill>
                <a:srgbClr val="EF9842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37" name="矩形: 圆角 31"/>
          <p:cNvSpPr/>
          <p:nvPr/>
        </p:nvSpPr>
        <p:spPr>
          <a:xfrm>
            <a:off x="6499225" y="4653280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FEB900">
              <a:alpha val="17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EF9842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用电咨询应答</a:t>
            </a:r>
            <a:endParaRPr kumimoji="0" lang="zh-CN" altLang="en-US" sz="1200" i="0" u="none" strike="noStrike" kern="1200" cap="none" spc="0" normalizeH="0" baseline="0" dirty="0">
              <a:solidFill>
                <a:srgbClr val="EF9842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8413115" y="3822700"/>
            <a:ext cx="3261995" cy="1254760"/>
          </a:xfrm>
          <a:prstGeom prst="roundRect">
            <a:avLst>
              <a:gd name="adj" fmla="val 2225"/>
            </a:avLst>
          </a:prstGeom>
          <a:solidFill>
            <a:srgbClr val="7030A0">
              <a:alpha val="7000"/>
            </a:srgbClr>
          </a:solidFill>
          <a:ln w="6350" cap="flat">
            <a:solidFill>
              <a:srgbClr val="772FCF"/>
            </a:solidFill>
            <a:prstDash val="dash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Regular" panose="020B0500000000000000" charset="-122"/>
              <a:buNone/>
              <a:defRPr/>
            </a:pPr>
            <a:endParaRPr lang="en-US" altLang="zh-CN" sz="100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+mn-ea"/>
              <a:sym typeface="思源黑体 Regular" panose="020B0500000000000000" charset="-122"/>
            </a:endParaRPr>
          </a:p>
        </p:txBody>
      </p:sp>
      <p:sp>
        <p:nvSpPr>
          <p:cNvPr id="142" name="AutoShape 10"/>
          <p:cNvSpPr/>
          <p:nvPr/>
        </p:nvSpPr>
        <p:spPr>
          <a:xfrm>
            <a:off x="8779510" y="3878580"/>
            <a:ext cx="2840355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kumimoji="1" lang="zh-CN" altLang="en-US" sz="1200" b="1" i="0" u="none" strike="noStrike" kern="1200" noProof="0">
                <a:ln>
                  <a:noFill/>
                </a:ln>
                <a:solidFill>
                  <a:srgbClr val="FFFFFF">
                    <a:lumMod val="25000"/>
                  </a:srgbClr>
                </a:solidFill>
                <a:effectLst/>
                <a:uLnTx/>
                <a:uFillTx/>
                <a:latin typeface="+mj-lt"/>
                <a:ea typeface="+mj-lt"/>
                <a:cs typeface="思源黑体 Regular" panose="020B0500000000000000" charset="-122"/>
                <a:sym typeface="思源黑体 Light" panose="020B0300000000000000" charset="-122"/>
              </a:rPr>
              <a:t>管理数字员工</a:t>
            </a:r>
            <a:endParaRPr kumimoji="1" lang="zh-CN" altLang="en-US" sz="1200" b="1" i="0" u="none" strike="noStrike" kern="1200" noProof="0">
              <a:ln>
                <a:noFill/>
              </a:ln>
              <a:solidFill>
                <a:srgbClr val="FFFFFF">
                  <a:lumMod val="25000"/>
                </a:srgbClr>
              </a:solidFill>
              <a:effectLst/>
              <a:uLnTx/>
              <a:uFillTx/>
              <a:latin typeface="+mj-lt"/>
              <a:ea typeface="+mj-lt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43" name="矩形: 圆角 31"/>
          <p:cNvSpPr/>
          <p:nvPr/>
        </p:nvSpPr>
        <p:spPr>
          <a:xfrm>
            <a:off x="8506460" y="4267835"/>
            <a:ext cx="1203325" cy="276225"/>
          </a:xfrm>
          <a:prstGeom prst="roundRect">
            <a:avLst>
              <a:gd name="adj" fmla="val 50000"/>
            </a:avLst>
          </a:prstGeom>
          <a:solidFill>
            <a:srgbClr val="7030A0">
              <a:alpha val="13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883BC3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数据汇总</a:t>
            </a:r>
            <a:endParaRPr kumimoji="0" lang="zh-CN" altLang="en-US" sz="1200" i="0" u="none" strike="noStrike" kern="1200" cap="none" spc="0" normalizeH="0" baseline="0" dirty="0">
              <a:solidFill>
                <a:srgbClr val="883BC3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44" name="矩形: 圆角 31"/>
          <p:cNvSpPr/>
          <p:nvPr/>
        </p:nvSpPr>
        <p:spPr>
          <a:xfrm>
            <a:off x="9909175" y="4233545"/>
            <a:ext cx="1205230" cy="276225"/>
          </a:xfrm>
          <a:prstGeom prst="roundRect">
            <a:avLst>
              <a:gd name="adj" fmla="val 50000"/>
            </a:avLst>
          </a:prstGeom>
          <a:solidFill>
            <a:srgbClr val="7030A0">
              <a:alpha val="13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883BC3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分析报告生成</a:t>
            </a:r>
            <a:endParaRPr kumimoji="0" lang="zh-CN" altLang="en-US" sz="1200" i="0" u="none" strike="noStrike" kern="1200" cap="none" spc="0" normalizeH="0" baseline="0" dirty="0">
              <a:solidFill>
                <a:srgbClr val="883BC3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46" name="矩形: 圆角 31"/>
          <p:cNvSpPr/>
          <p:nvPr/>
        </p:nvSpPr>
        <p:spPr>
          <a:xfrm>
            <a:off x="8503920" y="4660265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7030A0">
              <a:alpha val="13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883BC3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决策支持</a:t>
            </a:r>
            <a:endParaRPr kumimoji="0" lang="zh-CN" altLang="en-US" sz="1200" i="0" u="none" strike="noStrike" kern="1200" cap="none" spc="0" normalizeH="0" baseline="0" dirty="0">
              <a:solidFill>
                <a:srgbClr val="883BC3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47" name="矩形: 圆角 31"/>
          <p:cNvSpPr/>
          <p:nvPr/>
        </p:nvSpPr>
        <p:spPr>
          <a:xfrm>
            <a:off x="9908540" y="4653280"/>
            <a:ext cx="1205865" cy="276225"/>
          </a:xfrm>
          <a:prstGeom prst="roundRect">
            <a:avLst>
              <a:gd name="adj" fmla="val 50000"/>
            </a:avLst>
          </a:prstGeom>
          <a:solidFill>
            <a:srgbClr val="7030A0">
              <a:alpha val="13000"/>
            </a:srgbClr>
          </a:solidFill>
          <a:ln w="3175">
            <a:noFill/>
          </a:ln>
          <a:effectLst/>
        </p:spPr>
        <p:style>
          <a:lnRef idx="2">
            <a:srgbClr val="338A5F">
              <a:shade val="50000"/>
            </a:srgbClr>
          </a:lnRef>
          <a:fillRef idx="1">
            <a:srgbClr val="338A5F"/>
          </a:fillRef>
          <a:effectRef idx="0">
            <a:srgbClr val="338A5F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u="none" strike="noStrike" kern="1200" cap="none" spc="0" normalizeH="0" baseline="0" dirty="0">
                <a:solidFill>
                  <a:srgbClr val="883BC3"/>
                </a:solidFill>
                <a:latin typeface="思源黑体 Light" panose="020B0300000000000000" charset="-122"/>
                <a:ea typeface="思源黑体 Light" panose="020B0300000000000000" charset="-122"/>
                <a:cs typeface="+mj-lt"/>
                <a:sym typeface="思源黑体 Regular" panose="020B0500000000000000" charset="-122"/>
              </a:rPr>
              <a:t>绩效统计分析</a:t>
            </a:r>
            <a:endParaRPr kumimoji="0" lang="zh-CN" altLang="en-US" sz="1200" i="0" u="none" strike="noStrike" kern="1200" cap="none" spc="0" normalizeH="0" baseline="0" dirty="0">
              <a:solidFill>
                <a:srgbClr val="883BC3"/>
              </a:solidFill>
              <a:latin typeface="思源黑体 Light" panose="020B0300000000000000" charset="-122"/>
              <a:ea typeface="思源黑体 Light" panose="020B0300000000000000" charset="-122"/>
              <a:cs typeface="+mj-lt"/>
              <a:sym typeface="思源黑体 Regular" panose="020B0500000000000000" charset="-122"/>
            </a:endParaRPr>
          </a:p>
        </p:txBody>
      </p:sp>
      <p:sp>
        <p:nvSpPr>
          <p:cNvPr id="149" name="AutoShape 10"/>
          <p:cNvSpPr/>
          <p:nvPr/>
        </p:nvSpPr>
        <p:spPr>
          <a:xfrm>
            <a:off x="6338570" y="2783840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0" name="AutoShape 10"/>
          <p:cNvSpPr/>
          <p:nvPr/>
        </p:nvSpPr>
        <p:spPr>
          <a:xfrm>
            <a:off x="7243445" y="2783840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1" name="AutoShape 10"/>
          <p:cNvSpPr/>
          <p:nvPr/>
        </p:nvSpPr>
        <p:spPr>
          <a:xfrm>
            <a:off x="6339205" y="3196590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2" name="AutoShape 10"/>
          <p:cNvSpPr/>
          <p:nvPr/>
        </p:nvSpPr>
        <p:spPr>
          <a:xfrm>
            <a:off x="9709785" y="2783840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3" name="AutoShape 10"/>
          <p:cNvSpPr/>
          <p:nvPr/>
        </p:nvSpPr>
        <p:spPr>
          <a:xfrm>
            <a:off x="9710420" y="3188970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4" name="AutoShape 10"/>
          <p:cNvSpPr/>
          <p:nvPr/>
        </p:nvSpPr>
        <p:spPr>
          <a:xfrm>
            <a:off x="9709785" y="4267835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5" name="AutoShape 10"/>
          <p:cNvSpPr/>
          <p:nvPr/>
        </p:nvSpPr>
        <p:spPr>
          <a:xfrm>
            <a:off x="9725660" y="4679950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6" name="AutoShape 10"/>
          <p:cNvSpPr/>
          <p:nvPr/>
        </p:nvSpPr>
        <p:spPr>
          <a:xfrm>
            <a:off x="6339205" y="4267835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sp>
        <p:nvSpPr>
          <p:cNvPr id="157" name="AutoShape 10"/>
          <p:cNvSpPr/>
          <p:nvPr/>
        </p:nvSpPr>
        <p:spPr>
          <a:xfrm>
            <a:off x="6339840" y="4680585"/>
            <a:ext cx="175260" cy="241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000"/>
              </a:lnSpc>
              <a:defRPr/>
            </a:pPr>
            <a:r>
              <a:rPr kumimoji="1" lang="en-US" altLang="zh-CN" sz="1200" b="1" i="0" u="none" strike="noStrike" kern="120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  <a:sym typeface="思源黑体 Light" panose="020B0300000000000000" charset="-122"/>
              </a:rPr>
              <a:t>+</a:t>
            </a:r>
            <a:endParaRPr kumimoji="1" lang="en-US" altLang="zh-CN" sz="1200" b="1" i="0" u="none" strike="noStrike" kern="120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黑体 Regular" panose="020B0500000000000000" charset="-122"/>
              <a:ea typeface="思源黑体 Regular" panose="020B0500000000000000" charset="-122"/>
              <a:cs typeface="思源黑体 Regular" panose="020B0500000000000000" charset="-122"/>
              <a:sym typeface="思源黑体 Light" panose="020B0300000000000000" charset="-122"/>
            </a:endParaRPr>
          </a:p>
        </p:txBody>
      </p:sp>
      <p:pic>
        <p:nvPicPr>
          <p:cNvPr id="160" name="图片 159" descr="ChatGPT Image 2026年9月8日 13_56_16 (4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876040"/>
            <a:ext cx="310515" cy="310515"/>
          </a:xfrm>
          <a:prstGeom prst="rect">
            <a:avLst/>
          </a:prstGeom>
        </p:spPr>
      </p:pic>
      <p:pic>
        <p:nvPicPr>
          <p:cNvPr id="161" name="图片 160" descr="ChatGPT Image 2026年9月8日 13_56_16 (1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4930" y="2430780"/>
            <a:ext cx="253365" cy="253365"/>
          </a:xfrm>
          <a:prstGeom prst="rect">
            <a:avLst/>
          </a:prstGeom>
        </p:spPr>
      </p:pic>
      <p:pic>
        <p:nvPicPr>
          <p:cNvPr id="162" name="图片 161" descr="ChatGPT Image 2026年9月8日 13_56_16 (2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565" y="2398395"/>
            <a:ext cx="300990" cy="300990"/>
          </a:xfrm>
          <a:prstGeom prst="rect">
            <a:avLst/>
          </a:prstGeom>
        </p:spPr>
      </p:pic>
      <p:pic>
        <p:nvPicPr>
          <p:cNvPr id="163" name="图片 162" descr="ChatGPT Image 2026年9月8日 13_56_16 (3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5245" y="3878580"/>
            <a:ext cx="310515" cy="3105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98475" y="588645"/>
            <a:ext cx="179387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发展策划</a:t>
            </a:r>
            <a:r>
              <a:rPr lang="en-US" altLang="zh-CN" sz="28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sym typeface="+mn-ea"/>
              </a:rPr>
              <a:t>      </a:t>
            </a:r>
            <a:endParaRPr lang="zh-CN" altLang="en-US" sz="2800" dirty="0">
              <a:solidFill>
                <a:srgbClr val="02191F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47962" y="588645"/>
            <a:ext cx="693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rgbClr val="02191F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Regular" panose="020B0500000000000000" charset="-122"/>
                <a:sym typeface="+mn-ea"/>
              </a:rPr>
              <a:t>经营电量一体化分析</a:t>
            </a:r>
            <a:endParaRPr lang="zh-CN" altLang="en-US" sz="2800" dirty="0">
              <a:solidFill>
                <a:srgbClr val="02191F"/>
              </a:solidFill>
              <a:latin typeface="思源黑体 Light" panose="020B0300000000000000" charset="-122"/>
              <a:ea typeface="思源黑体 Light" panose="020B0300000000000000" charset="-122"/>
              <a:cs typeface="思源黑体 Regular" panose="020B0500000000000000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181225" y="722630"/>
            <a:ext cx="304165" cy="255270"/>
            <a:chOff x="3060" y="1138"/>
            <a:chExt cx="479" cy="402"/>
          </a:xfrm>
        </p:grpSpPr>
        <p:sp>
          <p:nvSpPr>
            <p:cNvPr id="7" name="箭头: 五边形 37"/>
            <p:cNvSpPr/>
            <p:nvPr>
              <p:custDataLst>
                <p:tags r:id="rId2"/>
              </p:custDataLst>
            </p:nvPr>
          </p:nvSpPr>
          <p:spPr>
            <a:xfrm>
              <a:off x="3165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8000">
                  <a:srgbClr val="DCEAFE">
                    <a:alpha val="0"/>
                  </a:srgbClr>
                </a:gs>
                <a:gs pos="100000">
                  <a:schemeClr val="accent1">
                    <a:lumMod val="30000"/>
                    <a:lumOff val="70000"/>
                    <a:alpha val="67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  <p:sp>
          <p:nvSpPr>
            <p:cNvPr id="8" name="箭头: 五边形 37"/>
            <p:cNvSpPr/>
            <p:nvPr>
              <p:custDataLst>
                <p:tags r:id="rId3"/>
              </p:custDataLst>
            </p:nvPr>
          </p:nvSpPr>
          <p:spPr>
            <a:xfrm>
              <a:off x="3060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15000">
                  <a:srgbClr val="DCEAFE">
                    <a:alpha val="0"/>
                  </a:srgbClr>
                </a:gs>
                <a:gs pos="100000">
                  <a:schemeClr val="accent1">
                    <a:lumMod val="30000"/>
                    <a:lumOff val="70000"/>
                    <a:alpha val="67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</p:grpSp>
      <p:sp>
        <p:nvSpPr>
          <p:cNvPr id="18" name="矩形: 圆角 4"/>
          <p:cNvSpPr/>
          <p:nvPr>
            <p:custDataLst>
              <p:tags r:id="rId4"/>
            </p:custDataLst>
          </p:nvPr>
        </p:nvSpPr>
        <p:spPr>
          <a:xfrm>
            <a:off x="537845" y="1554480"/>
            <a:ext cx="2800350" cy="447865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8FA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>
            <a:outerShdw blurRad="215900" dist="25400" dir="2700000" sx="101000" sy="101000" algn="tl" rotWithShape="0">
              <a:schemeClr val="tx2">
                <a:lumMod val="40000"/>
                <a:lumOff val="60000"/>
                <a:alpha val="3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400">
              <a:solidFill>
                <a:srgbClr val="ACCCFC"/>
              </a:solidFill>
              <a:latin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5" name="TextBox 8"/>
          <p:cNvSpPr/>
          <p:nvPr>
            <p:custDataLst>
              <p:tags r:id="rId5"/>
            </p:custDataLst>
          </p:nvPr>
        </p:nvSpPr>
        <p:spPr>
          <a:xfrm>
            <a:off x="746125" y="1859280"/>
            <a:ext cx="2454275" cy="389318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该分析应用服务于发展部，主要包含</a:t>
            </a:r>
            <a:r>
              <a:rPr lang="zh-CN" altLang="en-US" sz="1500" b="1" kern="100" dirty="0">
                <a:solidFill>
                  <a:srgbClr val="005AEA"/>
                </a:solidFill>
                <a:effectLst/>
                <a:latin typeface="+mj-lt"/>
                <a:ea typeface="+mj-lt"/>
                <a:cs typeface="+mj-lt"/>
                <a:sym typeface="+mn-ea"/>
              </a:rPr>
              <a:t>数据分析、智能问答、报告生成场景</a:t>
            </a: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，搭建智能问数与自动化分析体系，支持多维度数据深度分析快速查询。</a:t>
            </a:r>
            <a:endParaRPr lang="zh-CN" altLang="en-US" sz="1500" kern="100" dirty="0">
              <a:solidFill>
                <a:srgbClr val="6B707A"/>
              </a:solidFill>
              <a:effectLst/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项目解决了传统数据统计繁琐、人工撰写报告耗时费力、数据复盘效率低的问题，</a:t>
            </a:r>
            <a:r>
              <a:rPr lang="zh-CN" altLang="en-US" sz="1500" b="1" kern="100" dirty="0">
                <a:solidFill>
                  <a:srgbClr val="005AEA"/>
                </a:solidFill>
                <a:effectLst/>
                <a:latin typeface="+mj-lt"/>
                <a:ea typeface="+mj-lt"/>
                <a:cs typeface="+mj-lt"/>
                <a:sym typeface="+mn-ea"/>
              </a:rPr>
              <a:t>提升数据研判与工作汇报效率</a:t>
            </a: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  <a:sym typeface="+mn-ea"/>
              </a:rPr>
              <a:t>。</a:t>
            </a:r>
            <a:endParaRPr lang="zh-CN" altLang="en-US" sz="1500" kern="100" dirty="0">
              <a:solidFill>
                <a:srgbClr val="6B707A"/>
              </a:solidFill>
              <a:effectLst/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  <a:sym typeface="+mn-ea"/>
            </a:endParaRPr>
          </a:p>
        </p:txBody>
      </p:sp>
      <p:pic>
        <p:nvPicPr>
          <p:cNvPr id="10" name="图片 9" descr="Group 20360859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240" y="1554480"/>
            <a:ext cx="8377555" cy="4721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3" descr="/Users/gw/Desktop/Frame 1321317953.pngFrame 1321317953"/>
          <p:cNvPicPr>
            <a:picLocks noChangeAspect="1"/>
          </p:cNvPicPr>
          <p:nvPr/>
        </p:nvPicPr>
        <p:blipFill>
          <a:blip r:embed="rId1"/>
          <a:srcRect l="13765" r="13765"/>
          <a:stretch>
            <a:fillRect/>
          </a:stretch>
        </p:blipFill>
        <p:spPr>
          <a:xfrm>
            <a:off x="186055" y="3428365"/>
            <a:ext cx="11796395" cy="3042285"/>
          </a:xfrm>
          <a:prstGeom prst="rect">
            <a:avLst/>
          </a:prstGeom>
        </p:spPr>
      </p:pic>
      <p:sp>
        <p:nvSpPr>
          <p:cNvPr id="20" name="矩形: 圆角 4"/>
          <p:cNvSpPr/>
          <p:nvPr>
            <p:custDataLst>
              <p:tags r:id="rId2"/>
            </p:custDataLst>
          </p:nvPr>
        </p:nvSpPr>
        <p:spPr>
          <a:xfrm>
            <a:off x="186690" y="1278255"/>
            <a:ext cx="11795760" cy="198247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8FA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>
            <a:outerShdw blurRad="215900" dist="25400" dir="2700000" sx="101000" sy="101000" algn="tl" rotWithShape="0">
              <a:schemeClr val="tx2">
                <a:lumMod val="40000"/>
                <a:lumOff val="60000"/>
                <a:alpha val="3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400">
              <a:solidFill>
                <a:srgbClr val="ACCCFC"/>
              </a:solidFill>
              <a:latin typeface="思源黑体 Bold" panose="020B0800000000000000" charset="-122"/>
              <a:cs typeface="思源黑体 Bold" panose="020B08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498475" y="588645"/>
            <a:ext cx="179387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rgbClr val="02191F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 Regular" panose="020B0500000000000000" charset="-122"/>
                <a:sym typeface="+mn-ea"/>
              </a:rPr>
              <a:t>主网调控</a:t>
            </a:r>
            <a:endParaRPr lang="zh-CN" altLang="en-US" sz="2800" dirty="0">
              <a:solidFill>
                <a:srgbClr val="02191F"/>
              </a:solidFill>
              <a:latin typeface="思源黑体 Medium" panose="020B0600000000000000" charset="-122"/>
              <a:ea typeface="思源黑体 Medium" panose="020B0600000000000000" charset="-122"/>
              <a:cs typeface="思源黑体 Regular" panose="020B05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01595" y="588645"/>
            <a:ext cx="67468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rgbClr val="02191F"/>
                </a:solidFill>
                <a:latin typeface="思源黑体 Light" panose="020B0300000000000000" charset="-122"/>
                <a:ea typeface="思源黑体 Light" panose="020B0300000000000000" charset="-122"/>
                <a:cs typeface="思源黑体 Regular" panose="020B0500000000000000" charset="-122"/>
                <a:sym typeface="+mn-ea"/>
              </a:rPr>
              <a:t>电网调控生产可视化平台</a:t>
            </a:r>
            <a:endParaRPr lang="zh-CN" altLang="en-US" sz="2800" dirty="0">
              <a:solidFill>
                <a:srgbClr val="02191F"/>
              </a:solidFill>
              <a:latin typeface="思源黑体 Light" panose="020B0300000000000000" charset="-122"/>
              <a:ea typeface="思源黑体 Light" panose="020B0300000000000000" charset="-122"/>
              <a:cs typeface="思源黑体 Regular" panose="020B0500000000000000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089150" y="722630"/>
            <a:ext cx="304165" cy="255270"/>
            <a:chOff x="3060" y="1138"/>
            <a:chExt cx="479" cy="402"/>
          </a:xfrm>
        </p:grpSpPr>
        <p:sp>
          <p:nvSpPr>
            <p:cNvPr id="7" name="箭头: 五边形 37"/>
            <p:cNvSpPr/>
            <p:nvPr>
              <p:custDataLst>
                <p:tags r:id="rId4"/>
              </p:custDataLst>
            </p:nvPr>
          </p:nvSpPr>
          <p:spPr>
            <a:xfrm>
              <a:off x="3165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8000">
                  <a:srgbClr val="DCEAFE">
                    <a:alpha val="0"/>
                  </a:srgbClr>
                </a:gs>
                <a:gs pos="100000">
                  <a:schemeClr val="accent1">
                    <a:lumMod val="30000"/>
                    <a:lumOff val="70000"/>
                    <a:alpha val="67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  <p:sp>
          <p:nvSpPr>
            <p:cNvPr id="8" name="箭头: 五边形 37"/>
            <p:cNvSpPr/>
            <p:nvPr>
              <p:custDataLst>
                <p:tags r:id="rId5"/>
              </p:custDataLst>
            </p:nvPr>
          </p:nvSpPr>
          <p:spPr>
            <a:xfrm>
              <a:off x="3060" y="1138"/>
              <a:ext cx="375" cy="403"/>
            </a:xfrm>
            <a:prstGeom prst="homePlate">
              <a:avLst>
                <a:gd name="adj" fmla="val 62133"/>
              </a:avLst>
            </a:prstGeom>
            <a:gradFill>
              <a:gsLst>
                <a:gs pos="15000">
                  <a:srgbClr val="DCEAFE">
                    <a:alpha val="0"/>
                  </a:srgbClr>
                </a:gs>
                <a:gs pos="100000">
                  <a:schemeClr val="accent1">
                    <a:lumMod val="30000"/>
                    <a:lumOff val="70000"/>
                    <a:alpha val="67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88925" y="1447800"/>
            <a:ext cx="1147508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rPr>
              <a:t>电网调控生产可视化平台深度融合大模型、数字孪生等前沿技术，重构调控值班全流程，实现"数据决策高效、交互操作极简"的跨越式突破。</a:t>
            </a:r>
            <a:r>
              <a:rPr lang="zh-CN" altLang="en-US" sz="1500" b="1" kern="100" dirty="0">
                <a:solidFill>
                  <a:srgbClr val="005AEA"/>
                </a:solidFill>
                <a:effectLst/>
                <a:latin typeface="+mj-lt"/>
                <a:ea typeface="+mj-lt"/>
                <a:cs typeface="+mj-lt"/>
              </a:rPr>
              <a:t>智巡智能体支持自定义报警阈值与动态基线预警</a:t>
            </a: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rPr>
              <a:t>，异常即时弹窗告警并同步语音提醒，搭配标准化处置建议一键推送，大幅缩短故障响应时间。</a:t>
            </a:r>
            <a:r>
              <a:rPr lang="zh-CN" altLang="en-US" sz="1500" b="1" kern="100" dirty="0">
                <a:solidFill>
                  <a:srgbClr val="005AEA"/>
                </a:solidFill>
                <a:effectLst/>
                <a:latin typeface="+mj-lt"/>
                <a:ea typeface="+mj-lt"/>
                <a:cs typeface="+mj-lt"/>
              </a:rPr>
              <a:t>同时集成数字人技术</a:t>
            </a: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rPr>
              <a:t>，支持形象按需切换可换，通过自然语言实时对话可交互，来宾参观时动态生成定制化汇报内容，</a:t>
            </a:r>
            <a:r>
              <a:rPr lang="zh-CN" altLang="en-US" sz="1500" b="1" kern="100" dirty="0">
                <a:solidFill>
                  <a:srgbClr val="005AEA"/>
                </a:solidFill>
                <a:effectLst/>
                <a:latin typeface="+mj-lt"/>
                <a:ea typeface="+mj-lt"/>
                <a:cs typeface="+mj-lt"/>
              </a:rPr>
              <a:t>提供交互式导览可汇报</a:t>
            </a:r>
            <a:r>
              <a:rPr lang="zh-CN" altLang="en-US" sz="1500" kern="100" dirty="0">
                <a:solidFill>
                  <a:srgbClr val="6B707A"/>
                </a:solidFill>
                <a:effectLst/>
                <a:latin typeface="思源黑体 Light" panose="020B0300000000000000" charset="-122"/>
                <a:ea typeface="思源黑体 Light" panose="020B0300000000000000" charset="-122"/>
                <a:cs typeface="思源黑体 Light" panose="020B0300000000000000" charset="-122"/>
              </a:rPr>
              <a:t>，协助调度人员高效组织汇报流程，体现公司良好的管理水平与业务水平，为公司良好形象提供支撑。</a:t>
            </a:r>
            <a:endParaRPr lang="zh-CN" altLang="en-US" sz="1500" kern="100" dirty="0">
              <a:solidFill>
                <a:srgbClr val="6B707A"/>
              </a:solidFill>
              <a:effectLst/>
              <a:latin typeface="思源黑体 Light" panose="020B0300000000000000" charset="-122"/>
              <a:ea typeface="思源黑体 Light" panose="020B0300000000000000" charset="-122"/>
              <a:cs typeface="思源黑体 Light" panose="020B03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AICARD_INVALID" val="Invalid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17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19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342.45,&quot;left&quot;:377.35,&quot;top&quot;:102.25,&quot;width&quot;:537.55}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DIAGRAM_VIRTUALLY_FRAME" val="{&quot;height&quot;:481.5151181102362,&quot;left&quot;:0,&quot;top&quot;:58.48488188976378,&quot;width&quot;:959.9998425196851}"/>
</p:tagLst>
</file>

<file path=ppt/tags/tag84.xml><?xml version="1.0" encoding="utf-8"?>
<p:tagLst xmlns:p="http://schemas.openxmlformats.org/presentationml/2006/main">
  <p:tag name="KSO_WM_DIAGRAM_VIRTUALLY_FRAME" val="{&quot;height&quot;:132.3692125984252,&quot;left&quot;:68.87503937007874,&quot;top&quot;:330.4,&quot;width&quot;:822.2499999999998}"/>
</p:tagLst>
</file>

<file path=ppt/tags/tag85.xml><?xml version="1.0" encoding="utf-8"?>
<p:tagLst xmlns:p="http://schemas.openxmlformats.org/presentationml/2006/main">
  <p:tag name="KSO_WM_DIAGRAM_VIRTUALLY_FRAME" val="{&quot;height&quot;:132.3692125984252,&quot;left&quot;:68.87503937007874,&quot;top&quot;:330.4,&quot;width&quot;:822.2499999999998}"/>
</p:tagLst>
</file>

<file path=ppt/tags/tag86.xml><?xml version="1.0" encoding="utf-8"?>
<p:tagLst xmlns:p="http://schemas.openxmlformats.org/presentationml/2006/main">
  <p:tag name="KSO_WM_DIAGRAM_VIRTUALLY_FRAME" val="{&quot;height&quot;:132.3692125984252,&quot;left&quot;:68.87503937007874,&quot;top&quot;:330.4,&quot;width&quot;:822.2499999999998}"/>
</p:tagLst>
</file>

<file path=ppt/tags/tag87.xml><?xml version="1.0" encoding="utf-8"?>
<p:tagLst xmlns:p="http://schemas.openxmlformats.org/presentationml/2006/main">
  <p:tag name="KSO_WM_DIAGRAM_VIRTUALLY_FRAME" val="{&quot;height&quot;:481.5151181102362,&quot;left&quot;:0,&quot;top&quot;:58.48488188976378,&quot;width&quot;:959.9998425196851}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DIAGRAM_VIRTUALLY_FRAME" val="{&quot;height&quot;:481.5151181102362,&quot;left&quot;:0,&quot;top&quot;:58.48488188976378,&quot;width&quot;:959.9998425196851}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DIAGRAM_VIRTUALLY_FRAME" val="{&quot;height&quot;:481.5151181102362,&quot;left&quot;:0,&quot;top&quot;:58.48488188976378,&quot;width&quot;:959.9998425196851}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DIAGRAM_VIRTUALLY_FRAME" val="{&quot;height&quot;:481.5151181102362,&quot;left&quot;:0,&quot;top&quot;:58.48488188976378,&quot;width&quot;:959.9998425196851}"/>
</p:tagLst>
</file>

<file path=ppt/tags/tag96.xml><?xml version="1.0" encoding="utf-8"?>
<p:tagLst xmlns:p="http://schemas.openxmlformats.org/presentationml/2006/main">
  <p:tag name="KSO_WM_DIAGRAM_VIRTUALLY_FRAME" val="{&quot;height&quot;:132.3692125984252,&quot;left&quot;:68.87503937007874,&quot;top&quot;:330.4,&quot;width&quot;:822.2499999999998}"/>
</p:tagLst>
</file>

<file path=ppt/tags/tag97.xml><?xml version="1.0" encoding="utf-8"?>
<p:tagLst xmlns:p="http://schemas.openxmlformats.org/presentationml/2006/main">
  <p:tag name="KSO_WM_DIAGRAM_VIRTUALLY_FRAME" val="{&quot;height&quot;:481.5151181102362,&quot;left&quot;:0,&quot;top&quot;:58.48488188976378,&quot;width&quot;:959.9998425196851}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COMMONDATA" val="eyJoZGlkIjoiZDYwZDRmMGQ1YjE1ZjE1YTc2YTNmNTE0YTdhMWQyNzAifQ=="/>
  <p:tag name="RESOURCE_RECORD_KEY" val="{&quot;13&quot;:[4364912,20481688]}"/>
</p:tagLst>
</file>

<file path=ppt/theme/theme1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Light"/>
        <a:ea typeface=""/>
        <a:cs typeface=""/>
        <a:font script="Jpan" typeface="ＭＳ Ｐゴシック"/>
        <a:font script="Hang" typeface="맑은 고딕"/>
        <a:font script="Hans" typeface="思源黑体 Light"/>
        <a:font script="Hant" typeface="新細明體"/>
        <a:font script="Arab" typeface="思源黑体 Light"/>
        <a:font script="Hebr" typeface="思源黑体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Regular"/>
        <a:ea typeface=""/>
        <a:cs typeface=""/>
        <a:font script="Jpan" typeface="ＭＳ Ｐゴシック"/>
        <a:font script="Hang" typeface="맑은 고딕"/>
        <a:font script="Hans" typeface="思源黑体 Regular"/>
        <a:font script="Hant" typeface="新細明體"/>
        <a:font script="Arab" typeface="思源黑体 Regular"/>
        <a:font script="Hebr" typeface="思源黑体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Regular"/>
        <a:font script="Uigh" typeface="Microsoft Uighur"/>
        <a:font script="Geor" typeface="Sylfaen"/>
      </a:majorFont>
      <a:minorFont>
        <a:latin typeface="思源黑体 Regular"/>
        <a:ea typeface=""/>
        <a:cs typeface=""/>
        <a:font script="Jpan" typeface="ＭＳ Ｐゴシック"/>
        <a:font script="Hang" typeface="맑은 고딕"/>
        <a:font script="Hans" typeface="思源黑体 Regular"/>
        <a:font script="Hant" typeface="新細明體"/>
        <a:font script="Arab" typeface="思源黑体 Regular"/>
        <a:font script="Hebr" typeface="思源黑体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Regular"/>
        <a:ea typeface=""/>
        <a:cs typeface=""/>
        <a:font script="Jpan" typeface="ＭＳ Ｐゴシック"/>
        <a:font script="Hang" typeface="맑은 고딕"/>
        <a:font script="Hans" typeface="思源黑体 Regular"/>
        <a:font script="Hant" typeface="新細明體"/>
        <a:font script="Arab" typeface="思源黑体 Regular"/>
        <a:font script="Hebr" typeface="思源黑体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Regular"/>
        <a:font script="Uigh" typeface="Microsoft Uighur"/>
        <a:font script="Geor" typeface="Sylfaen"/>
      </a:majorFont>
      <a:minorFont>
        <a:latin typeface="思源黑体 Regular"/>
        <a:ea typeface=""/>
        <a:cs typeface=""/>
        <a:font script="Jpan" typeface="ＭＳ Ｐゴシック"/>
        <a:font script="Hang" typeface="맑은 고딕"/>
        <a:font script="Hans" typeface="思源黑体 Regular"/>
        <a:font script="Hant" typeface="新細明體"/>
        <a:font script="Arab" typeface="思源黑体 Regular"/>
        <a:font script="Hebr" typeface="思源黑体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4405</Words>
  <Application>WPS 演示</Application>
  <PresentationFormat>宽屏</PresentationFormat>
  <Paragraphs>512</Paragraphs>
  <Slides>12</Slides>
  <Notes>34</Notes>
  <HiddenSlides>2</HiddenSlides>
  <MMClips>13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思源黑体 Bold</vt:lpstr>
      <vt:lpstr>思源黑体 Light</vt:lpstr>
      <vt:lpstr>Arial</vt:lpstr>
      <vt:lpstr>思源黑体 Regular</vt:lpstr>
      <vt:lpstr>思源黑体 Medium</vt:lpstr>
      <vt:lpstr>思源黑体 Normal</vt:lpstr>
      <vt:lpstr>OPPOSans B</vt:lpstr>
      <vt:lpstr>微软雅黑</vt:lpstr>
      <vt:lpstr>Arial Unicode MS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王～山～而</cp:lastModifiedBy>
  <cp:revision>448</cp:revision>
  <dcterms:created xsi:type="dcterms:W3CDTF">2026-09-12T01:21:00Z</dcterms:created>
  <dcterms:modified xsi:type="dcterms:W3CDTF">2026-09-16T06:54:53Z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29FE92B31D36463B9F2D323FD487AE83_13</vt:lpwstr>
  </property>
  <property fmtid="{D5CDD505-2E9C-101B-9397-08002B2CF9AE}" pid="3" name="KSOProductBuildVer">
    <vt:lpwstr>2052-12.1.0.28043</vt:lpwstr>
  </property>
</Properties>
</file>